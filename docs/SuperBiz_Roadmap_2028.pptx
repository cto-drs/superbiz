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00" y="-1428750"/>
            <a:ext cx="4000500" cy="4000500"/>
          </a:xfrm>
          <a:prstGeom prst="ellipse">
            <a:avLst/>
          </a:prstGeom>
          <a:solidFill>
            <a:srgbClr val="8B5CF6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1285875" y="3571875"/>
            <a:ext cx="3286125" cy="3286125"/>
          </a:xfrm>
          <a:prstGeom prst="ellipse">
            <a:avLst/>
          </a:prstGeom>
          <a:solidFill>
            <a:srgbClr val="34D399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013153" y="965634"/>
            <a:ext cx="1670075" cy="246459"/>
          </a:xfrm>
          <a:prstGeom prst="roundRect">
            <a:avLst>
              <a:gd name="adj" fmla="val 3860875"/>
            </a:avLst>
          </a:prstGeom>
          <a:solidFill>
            <a:srgbClr val="8B5CF6">
              <a:alpha val="14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45313" y="1033500"/>
            <a:ext cx="1234306" cy="126609"/>
          </a:xfrm>
          <a:prstGeom prst="rect">
            <a:avLst/>
          </a:prstGeom>
          <a:noFill/>
          <a:ln/>
        </p:spPr>
        <p:txBody>
          <a:bodyPr wrap="none" lIns="128588" tIns="50006" rIns="128588" bIns="50006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C4B5F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وثيقة استراتيجية · فريق التطوير</a:t>
            </a:r>
            <a:endParaRPr lang="en-US" sz="731" dirty="0"/>
          </a:p>
        </p:txBody>
      </p:sp>
      <p:sp>
        <p:nvSpPr>
          <p:cNvPr id="6" name="Text 4"/>
          <p:cNvSpPr/>
          <p:nvPr/>
        </p:nvSpPr>
        <p:spPr>
          <a:xfrm>
            <a:off x="8436769" y="103171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C4B5F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4446188" y="1387115"/>
            <a:ext cx="4697812" cy="674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20"/>
              </a:lnSpc>
              <a:buNone/>
            </a:pPr>
            <a:r>
              <a:rPr lang="en-US" sz="4731" b="1" spc="-112" kern="0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SuperBiz 2.0</a:t>
            </a:r>
            <a:endParaRPr lang="en-US" sz="4731" dirty="0"/>
          </a:p>
        </p:txBody>
      </p:sp>
      <p:sp>
        <p:nvSpPr>
          <p:cNvPr id="8" name="Text 6"/>
          <p:cNvSpPr/>
          <p:nvPr/>
        </p:nvSpPr>
        <p:spPr>
          <a:xfrm>
            <a:off x="4503353" y="2097584"/>
            <a:ext cx="4601792" cy="879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خارطة الطريق العالمية </a:t>
            </a:r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← </a:t>
            </a:r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2028</a:t>
            </a:r>
            <a:endParaRPr lang="en-US" sz="2138" dirty="0"/>
          </a:p>
        </p:txBody>
      </p:sp>
      <p:sp>
        <p:nvSpPr>
          <p:cNvPr id="9" name="Text 7"/>
          <p:cNvSpPr/>
          <p:nvPr/>
        </p:nvSpPr>
        <p:spPr>
          <a:xfrm>
            <a:off x="4686300" y="3054846"/>
            <a:ext cx="4000500" cy="564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1"/>
              </a:lnSpc>
              <a:buNone/>
            </a:pPr>
            <a:r>
              <a:rPr lang="en-US" sz="1069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من نظام إدارة أعمال متكامل يعمل </a:t>
            </a:r>
            <a:pPr algn="l" indent="0" marL="0">
              <a:lnSpc>
                <a:spcPts val="2031"/>
              </a:lnSpc>
              <a:buNone/>
            </a:pPr>
            <a:r>
              <a:rPr lang="en-US" sz="1069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pPr algn="l" indent="0" marL="0">
              <a:lnSpc>
                <a:spcPts val="2031"/>
              </a:lnSpc>
              <a:buNone/>
            </a:pPr>
            <a:r>
              <a:rPr lang="en-US" sz="1069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دون اتصال — إلى المنصة الأقوى والأذكى والأحدث عالمياً للأعمال الصغيرة والمتوسطة</a:t>
            </a:r>
            <a:endParaRPr lang="en-US" sz="1069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" y="584002"/>
            <a:ext cx="4217603" cy="33718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00025" y="584002"/>
            <a:ext cx="4217603" cy="3371850"/>
          </a:xfrm>
          <a:prstGeom prst="roundRect">
            <a:avLst>
              <a:gd name="adj" fmla="val 13559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tmp/h2p-fit-1791013955927-ykjwkz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41177"/>
            <a:ext cx="3703253" cy="2857500"/>
          </a:xfrm>
          <a:prstGeom prst="rect">
            <a:avLst/>
          </a:prstGeom>
          <a:effectLst>
            <a:outerShdw sx="100000" sy="100000" kx="0" ky="0" algn="bl" rotWithShape="0" blurRad="762000" dist="266700" dir="5400000">
              <a:srgbClr val="8B5CF6">
                <a:alpha val="35000"/>
              </a:srgbClr>
            </a:outerShdw>
          </a:effectLst>
        </p:spPr>
      </p:pic>
      <p:sp>
        <p:nvSpPr>
          <p:cNvPr id="13" name="Text 9"/>
          <p:cNvSpPr/>
          <p:nvPr/>
        </p:nvSpPr>
        <p:spPr>
          <a:xfrm>
            <a:off x="460772" y="4314825"/>
            <a:ext cx="8222456" cy="392906"/>
          </a:xfrm>
          <a:prstGeom prst="roundRect">
            <a:avLst>
              <a:gd name="adj" fmla="val 38788"/>
            </a:avLst>
          </a:prstGeom>
          <a:solidFill>
            <a:srgbClr val="121A38">
              <a:alpha val="85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7477832" y="4455914"/>
            <a:ext cx="987512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خمس موجات إصدار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329613" y="4443413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〜</a:t>
            </a:r>
            <a:endParaRPr lang="en-US" sz="1336" dirty="0"/>
          </a:p>
        </p:txBody>
      </p:sp>
      <p:sp>
        <p:nvSpPr>
          <p:cNvPr id="16" name="Text 12"/>
          <p:cNvSpPr/>
          <p:nvPr/>
        </p:nvSpPr>
        <p:spPr>
          <a:xfrm>
            <a:off x="6749839" y="4418409"/>
            <a:ext cx="7144" cy="185738"/>
          </a:xfrm>
          <a:prstGeom prst="rect">
            <a:avLst/>
          </a:prstGeom>
          <a:solidFill>
            <a:srgbClr val="8B5CF6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247084" y="4455914"/>
            <a:ext cx="148846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 أعمدة تطوير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893371" y="4443413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336" dirty="0"/>
          </a:p>
        </p:txBody>
      </p:sp>
      <p:sp>
        <p:nvSpPr>
          <p:cNvPr id="19" name="Text 15"/>
          <p:cNvSpPr/>
          <p:nvPr/>
        </p:nvSpPr>
        <p:spPr>
          <a:xfrm>
            <a:off x="4519092" y="4418409"/>
            <a:ext cx="7144" cy="185738"/>
          </a:xfrm>
          <a:prstGeom prst="rect">
            <a:avLst/>
          </a:prstGeom>
          <a:solidFill>
            <a:srgbClr val="8B5CF6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2871341" y="4441627"/>
            <a:ext cx="163346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v1.0.0 → v5.0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2143460" y="4418409"/>
            <a:ext cx="7144" cy="185738"/>
          </a:xfrm>
          <a:prstGeom prst="rect">
            <a:avLst/>
          </a:prstGeom>
          <a:solidFill>
            <a:srgbClr val="8B5CF6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678656" y="4455914"/>
            <a:ext cx="1450516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شهراً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1286880" y="4443413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336" dirty="0"/>
          </a:p>
        </p:txBody>
      </p:sp>
      <p:sp>
        <p:nvSpPr>
          <p:cNvPr id="24" name="Text 20"/>
          <p:cNvSpPr/>
          <p:nvPr/>
        </p:nvSpPr>
        <p:spPr>
          <a:xfrm>
            <a:off x="942975" y="4441627"/>
            <a:ext cx="447377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18–24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457200" y="4789884"/>
            <a:ext cx="8229600" cy="174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مبنية على ROADMAP.md وCHANGELOG.md الفعليين · حالة </a:t>
            </a:r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2026-10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143000" y="-1571625"/>
            <a:ext cx="3429000" cy="3429000"/>
          </a:xfrm>
          <a:prstGeom prst="ellipse">
            <a:avLst/>
          </a:prstGeom>
          <a:solidFill>
            <a:srgbClr val="8B5CF6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342900"/>
            <a:ext cx="8636000" cy="36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72"/>
              </a:lnSpc>
              <a:buNone/>
            </a:pPr>
            <a:r>
              <a:rPr lang="en-US" sz="2138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نقطة الانطلاق — </a:t>
            </a:r>
            <a:pPr algn="l" indent="0" marL="0">
              <a:lnSpc>
                <a:spcPts val="2672"/>
              </a:lnSpc>
              <a:buNone/>
            </a:pPr>
            <a:r>
              <a:rPr lang="en-US" sz="2138" b="1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قاعدة تقنية نادرة الجودة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6125766" y="800100"/>
            <a:ext cx="2586038" cy="850553"/>
          </a:xfrm>
          <a:prstGeom prst="roundRect">
            <a:avLst>
              <a:gd name="adj" fmla="val 14558"/>
            </a:avLst>
          </a:prstGeom>
          <a:solidFill>
            <a:srgbClr val="121A38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43638" y="1038969"/>
            <a:ext cx="2350294" cy="2125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1463" b="1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100/100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6243638" y="1278954"/>
            <a:ext cx="2350294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وظيفة أساسية كاملة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61147" y="800100"/>
            <a:ext cx="2586038" cy="850553"/>
          </a:xfrm>
          <a:prstGeom prst="roundRect">
            <a:avLst>
              <a:gd name="adj" fmla="val 14558"/>
            </a:avLst>
          </a:prstGeom>
          <a:solidFill>
            <a:srgbClr val="121A38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79019" y="1038969"/>
            <a:ext cx="2350294" cy="2125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1463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1413</a:t>
            </a:r>
            <a:endParaRPr lang="en-US" sz="1463" dirty="0"/>
          </a:p>
        </p:txBody>
      </p:sp>
      <p:sp>
        <p:nvSpPr>
          <p:cNvPr id="9" name="Text 7"/>
          <p:cNvSpPr/>
          <p:nvPr/>
        </p:nvSpPr>
        <p:spPr>
          <a:xfrm>
            <a:off x="3579019" y="1278954"/>
            <a:ext cx="246002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اختبار وحدة أخضر في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122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ملفاً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125766" y="1729234"/>
            <a:ext cx="2586038" cy="850553"/>
          </a:xfrm>
          <a:prstGeom prst="roundRect">
            <a:avLst>
              <a:gd name="adj" fmla="val 14558"/>
            </a:avLst>
          </a:prstGeom>
          <a:solidFill>
            <a:srgbClr val="121A38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43638" y="1968103"/>
            <a:ext cx="2350294" cy="2125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1463" b="1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</a:t>
            </a:r>
            <a:endParaRPr lang="en-US" sz="1463" dirty="0"/>
          </a:p>
        </p:txBody>
      </p:sp>
      <p:sp>
        <p:nvSpPr>
          <p:cNvPr id="12" name="Text 10"/>
          <p:cNvSpPr/>
          <p:nvPr/>
        </p:nvSpPr>
        <p:spPr>
          <a:xfrm>
            <a:off x="6243638" y="2208088"/>
            <a:ext cx="2350294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شاشة Jetpack Compose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61147" y="1729234"/>
            <a:ext cx="2586038" cy="850553"/>
          </a:xfrm>
          <a:prstGeom prst="roundRect">
            <a:avLst>
              <a:gd name="adj" fmla="val 14558"/>
            </a:avLst>
          </a:prstGeom>
          <a:solidFill>
            <a:srgbClr val="121A38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79019" y="1968103"/>
            <a:ext cx="2350294" cy="2125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1463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v12</a:t>
            </a:r>
            <a:endParaRPr lang="en-US" sz="1463" dirty="0"/>
          </a:p>
        </p:txBody>
      </p:sp>
      <p:sp>
        <p:nvSpPr>
          <p:cNvPr id="15" name="Text 13"/>
          <p:cNvSpPr/>
          <p:nvPr/>
        </p:nvSpPr>
        <p:spPr>
          <a:xfrm>
            <a:off x="3579019" y="2208088"/>
            <a:ext cx="2350294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مخطط قاعدة بيانات بـ25 كياناً ومفاتيح أجنبية كاملة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6125766" y="2658368"/>
            <a:ext cx="2586038" cy="850553"/>
          </a:xfrm>
          <a:prstGeom prst="roundRect">
            <a:avLst>
              <a:gd name="adj" fmla="val 14558"/>
            </a:avLst>
          </a:prstGeom>
          <a:solidFill>
            <a:srgbClr val="121A38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43638" y="2897237"/>
            <a:ext cx="2350294" cy="2125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1463" b="1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460+</a:t>
            </a:r>
            <a:endParaRPr lang="en-US" sz="1463" dirty="0"/>
          </a:p>
        </p:txBody>
      </p:sp>
      <p:sp>
        <p:nvSpPr>
          <p:cNvPr id="18" name="Text 16"/>
          <p:cNvSpPr/>
          <p:nvPr/>
        </p:nvSpPr>
        <p:spPr>
          <a:xfrm>
            <a:off x="6243638" y="3137222"/>
            <a:ext cx="246002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دالة خوارزمية ذكية في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ملفاً (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موجات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R7–R15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61147" y="2658368"/>
            <a:ext cx="2586038" cy="850553"/>
          </a:xfrm>
          <a:prstGeom prst="roundRect">
            <a:avLst>
              <a:gd name="adj" fmla="val 14558"/>
            </a:avLst>
          </a:prstGeom>
          <a:solidFill>
            <a:srgbClr val="121A38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579019" y="2897237"/>
            <a:ext cx="2350294" cy="2125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1463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2198=2198</a:t>
            </a:r>
            <a:endParaRPr lang="en-US" sz="1463" dirty="0"/>
          </a:p>
        </p:txBody>
      </p:sp>
      <p:sp>
        <p:nvSpPr>
          <p:cNvPr id="21" name="Text 19"/>
          <p:cNvSpPr/>
          <p:nvPr/>
        </p:nvSpPr>
        <p:spPr>
          <a:xfrm>
            <a:off x="3579019" y="3137222"/>
            <a:ext cx="246002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سلسلة عربي=إنجليزي بتطابق تام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25766" y="3587502"/>
            <a:ext cx="2586038" cy="850553"/>
          </a:xfrm>
          <a:prstGeom prst="roundRect">
            <a:avLst>
              <a:gd name="adj" fmla="val 14558"/>
            </a:avLst>
          </a:prstGeom>
          <a:solidFill>
            <a:srgbClr val="121A38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43638" y="3826371"/>
            <a:ext cx="2350294" cy="2125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1463" b="1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1463" dirty="0"/>
          </a:p>
        </p:txBody>
      </p:sp>
      <p:sp>
        <p:nvSpPr>
          <p:cNvPr id="24" name="Text 22"/>
          <p:cNvSpPr/>
          <p:nvPr/>
        </p:nvSpPr>
        <p:spPr>
          <a:xfrm>
            <a:off x="6243638" y="4066356"/>
            <a:ext cx="246002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يعمل دون إنترنت — لا إذن شبكة أصلاً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61147" y="3587502"/>
            <a:ext cx="2586038" cy="850553"/>
          </a:xfrm>
          <a:prstGeom prst="roundRect">
            <a:avLst>
              <a:gd name="adj" fmla="val 14558"/>
            </a:avLst>
          </a:prstGeom>
          <a:solidFill>
            <a:srgbClr val="121A38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579019" y="3826371"/>
            <a:ext cx="2350294" cy="2125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1463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</a:t>
            </a:r>
            <a:endParaRPr lang="en-US" sz="1463" dirty="0"/>
          </a:p>
        </p:txBody>
      </p:sp>
      <p:sp>
        <p:nvSpPr>
          <p:cNvPr id="27" name="Text 25"/>
          <p:cNvSpPr/>
          <p:nvPr/>
        </p:nvSpPr>
        <p:spPr>
          <a:xfrm>
            <a:off x="3579019" y="4066356"/>
            <a:ext cx="246002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أخضر: بناء+اختبارات+lint+حارس سلاسل+نشر آلي</a:t>
            </a:r>
            <a:endParaRPr lang="en-US" sz="800" dirty="0"/>
          </a:p>
        </p:txBody>
      </p:sp>
      <p:pic>
        <p:nvPicPr>
          <p:cNvPr id="28" name="Image 0" descr="/tmp/h2p-fit-1791013955594-m0it9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7381" y="796528"/>
            <a:ext cx="1393031" cy="1514475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2736056" y="2391370"/>
            <a:ext cx="42863" cy="42863"/>
          </a:xfrm>
          <a:prstGeom prst="roundRect">
            <a:avLst>
              <a:gd name="adj" fmla="val 66666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1907381" y="2353866"/>
            <a:ext cx="139303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الرئيسية</a:t>
            </a:r>
            <a:endParaRPr lang="en-US" sz="800" dirty="0"/>
          </a:p>
        </p:txBody>
      </p:sp>
      <p:pic>
        <p:nvPicPr>
          <p:cNvPr id="31" name="Image 1" descr="/tmp/h2p-fit-1791013955601-28hra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796528"/>
            <a:ext cx="1393031" cy="1514475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286098" y="2391370"/>
            <a:ext cx="42863" cy="42863"/>
          </a:xfrm>
          <a:prstGeom prst="roundRect">
            <a:avLst>
              <a:gd name="adj" fmla="val 66666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428625" y="2353866"/>
            <a:ext cx="139303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نقطة البيع</a:t>
            </a:r>
            <a:endParaRPr lang="en-US" sz="800" dirty="0"/>
          </a:p>
        </p:txBody>
      </p:sp>
      <p:pic>
        <p:nvPicPr>
          <p:cNvPr id="34" name="Image 2" descr="/tmp/h2p-fit-1791013955603-giuk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381" y="2661940"/>
            <a:ext cx="1393031" cy="1514475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718197" y="4256782"/>
            <a:ext cx="42863" cy="42863"/>
          </a:xfrm>
          <a:prstGeom prst="roundRect">
            <a:avLst>
              <a:gd name="adj" fmla="val 66666"/>
            </a:avLst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1907381" y="4219277"/>
            <a:ext cx="139303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التقارير</a:t>
            </a:r>
            <a:endParaRPr lang="en-US" sz="800" dirty="0"/>
          </a:p>
        </p:txBody>
      </p:sp>
      <p:pic>
        <p:nvPicPr>
          <p:cNvPr id="37" name="Image 3" descr="/tmp/h2p-fit-1791013955604-f53r7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661940"/>
            <a:ext cx="1393031" cy="1514475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1214438" y="4256782"/>
            <a:ext cx="42863" cy="42863"/>
          </a:xfrm>
          <a:prstGeom prst="roundRect">
            <a:avLst>
              <a:gd name="adj" fmla="val 66666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428625" y="4219277"/>
            <a:ext cx="139303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الذمم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432197" y="4545211"/>
            <a:ext cx="8279606" cy="337542"/>
          </a:xfrm>
          <a:prstGeom prst="roundRect">
            <a:avLst>
              <a:gd name="adj" fmla="val 33862"/>
            </a:avLst>
          </a:prstGeom>
          <a:solidFill>
            <a:srgbClr val="34D399">
              <a:alpha val="8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8436769" y="464254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42" name="Text 36"/>
          <p:cNvSpPr/>
          <p:nvPr/>
        </p:nvSpPr>
        <p:spPr>
          <a:xfrm>
            <a:off x="3433576" y="4627364"/>
            <a:ext cx="496747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جودة قابلة للإثبات: صفر أعطال حرجة مفتوحة، وحزمة 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v1.0.0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موقعة ومنشورة على GitHub Releases.</a:t>
            </a:r>
            <a:endParaRPr lang="en-US" sz="87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000125" y="-1714500"/>
            <a:ext cx="3714750" cy="3714750"/>
          </a:xfrm>
          <a:prstGeom prst="ellipse">
            <a:avLst/>
          </a:prstGeom>
          <a:solidFill>
            <a:srgbClr val="8B5CF6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86625" y="4000500"/>
            <a:ext cx="3000375" cy="3000375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2913" y="357188"/>
            <a:ext cx="8636000" cy="38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9"/>
              </a:lnSpc>
              <a:buNone/>
            </a:pPr>
            <a:r>
              <a:rPr lang="en-US" sz="2138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ماذا يعني «الأقوى عالمياً»؟ </a:t>
            </a:r>
            <a:pPr algn="l" indent="0" marL="0">
              <a:lnSpc>
                <a:spcPts val="2779"/>
              </a:lnSpc>
              <a:buNone/>
            </a:pPr>
            <a:r>
              <a:rPr lang="en-US" sz="2138" b="1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تعريف </a:t>
            </a:r>
            <a:pPr algn="l" indent="0" marL="0">
              <a:lnSpc>
                <a:spcPts val="2779"/>
              </a:lnSpc>
              <a:buNone/>
            </a:pPr>
            <a:r>
              <a:rPr lang="en-US" sz="2138" b="1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2028</a:t>
            </a:r>
            <a:pPr algn="l" indent="0" marL="0">
              <a:lnSpc>
                <a:spcPts val="2779"/>
              </a:lnSpc>
              <a:buNone/>
            </a:pPr>
            <a:r>
              <a:rPr lang="en-US" sz="2138" b="1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القابل للقياس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442913" y="1004701"/>
            <a:ext cx="8258175" cy="570495"/>
          </a:xfrm>
          <a:prstGeom prst="roundRect">
            <a:avLst>
              <a:gd name="adj" fmla="val 21705"/>
            </a:avLst>
          </a:prstGeom>
          <a:solidFill>
            <a:srgbClr val="12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42913" y="1008273"/>
            <a:ext cx="8258175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0" y="1004701"/>
            <a:ext cx="0" cy="570495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2913" y="1571625"/>
            <a:ext cx="8258175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6484" y="1004701"/>
            <a:ext cx="0" cy="570495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72450" y="1104714"/>
            <a:ext cx="371475" cy="248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1"/>
              </a:lnSpc>
              <a:buNone/>
            </a:pPr>
            <a:r>
              <a:rPr lang="en-US" sz="1575" b="1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3000152" y="1104714"/>
            <a:ext cx="5543773" cy="1839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المنتج الأكمل</a:t>
            </a:r>
            <a:endParaRPr lang="en-US" sz="1069" dirty="0"/>
          </a:p>
        </p:txBody>
      </p:sp>
      <p:sp>
        <p:nvSpPr>
          <p:cNvPr id="12" name="Text 10"/>
          <p:cNvSpPr/>
          <p:nvPr/>
        </p:nvSpPr>
        <p:spPr>
          <a:xfrm>
            <a:off x="3000152" y="1316124"/>
            <a:ext cx="5043711" cy="1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759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 وفواتير ومخزون وذمم وأقساط وشيكات ومحاسبة وامتثال ضريبي في تطبيق واحد بلا خادم وبلا اشتراك إنترنت إلزامي.</a:t>
            </a:r>
            <a:endParaRPr lang="en-US" sz="759" dirty="0"/>
          </a:p>
        </p:txBody>
      </p:sp>
      <p:sp>
        <p:nvSpPr>
          <p:cNvPr id="13" name="Text 11"/>
          <p:cNvSpPr/>
          <p:nvPr/>
        </p:nvSpPr>
        <p:spPr>
          <a:xfrm>
            <a:off x="442913" y="1653778"/>
            <a:ext cx="8258175" cy="570495"/>
          </a:xfrm>
          <a:prstGeom prst="roundRect">
            <a:avLst>
              <a:gd name="adj" fmla="val 21705"/>
            </a:avLst>
          </a:prstGeom>
          <a:solidFill>
            <a:srgbClr val="12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42913" y="1657350"/>
            <a:ext cx="8258175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0" y="1653778"/>
            <a:ext cx="0" cy="570495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2913" y="2220702"/>
            <a:ext cx="8258175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6484" y="1653778"/>
            <a:ext cx="0" cy="570495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72450" y="1753791"/>
            <a:ext cx="371475" cy="248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1"/>
              </a:lnSpc>
              <a:buNone/>
            </a:pPr>
            <a:r>
              <a:rPr lang="en-US" sz="1575" b="1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3710174" y="1753791"/>
            <a:ext cx="4550373" cy="1839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الامتثال المعتمد</a:t>
            </a:r>
            <a:endParaRPr lang="en-US" sz="1069" dirty="0"/>
          </a:p>
        </p:txBody>
      </p:sp>
      <p:sp>
        <p:nvSpPr>
          <p:cNvPr id="20" name="Text 18"/>
          <p:cNvSpPr/>
          <p:nvPr/>
        </p:nvSpPr>
        <p:spPr>
          <a:xfrm>
            <a:off x="3710174" y="1965201"/>
            <a:ext cx="4333689" cy="1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759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أول تطبيق POS عربي offline-first يستوفي ZATCA مرحلة-2 كاملة (ربط فاتورة، UBL 2.1، إشعارات دائنة).</a:t>
            </a:r>
            <a:endParaRPr lang="en-US" sz="759" dirty="0"/>
          </a:p>
        </p:txBody>
      </p:sp>
      <p:sp>
        <p:nvSpPr>
          <p:cNvPr id="21" name="Text 19"/>
          <p:cNvSpPr/>
          <p:nvPr/>
        </p:nvSpPr>
        <p:spPr>
          <a:xfrm>
            <a:off x="442913" y="2302855"/>
            <a:ext cx="8258175" cy="570495"/>
          </a:xfrm>
          <a:prstGeom prst="roundRect">
            <a:avLst>
              <a:gd name="adj" fmla="val 21705"/>
            </a:avLst>
          </a:prstGeom>
          <a:solidFill>
            <a:srgbClr val="12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42913" y="2306427"/>
            <a:ext cx="8258175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0" y="2302855"/>
            <a:ext cx="0" cy="570495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2913" y="2869778"/>
            <a:ext cx="8258175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6484" y="2302855"/>
            <a:ext cx="0" cy="570495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72450" y="2402867"/>
            <a:ext cx="371475" cy="248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1"/>
              </a:lnSpc>
              <a:buNone/>
            </a:pPr>
            <a:r>
              <a:rPr lang="en-US" sz="1575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2848459" y="2402867"/>
            <a:ext cx="5695466" cy="1839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الذكاء الأعمق</a:t>
            </a:r>
            <a:endParaRPr lang="en-US" sz="1069" dirty="0"/>
          </a:p>
        </p:txBody>
      </p:sp>
      <p:sp>
        <p:nvSpPr>
          <p:cNvPr id="28" name="Text 26"/>
          <p:cNvSpPr/>
          <p:nvPr/>
        </p:nvSpPr>
        <p:spPr>
          <a:xfrm>
            <a:off x="2848459" y="2614278"/>
            <a:ext cx="5195404" cy="1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759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أذكى محرك تحليلات محلي في الفئة: رؤى استباقية ومساعد عربي يعملان داخل الجهاز — ما لا يوفره المنافسون السحابيون أصلاً.</a:t>
            </a:r>
            <a:endParaRPr lang="en-US" sz="759" dirty="0"/>
          </a:p>
        </p:txBody>
      </p:sp>
      <p:sp>
        <p:nvSpPr>
          <p:cNvPr id="29" name="Text 27"/>
          <p:cNvSpPr/>
          <p:nvPr/>
        </p:nvSpPr>
        <p:spPr>
          <a:xfrm>
            <a:off x="442913" y="2951931"/>
            <a:ext cx="8258175" cy="577639"/>
          </a:xfrm>
          <a:prstGeom prst="roundRect">
            <a:avLst>
              <a:gd name="adj" fmla="val 21436"/>
            </a:avLst>
          </a:prstGeom>
          <a:solidFill>
            <a:srgbClr val="12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42913" y="2955503"/>
            <a:ext cx="8258175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6800" y="2951931"/>
            <a:ext cx="0" cy="577639"/>
          </a:xfrm>
          <a:prstGeom prst="line">
            <a:avLst/>
          </a:prstGeom>
          <a:noFill/>
          <a:ln w="28575">
            <a:solidFill>
              <a:srgbClr val="34D3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2913" y="3525999"/>
            <a:ext cx="8258175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6484" y="2951931"/>
            <a:ext cx="0" cy="577639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72450" y="3051944"/>
            <a:ext cx="371475" cy="248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1"/>
              </a:lnSpc>
              <a:buNone/>
            </a:pPr>
            <a:r>
              <a:rPr lang="en-US" sz="1575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4556596" y="3051944"/>
            <a:ext cx="3661630" cy="1839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الجودة المثبتة</a:t>
            </a:r>
            <a:endParaRPr lang="en-US" sz="1069" dirty="0"/>
          </a:p>
        </p:txBody>
      </p:sp>
      <p:sp>
        <p:nvSpPr>
          <p:cNvPr id="36" name="Text 34"/>
          <p:cNvSpPr/>
          <p:nvPr/>
        </p:nvSpPr>
        <p:spPr>
          <a:xfrm>
            <a:off x="4556596" y="3263354"/>
            <a:ext cx="3487266" cy="16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759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3000+</a:t>
            </a:r>
            <a:pPr algn="l" indent="0" marL="0">
              <a:lnSpc>
                <a:spcPts val="1253"/>
              </a:lnSpc>
              <a:buNone/>
            </a:pPr>
            <a:r>
              <a:rPr lang="en-US" sz="759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اختبار وحدة، صفر أعطال P0، تقييم متجر ≥ </a:t>
            </a:r>
            <a:pPr algn="l" indent="0" marL="0">
              <a:lnSpc>
                <a:spcPts val="1253"/>
              </a:lnSpc>
              <a:buNone/>
            </a:pPr>
            <a:r>
              <a:rPr lang="en-US" sz="759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4.6</a:t>
            </a:r>
            <a:pPr algn="l" indent="0" marL="0">
              <a:lnSpc>
                <a:spcPts val="1253"/>
              </a:lnSpc>
              <a:buNone/>
            </a:pPr>
            <a:r>
              <a:rPr lang="en-US" sz="759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، زمن إصلاح حرج &lt; </a:t>
            </a:r>
            <a:pPr algn="l" indent="0" marL="0">
              <a:lnSpc>
                <a:spcPts val="1253"/>
              </a:lnSpc>
              <a:buNone/>
            </a:pPr>
            <a:r>
              <a:rPr lang="en-US" sz="759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72</a:t>
            </a:r>
            <a:pPr algn="l" indent="0" marL="0">
              <a:lnSpc>
                <a:spcPts val="1253"/>
              </a:lnSpc>
              <a:buNone/>
            </a:pPr>
            <a:r>
              <a:rPr lang="en-US" sz="759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ساعة.</a:t>
            </a:r>
            <a:endParaRPr lang="en-US" sz="759" dirty="0"/>
          </a:p>
        </p:txBody>
      </p:sp>
      <p:sp>
        <p:nvSpPr>
          <p:cNvPr id="37" name="Text 35"/>
          <p:cNvSpPr/>
          <p:nvPr/>
        </p:nvSpPr>
        <p:spPr>
          <a:xfrm>
            <a:off x="442913" y="3608152"/>
            <a:ext cx="8258175" cy="577639"/>
          </a:xfrm>
          <a:prstGeom prst="roundRect">
            <a:avLst>
              <a:gd name="adj" fmla="val 21436"/>
            </a:avLst>
          </a:prstGeom>
          <a:solidFill>
            <a:srgbClr val="12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42913" y="3611724"/>
            <a:ext cx="8258175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86800" y="3608152"/>
            <a:ext cx="0" cy="577639"/>
          </a:xfrm>
          <a:prstGeom prst="line">
            <a:avLst/>
          </a:prstGeom>
          <a:noFill/>
          <a:ln w="28575">
            <a:solidFill>
              <a:srgbClr val="FBBF2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2913" y="4182219"/>
            <a:ext cx="8258175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6484" y="3608152"/>
            <a:ext cx="0" cy="577639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72450" y="3708164"/>
            <a:ext cx="371475" cy="248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1"/>
              </a:lnSpc>
              <a:buNone/>
            </a:pPr>
            <a:r>
              <a:rPr lang="en-US" sz="1575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575" dirty="0"/>
          </a:p>
        </p:txBody>
      </p:sp>
      <p:sp>
        <p:nvSpPr>
          <p:cNvPr id="43" name="Text 41"/>
          <p:cNvSpPr/>
          <p:nvPr/>
        </p:nvSpPr>
        <p:spPr>
          <a:xfrm>
            <a:off x="4991919" y="3708164"/>
            <a:ext cx="3204541" cy="1839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النمو المستدام</a:t>
            </a:r>
            <a:endParaRPr lang="en-US" sz="1069" dirty="0"/>
          </a:p>
        </p:txBody>
      </p:sp>
      <p:sp>
        <p:nvSpPr>
          <p:cNvPr id="44" name="Text 42"/>
          <p:cNvSpPr/>
          <p:nvPr/>
        </p:nvSpPr>
        <p:spPr>
          <a:xfrm>
            <a:off x="4991919" y="3919575"/>
            <a:ext cx="3051944" cy="16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759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100K</a:t>
            </a:r>
            <a:pPr algn="l" indent="0" marL="0">
              <a:lnSpc>
                <a:spcPts val="1253"/>
              </a:lnSpc>
              <a:buNone/>
            </a:pPr>
            <a:r>
              <a:rPr lang="en-US" sz="759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تثبيت نشط، تحويل اشتراكات ≥ </a:t>
            </a:r>
            <a:pPr algn="l" indent="0" marL="0">
              <a:lnSpc>
                <a:spcPts val="1253"/>
              </a:lnSpc>
              <a:buNone/>
            </a:pPr>
            <a:r>
              <a:rPr lang="en-US" sz="759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3%</a:t>
            </a:r>
            <a:pPr algn="l" indent="0" marL="0">
              <a:lnSpc>
                <a:spcPts val="1253"/>
              </a:lnSpc>
              <a:buNone/>
            </a:pPr>
            <a:r>
              <a:rPr lang="en-US" sz="759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، إيراد شهري متكرر يمول الفريق.</a:t>
            </a:r>
            <a:endParaRPr lang="en-US" sz="759" dirty="0"/>
          </a:p>
        </p:txBody>
      </p:sp>
      <p:sp>
        <p:nvSpPr>
          <p:cNvPr id="45" name="Text 43"/>
          <p:cNvSpPr/>
          <p:nvPr/>
        </p:nvSpPr>
        <p:spPr>
          <a:xfrm>
            <a:off x="446484" y="4484154"/>
            <a:ext cx="8251031" cy="370024"/>
          </a:xfrm>
          <a:prstGeom prst="roundRect">
            <a:avLst>
              <a:gd name="adj" fmla="val 36038"/>
            </a:avLst>
          </a:prstGeom>
          <a:solidFill>
            <a:srgbClr val="8B5CF6">
              <a:alpha val="13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365331" y="458338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688" dirty="0"/>
          </a:p>
        </p:txBody>
      </p:sp>
      <p:sp>
        <p:nvSpPr>
          <p:cNvPr id="47" name="Text 45"/>
          <p:cNvSpPr/>
          <p:nvPr/>
        </p:nvSpPr>
        <p:spPr>
          <a:xfrm>
            <a:off x="2625663" y="4580595"/>
            <a:ext cx="5696806" cy="17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872" b="1" dirty="0">
                <a:solidFill>
                  <a:srgbClr val="C4B5F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القاعدة الذهبية:</a:t>
            </a:r>
            <a:pPr algn="l" indent="0" marL="0">
              <a:lnSpc>
                <a:spcPts val="1395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كل ما سبق دون مساس بمبدأ يعمل </a:t>
            </a:r>
            <a:pPr algn="l" indent="0" marL="0">
              <a:lnSpc>
                <a:spcPts val="1395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pPr algn="l" indent="0" marL="0">
              <a:lnSpc>
                <a:spcPts val="1395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دون إنترنت — أي اتصال ميزة اختيارية معزولة، لا شرط تشغيل.</a:t>
            </a:r>
            <a:endParaRPr lang="en-US" sz="87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5125" y="-1714500"/>
            <a:ext cx="3571875" cy="3571875"/>
          </a:xfrm>
          <a:prstGeom prst="ellipse">
            <a:avLst/>
          </a:prstGeom>
          <a:solidFill>
            <a:srgbClr val="8B5CF6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328613"/>
            <a:ext cx="8636000" cy="36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72"/>
              </a:lnSpc>
              <a:buNone/>
            </a:pPr>
            <a:r>
              <a:rPr lang="en-US" sz="2138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معمارية الخارطة — </a:t>
            </a:r>
            <a:pPr algn="l" indent="0" marL="0">
              <a:lnSpc>
                <a:spcPts val="2672"/>
              </a:lnSpc>
              <a:buNone/>
            </a:pPr>
            <a:r>
              <a:rPr lang="en-US" sz="2138" b="1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 أعمدة تطوير × 5 موجات إصدار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6718697" y="782241"/>
            <a:ext cx="1996678" cy="1058168"/>
          </a:xfrm>
          <a:prstGeom prst="roundRect">
            <a:avLst>
              <a:gd name="adj" fmla="val 12602"/>
            </a:avLst>
          </a:prstGeom>
          <a:solidFill>
            <a:srgbClr val="12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718697" y="792956"/>
            <a:ext cx="1996678" cy="0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11803" y="782241"/>
            <a:ext cx="0" cy="1058168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18697" y="1836837"/>
            <a:ext cx="1996678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22269" y="782241"/>
            <a:ext cx="0" cy="1058168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2469" y="910828"/>
            <a:ext cx="271463" cy="271463"/>
          </a:xfrm>
          <a:prstGeom prst="roundRect">
            <a:avLst>
              <a:gd name="adj" fmla="val 38596"/>
            </a:avLst>
          </a:prstGeom>
          <a:solidFill>
            <a:srgbClr val="FBBF24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49436" y="937796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477" dirty="0"/>
          </a:p>
        </p:txBody>
      </p:sp>
      <p:sp>
        <p:nvSpPr>
          <p:cNvPr id="11" name="Text 9"/>
          <p:cNvSpPr/>
          <p:nvPr/>
        </p:nvSpPr>
        <p:spPr>
          <a:xfrm>
            <a:off x="6840141" y="987623"/>
            <a:ext cx="14680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العمود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40141" y="1246584"/>
            <a:ext cx="1753791" cy="177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النشر والربح</a:t>
            </a:r>
            <a:endParaRPr lang="en-US" sz="928" dirty="0"/>
          </a:p>
        </p:txBody>
      </p:sp>
      <p:sp>
        <p:nvSpPr>
          <p:cNvPr id="13" name="Text 11"/>
          <p:cNvSpPr/>
          <p:nvPr/>
        </p:nvSpPr>
        <p:spPr>
          <a:xfrm>
            <a:off x="6840141" y="1451967"/>
            <a:ext cx="1753791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نشر حي على Play وإيراد فريميوم يمول بقية الخارطة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22006" y="782241"/>
            <a:ext cx="1996678" cy="1058168"/>
          </a:xfrm>
          <a:prstGeom prst="roundRect">
            <a:avLst>
              <a:gd name="adj" fmla="val 12602"/>
            </a:avLst>
          </a:prstGeom>
          <a:solidFill>
            <a:srgbClr val="12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22006" y="792956"/>
            <a:ext cx="1996678" cy="0"/>
          </a:xfrm>
          <a:prstGeom prst="line">
            <a:avLst/>
          </a:prstGeom>
          <a:noFill/>
          <a:ln w="21431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15113" y="782241"/>
            <a:ext cx="0" cy="1058168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2006" y="1836837"/>
            <a:ext cx="1996678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5578" y="782241"/>
            <a:ext cx="0" cy="1058168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5778" y="910828"/>
            <a:ext cx="271463" cy="271463"/>
          </a:xfrm>
          <a:prstGeom prst="roundRect">
            <a:avLst>
              <a:gd name="adj" fmla="val 38596"/>
            </a:avLst>
          </a:prstGeom>
          <a:solidFill>
            <a:srgbClr val="3B82F6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52746" y="937796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21" name="Text 19"/>
          <p:cNvSpPr/>
          <p:nvPr/>
        </p:nvSpPr>
        <p:spPr>
          <a:xfrm>
            <a:off x="4743450" y="987623"/>
            <a:ext cx="14680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العمود 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43450" y="1246584"/>
            <a:ext cx="1753791" cy="177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7DA9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الامتثال والتكامل</a:t>
            </a:r>
            <a:endParaRPr lang="en-US" sz="928" dirty="0"/>
          </a:p>
        </p:txBody>
      </p:sp>
      <p:sp>
        <p:nvSpPr>
          <p:cNvPr id="23" name="Text 21"/>
          <p:cNvSpPr/>
          <p:nvPr/>
        </p:nvSpPr>
        <p:spPr>
          <a:xfrm>
            <a:off x="4743450" y="1451967"/>
            <a:ext cx="1753791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اعتماد ZATCA مرحلة-2 وجسور تكامل معيارية آمنة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25316" y="782241"/>
            <a:ext cx="1996678" cy="1058168"/>
          </a:xfrm>
          <a:prstGeom prst="roundRect">
            <a:avLst>
              <a:gd name="adj" fmla="val 12602"/>
            </a:avLst>
          </a:prstGeom>
          <a:solidFill>
            <a:srgbClr val="12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525316" y="792956"/>
            <a:ext cx="1996678" cy="0"/>
          </a:xfrm>
          <a:prstGeom prst="line">
            <a:avLst/>
          </a:prstGeom>
          <a:noFill/>
          <a:ln w="21431">
            <a:solidFill>
              <a:srgbClr val="22D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18422" y="782241"/>
            <a:ext cx="0" cy="1058168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25316" y="1836837"/>
            <a:ext cx="1996678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8888" y="782241"/>
            <a:ext cx="0" cy="1058168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29088" y="910828"/>
            <a:ext cx="271463" cy="271463"/>
          </a:xfrm>
          <a:prstGeom prst="roundRect">
            <a:avLst>
              <a:gd name="adj" fmla="val 38596"/>
            </a:avLst>
          </a:prstGeom>
          <a:solidFill>
            <a:srgbClr val="22D3EE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156055" y="937796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477" dirty="0"/>
          </a:p>
        </p:txBody>
      </p:sp>
      <p:sp>
        <p:nvSpPr>
          <p:cNvPr id="31" name="Text 29"/>
          <p:cNvSpPr/>
          <p:nvPr/>
        </p:nvSpPr>
        <p:spPr>
          <a:xfrm>
            <a:off x="2646759" y="987623"/>
            <a:ext cx="14680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العمود 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646759" y="1246584"/>
            <a:ext cx="1753791" cy="177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الذكاء المحلي</a:t>
            </a:r>
            <a:endParaRPr lang="en-US" sz="928" dirty="0"/>
          </a:p>
        </p:txBody>
      </p:sp>
      <p:sp>
        <p:nvSpPr>
          <p:cNvPr id="33" name="Text 31"/>
          <p:cNvSpPr/>
          <p:nvPr/>
        </p:nvSpPr>
        <p:spPr>
          <a:xfrm>
            <a:off x="2646759" y="1451967"/>
            <a:ext cx="1859018" cy="175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تحليلات تنبؤية ومساعد عربي داخل الجهاز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28625" y="782241"/>
            <a:ext cx="1996678" cy="1058168"/>
          </a:xfrm>
          <a:prstGeom prst="roundRect">
            <a:avLst>
              <a:gd name="adj" fmla="val 12602"/>
            </a:avLst>
          </a:prstGeom>
          <a:solidFill>
            <a:srgbClr val="12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28625" y="792956"/>
            <a:ext cx="1996678" cy="0"/>
          </a:xfrm>
          <a:prstGeom prst="line">
            <a:avLst/>
          </a:prstGeom>
          <a:noFill/>
          <a:ln w="21431">
            <a:solidFill>
              <a:srgbClr val="34D39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21731" y="782241"/>
            <a:ext cx="0" cy="1058168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8625" y="1836837"/>
            <a:ext cx="1996678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2197" y="782241"/>
            <a:ext cx="0" cy="1058168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32397" y="910828"/>
            <a:ext cx="271463" cy="271463"/>
          </a:xfrm>
          <a:prstGeom prst="roundRect">
            <a:avLst>
              <a:gd name="adj" fmla="val 38596"/>
            </a:avLst>
          </a:prstGeom>
          <a:solidFill>
            <a:srgbClr val="34D399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059365" y="937796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477" dirty="0"/>
          </a:p>
        </p:txBody>
      </p:sp>
      <p:sp>
        <p:nvSpPr>
          <p:cNvPr id="41" name="Text 39"/>
          <p:cNvSpPr/>
          <p:nvPr/>
        </p:nvSpPr>
        <p:spPr>
          <a:xfrm>
            <a:off x="550069" y="987623"/>
            <a:ext cx="14680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العمود 4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50069" y="1246584"/>
            <a:ext cx="1753791" cy="177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المؤسسات</a:t>
            </a:r>
            <a:endParaRPr lang="en-US" sz="928" dirty="0"/>
          </a:p>
        </p:txBody>
      </p:sp>
      <p:sp>
        <p:nvSpPr>
          <p:cNvPr id="43" name="Text 41"/>
          <p:cNvSpPr/>
          <p:nvPr/>
        </p:nvSpPr>
        <p:spPr>
          <a:xfrm>
            <a:off x="550069" y="1451967"/>
            <a:ext cx="1859018" cy="175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فروع وأدوار ومحاسبة لشريحة أعلى قيمة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32197" y="1943993"/>
            <a:ext cx="8279606" cy="886830"/>
          </a:xfrm>
          <a:prstGeom prst="roundRect">
            <a:avLst>
              <a:gd name="adj" fmla="val 15037"/>
            </a:avLst>
          </a:prstGeom>
          <a:solidFill>
            <a:srgbClr val="121A38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556" y="2104727"/>
            <a:ext cx="7100888" cy="14288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432197" y="3797796"/>
            <a:ext cx="8279606" cy="1056382"/>
          </a:xfrm>
          <a:prstGeom prst="roundRect">
            <a:avLst>
              <a:gd name="adj" fmla="val 12623"/>
            </a:avLst>
          </a:prstGeom>
          <a:solidFill>
            <a:srgbClr val="8B5CF6">
              <a:alpha val="7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8436769" y="391298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48" name="Text 45"/>
          <p:cNvSpPr/>
          <p:nvPr/>
        </p:nvSpPr>
        <p:spPr>
          <a:xfrm>
            <a:off x="6706307" y="3901380"/>
            <a:ext cx="1799462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المبادئ الخمسة غير القابلة للتفاوض</a:t>
            </a:r>
            <a:endParaRPr lang="en-US" sz="872" dirty="0"/>
          </a:p>
        </p:txBody>
      </p:sp>
      <p:sp>
        <p:nvSpPr>
          <p:cNvPr id="49" name="Text 46"/>
          <p:cNvSpPr/>
          <p:nvPr/>
        </p:nvSpPr>
        <p:spPr>
          <a:xfrm>
            <a:off x="5724041" y="3925491"/>
            <a:ext cx="10097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(موروثة من قواعد المشروع)</a:t>
            </a:r>
            <a:endParaRPr lang="en-US" sz="619" dirty="0"/>
          </a:p>
        </p:txBody>
      </p:sp>
      <p:sp>
        <p:nvSpPr>
          <p:cNvPr id="50" name="Text 47"/>
          <p:cNvSpPr/>
          <p:nvPr/>
        </p:nvSpPr>
        <p:spPr>
          <a:xfrm>
            <a:off x="7037375" y="4142482"/>
            <a:ext cx="1538697" cy="604540"/>
          </a:xfrm>
          <a:prstGeom prst="roundRect">
            <a:avLst>
              <a:gd name="adj" fmla="val 17331"/>
            </a:avLst>
          </a:prstGeom>
          <a:solidFill>
            <a:srgbClr val="1A2447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8426500" y="4246066"/>
            <a:ext cx="9144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7126672" y="4417516"/>
            <a:ext cx="1441709" cy="254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بلا إنترنت أولاً — أي شبكة ميزة اختيارية معزولة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5419985" y="4142482"/>
            <a:ext cx="1538808" cy="604540"/>
          </a:xfrm>
          <a:prstGeom prst="roundRect">
            <a:avLst>
              <a:gd name="adj" fmla="val 17331"/>
            </a:avLst>
          </a:prstGeom>
          <a:solidFill>
            <a:srgbClr val="1A2447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6809222" y="4246066"/>
            <a:ext cx="9144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5509282" y="4417516"/>
            <a:ext cx="1441828" cy="254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TDD مالي: أي ميزة مالية تُختبر على Room حقيقية أولاً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3802707" y="4142482"/>
            <a:ext cx="1538697" cy="604540"/>
          </a:xfrm>
          <a:prstGeom prst="roundRect">
            <a:avLst>
              <a:gd name="adj" fmla="val 17331"/>
            </a:avLst>
          </a:prstGeom>
          <a:solidFill>
            <a:srgbClr val="1A2447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5191832" y="4246066"/>
            <a:ext cx="9144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3892004" y="4417516"/>
            <a:ext cx="1360103" cy="16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لا AI سحابي إطلاقاً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2185318" y="4142482"/>
            <a:ext cx="1538808" cy="604540"/>
          </a:xfrm>
          <a:prstGeom prst="roundRect">
            <a:avLst>
              <a:gd name="adj" fmla="val 17331"/>
            </a:avLst>
          </a:prstGeom>
          <a:solidFill>
            <a:srgbClr val="1A2447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3574554" y="4246066"/>
            <a:ext cx="9144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2274615" y="4417516"/>
            <a:ext cx="1441828" cy="254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ترحيل تراكبي بلا فقد بيانات (destructive ممنوع)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568040" y="4142482"/>
            <a:ext cx="1538697" cy="604540"/>
          </a:xfrm>
          <a:prstGeom prst="roundRect">
            <a:avLst>
              <a:gd name="adj" fmla="val 17331"/>
            </a:avLst>
          </a:prstGeom>
          <a:solidFill>
            <a:srgbClr val="1A2447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0"/>
          <p:cNvSpPr/>
          <p:nvPr/>
        </p:nvSpPr>
        <p:spPr>
          <a:xfrm>
            <a:off x="1957164" y="4246066"/>
            <a:ext cx="9144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657337" y="4417516"/>
            <a:ext cx="1441709" cy="254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موجة = إصدار موسوم = اختبارات جديدة = CI أخضر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7778874" y="2072580"/>
            <a:ext cx="21431" cy="142875"/>
          </a:xfrm>
          <a:prstGeom prst="roundRect">
            <a:avLst>
              <a:gd name="adj" fmla="val 4266716"/>
            </a:avLst>
          </a:prstGeom>
          <a:solidFill>
            <a:srgbClr val="FBBF24"/>
          </a:solidFill>
          <a:ln w="21431">
            <a:solidFill>
              <a:srgbClr val="0B10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6601682" y="2283321"/>
            <a:ext cx="1949387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W1 · ش1–3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6144795" y="2415480"/>
            <a:ext cx="2406274" cy="1600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v2.0</a:t>
            </a:r>
            <a:endParaRPr lang="en-US" sz="872" dirty="0"/>
          </a:p>
        </p:txBody>
      </p:sp>
      <p:sp>
        <p:nvSpPr>
          <p:cNvPr id="68" name="Text 65"/>
          <p:cNvSpPr/>
          <p:nvPr/>
        </p:nvSpPr>
        <p:spPr>
          <a:xfrm>
            <a:off x="6951963" y="2603004"/>
            <a:ext cx="1599106" cy="124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الإطلاق التجاري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6170079" y="2072580"/>
            <a:ext cx="21431" cy="142875"/>
          </a:xfrm>
          <a:prstGeom prst="roundRect">
            <a:avLst>
              <a:gd name="adj" fmla="val 4266716"/>
            </a:avLst>
          </a:prstGeom>
          <a:solidFill>
            <a:srgbClr val="3B82F6"/>
          </a:solidFill>
          <a:ln w="21431">
            <a:solidFill>
              <a:srgbClr val="0B10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7"/>
          <p:cNvSpPr/>
          <p:nvPr/>
        </p:nvSpPr>
        <p:spPr>
          <a:xfrm>
            <a:off x="5206086" y="2283321"/>
            <a:ext cx="1949529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W2 · ش4–9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5206086" y="2415480"/>
            <a:ext cx="1949529" cy="1600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7DA9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v2.5→v3.0</a:t>
            </a:r>
            <a:endParaRPr lang="en-US" sz="872" dirty="0"/>
          </a:p>
        </p:txBody>
      </p:sp>
      <p:sp>
        <p:nvSpPr>
          <p:cNvPr id="72" name="Text 69"/>
          <p:cNvSpPr/>
          <p:nvPr/>
        </p:nvSpPr>
        <p:spPr>
          <a:xfrm>
            <a:off x="5381239" y="2603004"/>
            <a:ext cx="1599223" cy="124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الامتثال والتكامل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4561284" y="2072580"/>
            <a:ext cx="21431" cy="142875"/>
          </a:xfrm>
          <a:prstGeom prst="roundRect">
            <a:avLst>
              <a:gd name="adj" fmla="val 4266716"/>
            </a:avLst>
          </a:prstGeom>
          <a:solidFill>
            <a:srgbClr val="22D3EE"/>
          </a:solidFill>
          <a:ln w="21431">
            <a:solidFill>
              <a:srgbClr val="0B10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1"/>
          <p:cNvSpPr/>
          <p:nvPr/>
        </p:nvSpPr>
        <p:spPr>
          <a:xfrm>
            <a:off x="3679537" y="2283321"/>
            <a:ext cx="1785038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W3 · ش10–15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3597291" y="2415480"/>
            <a:ext cx="1949529" cy="1600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v3.5→v4.0</a:t>
            </a:r>
            <a:endParaRPr lang="en-US" sz="872" dirty="0"/>
          </a:p>
        </p:txBody>
      </p:sp>
      <p:sp>
        <p:nvSpPr>
          <p:cNvPr id="76" name="Text 73"/>
          <p:cNvSpPr/>
          <p:nvPr/>
        </p:nvSpPr>
        <p:spPr>
          <a:xfrm>
            <a:off x="3679537" y="2603004"/>
            <a:ext cx="1785038" cy="124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الذكاء المحلي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2952490" y="2072580"/>
            <a:ext cx="21431" cy="142875"/>
          </a:xfrm>
          <a:prstGeom prst="roundRect">
            <a:avLst>
              <a:gd name="adj" fmla="val 4266716"/>
            </a:avLst>
          </a:prstGeom>
          <a:solidFill>
            <a:srgbClr val="34D399"/>
          </a:solidFill>
          <a:ln w="21431">
            <a:solidFill>
              <a:srgbClr val="0B10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5"/>
          <p:cNvSpPr/>
          <p:nvPr/>
        </p:nvSpPr>
        <p:spPr>
          <a:xfrm>
            <a:off x="2070742" y="2283321"/>
            <a:ext cx="1785038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W4 · ش16–21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1760036" y="2415480"/>
            <a:ext cx="2406450" cy="1600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v4.5</a:t>
            </a:r>
            <a:endParaRPr lang="en-US" sz="872" dirty="0"/>
          </a:p>
        </p:txBody>
      </p:sp>
      <p:sp>
        <p:nvSpPr>
          <p:cNvPr id="80" name="Text 77"/>
          <p:cNvSpPr/>
          <p:nvPr/>
        </p:nvSpPr>
        <p:spPr>
          <a:xfrm>
            <a:off x="1988496" y="2603004"/>
            <a:ext cx="1949529" cy="124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المؤسسات</a:t>
            </a:r>
            <a:endParaRPr lang="en-US" sz="800" dirty="0"/>
          </a:p>
        </p:txBody>
      </p:sp>
      <p:sp>
        <p:nvSpPr>
          <p:cNvPr id="81" name="Text 78"/>
          <p:cNvSpPr/>
          <p:nvPr/>
        </p:nvSpPr>
        <p:spPr>
          <a:xfrm>
            <a:off x="1343806" y="2072580"/>
            <a:ext cx="21431" cy="142875"/>
          </a:xfrm>
          <a:prstGeom prst="roundRect">
            <a:avLst>
              <a:gd name="adj" fmla="val 4266716"/>
            </a:avLst>
          </a:prstGeom>
          <a:solidFill>
            <a:srgbClr val="8B5CF6"/>
          </a:solidFill>
          <a:ln w="21431">
            <a:solidFill>
              <a:srgbClr val="0B10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79"/>
          <p:cNvSpPr/>
          <p:nvPr/>
        </p:nvSpPr>
        <p:spPr>
          <a:xfrm>
            <a:off x="592931" y="2283321"/>
            <a:ext cx="1654044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W5 · ش22–24</a:t>
            </a:r>
            <a:endParaRPr lang="en-US" sz="800" dirty="0"/>
          </a:p>
        </p:txBody>
      </p:sp>
      <p:sp>
        <p:nvSpPr>
          <p:cNvPr id="83" name="Text 80"/>
          <p:cNvSpPr/>
          <p:nvPr/>
        </p:nvSpPr>
        <p:spPr>
          <a:xfrm>
            <a:off x="592931" y="2415480"/>
            <a:ext cx="1964728" cy="1600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v5.0</a:t>
            </a:r>
            <a:endParaRPr lang="en-US" sz="872" dirty="0"/>
          </a:p>
        </p:txBody>
      </p:sp>
      <p:sp>
        <p:nvSpPr>
          <p:cNvPr id="84" name="Text 81"/>
          <p:cNvSpPr/>
          <p:nvPr/>
        </p:nvSpPr>
        <p:spPr>
          <a:xfrm>
            <a:off x="592931" y="2603004"/>
            <a:ext cx="1736284" cy="124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العالمية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85875" y="-1857375"/>
            <a:ext cx="4000500" cy="4000500"/>
          </a:xfrm>
          <a:prstGeom prst="ellipse">
            <a:avLst/>
          </a:prstGeom>
          <a:solidFill>
            <a:srgbClr val="FBBF24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86625" y="3857625"/>
            <a:ext cx="3000375" cy="3000375"/>
          </a:xfrm>
          <a:prstGeom prst="ellipse">
            <a:avLst/>
          </a:prstGeom>
          <a:solidFill>
            <a:srgbClr val="8B5CF6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19253" y="372961"/>
            <a:ext cx="1290407" cy="264919"/>
          </a:xfrm>
          <a:prstGeom prst="roundRect">
            <a:avLst>
              <a:gd name="adj" fmla="val 3591843"/>
            </a:avLst>
          </a:prstGeom>
          <a:solidFill>
            <a:srgbClr val="FBBF24">
              <a:alpha val="10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63557" y="450056"/>
            <a:ext cx="830349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أعمدة التطوير الأربعة</a:t>
            </a:r>
            <a:endParaRPr lang="en-US" sz="731" dirty="0"/>
          </a:p>
        </p:txBody>
      </p:sp>
      <p:sp>
        <p:nvSpPr>
          <p:cNvPr id="6" name="Text 4"/>
          <p:cNvSpPr/>
          <p:nvPr/>
        </p:nvSpPr>
        <p:spPr>
          <a:xfrm>
            <a:off x="8451056" y="44827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196926" y="725091"/>
            <a:ext cx="6947074" cy="42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12"/>
              </a:lnSpc>
              <a:buNone/>
            </a:pPr>
            <a:r>
              <a:rPr lang="en-US" sz="2394" b="1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العمود الأول</a:t>
            </a:r>
            <a:pPr algn="l" indent="0" marL="0">
              <a:lnSpc>
                <a:spcPts val="3112"/>
              </a:lnSpc>
              <a:buNone/>
            </a:pPr>
            <a:r>
              <a:rPr lang="en-US" sz="2394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النشر والربح</a:t>
            </a:r>
            <a:endParaRPr lang="en-US" sz="2394" dirty="0"/>
          </a:p>
        </p:txBody>
      </p:sp>
      <p:sp>
        <p:nvSpPr>
          <p:cNvPr id="8" name="Text 6"/>
          <p:cNvSpPr/>
          <p:nvPr/>
        </p:nvSpPr>
        <p:spPr>
          <a:xfrm>
            <a:off x="3971925" y="1191778"/>
            <a:ext cx="4714875" cy="513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0"/>
              </a:lnSpc>
              <a:buNone/>
            </a:pPr>
            <a:r>
              <a:rPr lang="en-US" sz="1069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تحويل الحزمة الموقعة إلى منتج تجاري حي على Google Play بقاعدة إيراد مستدامة تمول بقية الخارطة</a:t>
            </a:r>
            <a:endParaRPr lang="en-US" sz="1069" dirty="0"/>
          </a:p>
        </p:txBody>
      </p:sp>
      <p:sp>
        <p:nvSpPr>
          <p:cNvPr id="9" name="Text 7"/>
          <p:cNvSpPr/>
          <p:nvPr/>
        </p:nvSpPr>
        <p:spPr>
          <a:xfrm>
            <a:off x="142529" y="534107"/>
            <a:ext cx="1678245" cy="916548"/>
          </a:xfrm>
          <a:prstGeom prst="rect">
            <a:avLst/>
          </a:prstGeom>
          <a:noFill/>
          <a:ln/>
          <a:effectLst>
            <a:outerShdw sx="100000" sy="100000" kx="0" ky="0" algn="bl" rotWithShape="0" blurRad="666750" dist="50800" dir="16200000">
              <a:srgbClr val="FBBF24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ctr" indent="0" marL="0">
              <a:lnSpc>
                <a:spcPts val="6682"/>
              </a:lnSpc>
              <a:buNone/>
            </a:pPr>
            <a:r>
              <a:rPr lang="en-US" sz="7425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425" dirty="0"/>
          </a:p>
        </p:txBody>
      </p:sp>
      <p:sp>
        <p:nvSpPr>
          <p:cNvPr id="10" name="Text 8"/>
          <p:cNvSpPr/>
          <p:nvPr/>
        </p:nvSpPr>
        <p:spPr>
          <a:xfrm>
            <a:off x="1476865" y="1062744"/>
            <a:ext cx="534987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04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1505657" y="1482775"/>
            <a:ext cx="257175" cy="35719"/>
          </a:xfrm>
          <a:prstGeom prst="roundRect">
            <a:avLst>
              <a:gd name="adj" fmla="val 2639982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05619" y="1482775"/>
            <a:ext cx="257175" cy="35719"/>
          </a:xfrm>
          <a:prstGeom prst="roundRect">
            <a:avLst>
              <a:gd name="adj" fmla="val 2639982"/>
            </a:avLst>
          </a:prstGeom>
          <a:solidFill>
            <a:srgbClr val="FBBF24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05582" y="1482775"/>
            <a:ext cx="257175" cy="35719"/>
          </a:xfrm>
          <a:prstGeom prst="roundRect">
            <a:avLst>
              <a:gd name="adj" fmla="val 2639982"/>
            </a:avLst>
          </a:prstGeom>
          <a:solidFill>
            <a:srgbClr val="FBBF24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5544" y="1482775"/>
            <a:ext cx="257175" cy="35719"/>
          </a:xfrm>
          <a:prstGeom prst="roundRect">
            <a:avLst>
              <a:gd name="adj" fmla="val 2639982"/>
            </a:avLst>
          </a:prstGeom>
          <a:solidFill>
            <a:srgbClr val="FBBF24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00750" y="1824000"/>
            <a:ext cx="2686050" cy="1199704"/>
          </a:xfrm>
          <a:prstGeom prst="roundRect">
            <a:avLst>
              <a:gd name="adj" fmla="val 10321"/>
            </a:avLst>
          </a:prstGeom>
          <a:solidFill>
            <a:srgbClr val="12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000750" y="1827572"/>
            <a:ext cx="2686050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72513" y="1824000"/>
            <a:ext cx="0" cy="1199704"/>
          </a:xfrm>
          <a:prstGeom prst="line">
            <a:avLst/>
          </a:prstGeom>
          <a:noFill/>
          <a:ln w="28575">
            <a:solidFill>
              <a:srgbClr val="FBBF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00750" y="3020132"/>
            <a:ext cx="2686050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04322" y="1824000"/>
            <a:ext cx="0" cy="1199704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9415" y="2154149"/>
            <a:ext cx="184510" cy="188024"/>
          </a:xfrm>
          <a:prstGeom prst="roundRect">
            <a:avLst>
              <a:gd name="adj" fmla="val 36136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359415" y="2164221"/>
            <a:ext cx="18451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159390" y="2180295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336" dirty="0"/>
          </a:p>
        </p:txBody>
      </p:sp>
      <p:sp>
        <p:nvSpPr>
          <p:cNvPr id="23" name="Text 21"/>
          <p:cNvSpPr/>
          <p:nvPr/>
        </p:nvSpPr>
        <p:spPr>
          <a:xfrm>
            <a:off x="6122194" y="2374962"/>
            <a:ext cx="2421731" cy="35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ترقية targetSdk إلى 36 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(إلزامي — قاعدة Play منذ 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31/08/2026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28975" y="1824000"/>
            <a:ext cx="2686050" cy="1199704"/>
          </a:xfrm>
          <a:prstGeom prst="roundRect">
            <a:avLst>
              <a:gd name="adj" fmla="val 10321"/>
            </a:avLst>
          </a:prstGeom>
          <a:solidFill>
            <a:srgbClr val="12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228975" y="1827572"/>
            <a:ext cx="2686050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00738" y="1824000"/>
            <a:ext cx="0" cy="1199704"/>
          </a:xfrm>
          <a:prstGeom prst="line">
            <a:avLst/>
          </a:prstGeom>
          <a:noFill/>
          <a:ln w="28575">
            <a:solidFill>
              <a:srgbClr val="FBBF2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28975" y="3020132"/>
            <a:ext cx="2686050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32547" y="1824000"/>
            <a:ext cx="0" cy="1199704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87640" y="2231279"/>
            <a:ext cx="184510" cy="188024"/>
          </a:xfrm>
          <a:prstGeom prst="roundRect">
            <a:avLst>
              <a:gd name="adj" fmla="val 36136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587640" y="2241352"/>
            <a:ext cx="18451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87615" y="2257425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lang="en-US" sz="1336" dirty="0"/>
          </a:p>
        </p:txBody>
      </p:sp>
      <p:sp>
        <p:nvSpPr>
          <p:cNvPr id="32" name="Text 30"/>
          <p:cNvSpPr/>
          <p:nvPr/>
        </p:nvSpPr>
        <p:spPr>
          <a:xfrm>
            <a:off x="3350419" y="2452092"/>
            <a:ext cx="2531459" cy="175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AAB إنتاجي موقّع + قنوات إصدار تدريجية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" y="1824000"/>
            <a:ext cx="2686050" cy="1199704"/>
          </a:xfrm>
          <a:prstGeom prst="roundRect">
            <a:avLst>
              <a:gd name="adj" fmla="val 10321"/>
            </a:avLst>
          </a:prstGeom>
          <a:solidFill>
            <a:srgbClr val="12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57200" y="1827572"/>
            <a:ext cx="2686050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28963" y="1824000"/>
            <a:ext cx="0" cy="1199704"/>
          </a:xfrm>
          <a:prstGeom prst="line">
            <a:avLst/>
          </a:prstGeom>
          <a:noFill/>
          <a:ln w="28575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020132"/>
            <a:ext cx="2686050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0772" y="1824000"/>
            <a:ext cx="0" cy="1199704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15865" y="2231279"/>
            <a:ext cx="184510" cy="188024"/>
          </a:xfrm>
          <a:prstGeom prst="roundRect">
            <a:avLst>
              <a:gd name="adj" fmla="val 36136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815865" y="2241352"/>
            <a:ext cx="18451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615840" y="2257425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336" dirty="0"/>
          </a:p>
        </p:txBody>
      </p:sp>
      <p:sp>
        <p:nvSpPr>
          <p:cNvPr id="41" name="Text 39"/>
          <p:cNvSpPr/>
          <p:nvPr/>
        </p:nvSpPr>
        <p:spPr>
          <a:xfrm>
            <a:off x="578644" y="2452092"/>
            <a:ext cx="2531459" cy="175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فريميوم عبر Play Billing بلا خادم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00750" y="3109429"/>
            <a:ext cx="2686050" cy="1199704"/>
          </a:xfrm>
          <a:prstGeom prst="roundRect">
            <a:avLst>
              <a:gd name="adj" fmla="val 10321"/>
            </a:avLst>
          </a:prstGeom>
          <a:solidFill>
            <a:srgbClr val="12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6000750" y="3113001"/>
            <a:ext cx="2686050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72513" y="3109429"/>
            <a:ext cx="0" cy="1199704"/>
          </a:xfrm>
          <a:prstGeom prst="line">
            <a:avLst/>
          </a:prstGeom>
          <a:noFill/>
          <a:ln w="28575">
            <a:solidFill>
              <a:srgbClr val="FBBF2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00750" y="4305560"/>
            <a:ext cx="2686050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04322" y="3109429"/>
            <a:ext cx="0" cy="1199704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59415" y="3516707"/>
            <a:ext cx="184510" cy="188024"/>
          </a:xfrm>
          <a:prstGeom prst="roundRect">
            <a:avLst>
              <a:gd name="adj" fmla="val 36136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8359415" y="3526780"/>
            <a:ext cx="18451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159390" y="3542854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336" dirty="0"/>
          </a:p>
        </p:txBody>
      </p:sp>
      <p:sp>
        <p:nvSpPr>
          <p:cNvPr id="50" name="Text 48"/>
          <p:cNvSpPr/>
          <p:nvPr/>
        </p:nvSpPr>
        <p:spPr>
          <a:xfrm>
            <a:off x="6122194" y="3737521"/>
            <a:ext cx="2531459" cy="175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الحزمة القانونية: خصوصية + Data Safety + تصنيف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228975" y="3109429"/>
            <a:ext cx="2686050" cy="1199704"/>
          </a:xfrm>
          <a:prstGeom prst="roundRect">
            <a:avLst>
              <a:gd name="adj" fmla="val 10321"/>
            </a:avLst>
          </a:prstGeom>
          <a:solidFill>
            <a:srgbClr val="12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3228975" y="3113001"/>
            <a:ext cx="2686050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00738" y="3109429"/>
            <a:ext cx="0" cy="1199704"/>
          </a:xfrm>
          <a:prstGeom prst="line">
            <a:avLst/>
          </a:prstGeom>
          <a:noFill/>
          <a:ln w="28575">
            <a:solidFill>
              <a:srgbClr val="FBBF2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28975" y="4305560"/>
            <a:ext cx="2686050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32547" y="3109429"/>
            <a:ext cx="0" cy="1199704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87640" y="3516707"/>
            <a:ext cx="184510" cy="188024"/>
          </a:xfrm>
          <a:prstGeom prst="roundRect">
            <a:avLst>
              <a:gd name="adj" fmla="val 36136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5587640" y="3526780"/>
            <a:ext cx="18451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387615" y="3542854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336" dirty="0"/>
          </a:p>
        </p:txBody>
      </p:sp>
      <p:sp>
        <p:nvSpPr>
          <p:cNvPr id="59" name="Text 57"/>
          <p:cNvSpPr/>
          <p:nvPr/>
        </p:nvSpPr>
        <p:spPr>
          <a:xfrm>
            <a:off x="3350419" y="3737521"/>
            <a:ext cx="2421731" cy="175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759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ASO ثنائي اللغة + لقطات جهاز حقيقية </a:t>
            </a:r>
            <a:pPr algn="l" indent="0" marL="0">
              <a:lnSpc>
                <a:spcPts val="1215"/>
              </a:lnSpc>
              <a:buNone/>
            </a:pPr>
            <a:r>
              <a:rPr lang="en-US" sz="759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(إغلاق المؤجل S3)</a:t>
            </a:r>
            <a:endParaRPr lang="en-US" sz="759" dirty="0"/>
          </a:p>
        </p:txBody>
      </p:sp>
      <p:sp>
        <p:nvSpPr>
          <p:cNvPr id="60" name="Text 58"/>
          <p:cNvSpPr/>
          <p:nvPr/>
        </p:nvSpPr>
        <p:spPr>
          <a:xfrm>
            <a:off x="457200" y="3109429"/>
            <a:ext cx="2686050" cy="1199704"/>
          </a:xfrm>
          <a:prstGeom prst="roundRect">
            <a:avLst>
              <a:gd name="adj" fmla="val 10321"/>
            </a:avLst>
          </a:prstGeom>
          <a:solidFill>
            <a:srgbClr val="12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457200" y="3113001"/>
            <a:ext cx="2686050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128963" y="3109429"/>
            <a:ext cx="0" cy="1199704"/>
          </a:xfrm>
          <a:prstGeom prst="line">
            <a:avLst/>
          </a:prstGeom>
          <a:noFill/>
          <a:ln w="28575">
            <a:solidFill>
              <a:srgbClr val="FBBF2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7200" y="4305560"/>
            <a:ext cx="2686050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60772" y="3109429"/>
            <a:ext cx="0" cy="1199704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815865" y="3516707"/>
            <a:ext cx="184510" cy="188024"/>
          </a:xfrm>
          <a:prstGeom prst="roundRect">
            <a:avLst>
              <a:gd name="adj" fmla="val 36136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2815865" y="3526780"/>
            <a:ext cx="18451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2615840" y="3542854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336" dirty="0"/>
          </a:p>
        </p:txBody>
      </p:sp>
      <p:sp>
        <p:nvSpPr>
          <p:cNvPr id="68" name="Text 66"/>
          <p:cNvSpPr/>
          <p:nvPr/>
        </p:nvSpPr>
        <p:spPr>
          <a:xfrm>
            <a:off x="578644" y="3737521"/>
            <a:ext cx="2421731" cy="17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لوحة KPIs من Play Console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60772" y="4441292"/>
            <a:ext cx="8222456" cy="384311"/>
          </a:xfrm>
          <a:prstGeom prst="roundRect">
            <a:avLst>
              <a:gd name="adj" fmla="val 34698"/>
            </a:avLst>
          </a:prstGeom>
          <a:solidFill>
            <a:srgbClr val="FBBF24">
              <a:alpha val="9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8351044" y="454766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71" name="Text 69"/>
          <p:cNvSpPr/>
          <p:nvPr/>
        </p:nvSpPr>
        <p:spPr>
          <a:xfrm>
            <a:off x="2755143" y="4544876"/>
            <a:ext cx="5549466" cy="17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872" b="1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لماذا أولاً؟</a:t>
            </a:r>
            <a:pPr algn="l" indent="0" marL="0">
              <a:lnSpc>
                <a:spcPts val="1395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كل عمود لاحق يحتاج مستخدمين حقيقيين وتغذية راجعة وإيراداً — النشر هو المضخة التي تشغل الخارطة كلها.</a:t>
            </a:r>
            <a:endParaRPr lang="en-US" sz="87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00875" y="-1857375"/>
            <a:ext cx="3429000" cy="3429000"/>
          </a:xfrm>
          <a:prstGeom prst="ellipse">
            <a:avLst/>
          </a:prstGeom>
          <a:solidFill>
            <a:srgbClr val="FBBF24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328613"/>
            <a:ext cx="8636000" cy="362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031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النشر والربح — </a:t>
            </a:r>
            <a:pPr algn="l" indent="0" marL="0">
              <a:lnSpc>
                <a:spcPts val="2640"/>
              </a:lnSpc>
              <a:buNone/>
            </a:pPr>
            <a:r>
              <a:rPr lang="en-US" sz="2031" b="1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التنفيذ التفصيلي ومعايير القبول</a:t>
            </a:r>
            <a:endParaRPr lang="en-US" sz="2031" dirty="0"/>
          </a:p>
        </p:txBody>
      </p:sp>
      <p:sp>
        <p:nvSpPr>
          <p:cNvPr id="4" name="Shape 2"/>
          <p:cNvSpPr/>
          <p:nvPr/>
        </p:nvSpPr>
        <p:spPr>
          <a:xfrm>
            <a:off x="428625" y="1044215"/>
            <a:ext cx="8286750" cy="0"/>
          </a:xfrm>
          <a:prstGeom prst="line">
            <a:avLst/>
          </a:prstGeom>
          <a:noFill/>
          <a:ln w="14288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72363" y="828117"/>
            <a:ext cx="11430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البند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729038" y="828117"/>
            <a:ext cx="464515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التنفيذ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871788" y="828117"/>
            <a:ext cx="117386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الجهد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28638" y="828117"/>
            <a:ext cx="261221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معيار القبول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8625" y="1051359"/>
            <a:ext cx="8286750" cy="635571"/>
          </a:xfrm>
          <a:prstGeom prst="rect">
            <a:avLst/>
          </a:prstGeom>
          <a:solidFill>
            <a:srgbClr val="121A3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28625" y="1683358"/>
            <a:ext cx="8286750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72363" y="1122797"/>
            <a:ext cx="1143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targetSdk 35→36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729038" y="1122797"/>
            <a:ext cx="3629025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ترقية 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compileSdk/targetSdk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مع مراجعة 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edge-to-edge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وأذونات الإشعارات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871788" y="1122797"/>
            <a:ext cx="10624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3–4 أيام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8638" y="1122797"/>
            <a:ext cx="222885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البناء + 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1413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اختباراً أخضر + فحص يدوي للشاشات الـ25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28625" y="2319040"/>
            <a:ext cx="8286750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72363" y="1758367"/>
            <a:ext cx="1143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AAB إنتاجي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729038" y="1758367"/>
            <a:ext cx="3629025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bundleRelease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موقّع بمفتاح 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superbiz.keystore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مسار 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internal→closed→production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871788" y="1758367"/>
            <a:ext cx="11887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أسبوع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8638" y="1758367"/>
            <a:ext cx="240715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أول AAB يُقبل في Play Console بلا تحذيرات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8625" y="2322612"/>
            <a:ext cx="8286750" cy="635571"/>
          </a:xfrm>
          <a:prstGeom prst="rect">
            <a:avLst/>
          </a:prstGeom>
          <a:solidFill>
            <a:srgbClr val="121A3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28625" y="2954610"/>
            <a:ext cx="8286750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72363" y="2394049"/>
            <a:ext cx="1143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فريميوم Pro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729038" y="2394049"/>
            <a:ext cx="3629025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النواة مجانية للأبد + SuperBiz Pro (فتح مدى الحياة أو اشتراك سنوي) عبر 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Play Billing v7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الاستحقاق يخزن محلياً ويستعاد من Play، الشراء مرة واحدة ثم كل شيء يعمل أوفلاين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71788" y="2394049"/>
            <a:ext cx="9286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2–3 أسابيع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8638" y="2394049"/>
            <a:ext cx="222885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شراء/استعادة/إلغاء مختبرة + اختبارات وحدة للبوابة</a:t>
            </a:r>
            <a:endParaRPr lang="en-US" sz="703" dirty="0"/>
          </a:p>
        </p:txBody>
      </p:sp>
      <p:sp>
        <p:nvSpPr>
          <p:cNvPr id="26" name="Shape 24"/>
          <p:cNvSpPr/>
          <p:nvPr/>
        </p:nvSpPr>
        <p:spPr>
          <a:xfrm>
            <a:off x="428625" y="3590181"/>
            <a:ext cx="8286750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72363" y="3029620"/>
            <a:ext cx="1143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الحزمة القانونية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729038" y="3029620"/>
            <a:ext cx="3629025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سياسة خصوصية (تطبيق لا يجمع بيانات) + نموذج Data Safety جمع-صفر + تصنيف المحتوى</a:t>
            </a:r>
            <a:endParaRPr lang="en-US" sz="703" dirty="0"/>
          </a:p>
        </p:txBody>
      </p:sp>
      <p:sp>
        <p:nvSpPr>
          <p:cNvPr id="29" name="Text 27"/>
          <p:cNvSpPr/>
          <p:nvPr/>
        </p:nvSpPr>
        <p:spPr>
          <a:xfrm>
            <a:off x="2871788" y="3029620"/>
            <a:ext cx="10624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أيام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28638" y="3029620"/>
            <a:ext cx="2407158" cy="175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النماذج مكتملة بلا ملاحظات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28625" y="3593753"/>
            <a:ext cx="8286750" cy="635571"/>
          </a:xfrm>
          <a:prstGeom prst="rect">
            <a:avLst/>
          </a:prstGeom>
          <a:solidFill>
            <a:srgbClr val="121A3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28625" y="4225751"/>
            <a:ext cx="8286750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72363" y="3665190"/>
            <a:ext cx="1143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ASO واللقطات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729038" y="3665190"/>
            <a:ext cx="3629025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عنوان/وصف عربي+إنجليزي + 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لقطات من جهاز حقيقي + فيديو قصير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871788" y="3665190"/>
            <a:ext cx="11887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أسبوع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28638" y="3665190"/>
            <a:ext cx="240715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قائمة متجر كاملة — يُغلق S3 رسمياً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472363" y="4300761"/>
            <a:ext cx="13395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قياس النمو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729038" y="4300761"/>
            <a:ext cx="3919347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أهداف: تقييم 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≥4.6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تحويل Pro 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≥3%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احتفاظ 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D30 ≥35%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871788" y="4300761"/>
            <a:ext cx="11887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مستمر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28638" y="4300761"/>
            <a:ext cx="240715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لوحة KPIs أسبوعية من Play Console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428750" y="-1714500"/>
            <a:ext cx="4000500" cy="4000500"/>
          </a:xfrm>
          <a:prstGeom prst="ellipse">
            <a:avLst/>
          </a:prstGeom>
          <a:solidFill>
            <a:srgbClr val="3B82F6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86625" y="3857625"/>
            <a:ext cx="3000375" cy="3000375"/>
          </a:xfrm>
          <a:prstGeom prst="ellipse">
            <a:avLst/>
          </a:prstGeom>
          <a:solidFill>
            <a:srgbClr val="8B5CF6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19253" y="358673"/>
            <a:ext cx="1290407" cy="264919"/>
          </a:xfrm>
          <a:prstGeom prst="roundRect">
            <a:avLst>
              <a:gd name="adj" fmla="val 3591843"/>
            </a:avLst>
          </a:prstGeom>
          <a:solidFill>
            <a:srgbClr val="3B82F6">
              <a:alpha val="10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63557" y="435769"/>
            <a:ext cx="830349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7DA9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أعمدة التطوير الأربعة</a:t>
            </a:r>
            <a:endParaRPr lang="en-US" sz="731" dirty="0"/>
          </a:p>
        </p:txBody>
      </p:sp>
      <p:sp>
        <p:nvSpPr>
          <p:cNvPr id="6" name="Text 4"/>
          <p:cNvSpPr/>
          <p:nvPr/>
        </p:nvSpPr>
        <p:spPr>
          <a:xfrm>
            <a:off x="8451056" y="43398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7DA9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457200" y="696516"/>
            <a:ext cx="8636000" cy="424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12"/>
              </a:lnSpc>
              <a:buNone/>
            </a:pPr>
            <a:r>
              <a:rPr lang="en-US" sz="2394" b="1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العمود الثاني</a:t>
            </a:r>
            <a:pPr algn="l" indent="0" marL="0">
              <a:lnSpc>
                <a:spcPts val="3112"/>
              </a:lnSpc>
              <a:buNone/>
            </a:pPr>
            <a:r>
              <a:rPr lang="en-US" sz="2394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الامتثال والتكامل</a:t>
            </a:r>
            <a:endParaRPr lang="en-US" sz="2394" dirty="0"/>
          </a:p>
        </p:txBody>
      </p:sp>
      <p:sp>
        <p:nvSpPr>
          <p:cNvPr id="8" name="Text 6"/>
          <p:cNvSpPr/>
          <p:nvPr/>
        </p:nvSpPr>
        <p:spPr>
          <a:xfrm>
            <a:off x="2400300" y="1148916"/>
            <a:ext cx="6286500" cy="498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7"/>
              </a:lnSpc>
              <a:buNone/>
            </a:pPr>
            <a:r>
              <a:rPr lang="en-US" sz="1069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من QR مرحلة-1 التشغيلي اليوم إلى اعتماد ZATCA مرحلة-2 كاملاً + جسور معيارية مع النظام البيئي التجاري السعودي</a:t>
            </a:r>
            <a:endParaRPr lang="en-US" sz="1069" dirty="0"/>
          </a:p>
        </p:txBody>
      </p:sp>
      <p:sp>
        <p:nvSpPr>
          <p:cNvPr id="9" name="Text 7"/>
          <p:cNvSpPr/>
          <p:nvPr/>
        </p:nvSpPr>
        <p:spPr>
          <a:xfrm>
            <a:off x="2861072" y="1742517"/>
            <a:ext cx="5822156" cy="404180"/>
          </a:xfrm>
          <a:prstGeom prst="roundRect">
            <a:avLst>
              <a:gd name="adj" fmla="val 30636"/>
            </a:avLst>
          </a:prstGeom>
          <a:solidFill>
            <a:srgbClr val="121A38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54616" y="1840967"/>
            <a:ext cx="207169" cy="207169"/>
          </a:xfrm>
          <a:prstGeom prst="ellipse">
            <a:avLst/>
          </a:prstGeom>
          <a:solidFill>
            <a:srgbClr val="3B82F6">
              <a:alpha val="15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51044" y="1837395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7DA9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115300" y="187311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3" name="Text 11"/>
          <p:cNvSpPr/>
          <p:nvPr/>
        </p:nvSpPr>
        <p:spPr>
          <a:xfrm>
            <a:off x="5533616" y="1867086"/>
            <a:ext cx="253525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الربط الكامل بمنصة فاتورة:</a:t>
            </a:r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CSR وCSID وإدارة أجهزة EGS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2861072" y="2232422"/>
            <a:ext cx="5822156" cy="404180"/>
          </a:xfrm>
          <a:prstGeom prst="roundRect">
            <a:avLst>
              <a:gd name="adj" fmla="val 30636"/>
            </a:avLst>
          </a:prstGeom>
          <a:solidFill>
            <a:srgbClr val="121A38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54616" y="2330872"/>
            <a:ext cx="207169" cy="207169"/>
          </a:xfrm>
          <a:prstGeom prst="ellipse">
            <a:avLst/>
          </a:prstGeom>
          <a:solidFill>
            <a:srgbClr val="3B82F6">
              <a:alpha val="15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351044" y="2327300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7DA9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115300" y="236301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8" name="Text 16"/>
          <p:cNvSpPr/>
          <p:nvPr/>
        </p:nvSpPr>
        <p:spPr>
          <a:xfrm>
            <a:off x="6180125" y="2356991"/>
            <a:ext cx="1989691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XML قانوني UBL 2.1</a:t>
            </a:r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كامل الحقول الإلزامية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2861072" y="2722327"/>
            <a:ext cx="5822156" cy="404180"/>
          </a:xfrm>
          <a:prstGeom prst="roundRect">
            <a:avLst>
              <a:gd name="adj" fmla="val 30636"/>
            </a:avLst>
          </a:prstGeom>
          <a:solidFill>
            <a:srgbClr val="121A38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354616" y="2820777"/>
            <a:ext cx="207169" cy="207169"/>
          </a:xfrm>
          <a:prstGeom prst="ellipse">
            <a:avLst/>
          </a:prstGeom>
          <a:solidFill>
            <a:srgbClr val="3B82F6">
              <a:alpha val="15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351044" y="2817205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7DA9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115300" y="285292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406" dirty="0"/>
          </a:p>
        </p:txBody>
      </p:sp>
      <p:sp>
        <p:nvSpPr>
          <p:cNvPr id="23" name="Text 21"/>
          <p:cNvSpPr/>
          <p:nvPr/>
        </p:nvSpPr>
        <p:spPr>
          <a:xfrm>
            <a:off x="5851959" y="2846896"/>
            <a:ext cx="234411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سلسلة السلامة:</a:t>
            </a:r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ICV وPIH مع التوقيع ECDSA القائم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2861072" y="3212232"/>
            <a:ext cx="5822156" cy="404180"/>
          </a:xfrm>
          <a:prstGeom prst="roundRect">
            <a:avLst>
              <a:gd name="adj" fmla="val 30636"/>
            </a:avLst>
          </a:prstGeom>
          <a:solidFill>
            <a:srgbClr val="121A38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354616" y="3310682"/>
            <a:ext cx="207169" cy="207169"/>
          </a:xfrm>
          <a:prstGeom prst="ellipse">
            <a:avLst/>
          </a:prstGeom>
          <a:solidFill>
            <a:srgbClr val="3B82F6">
              <a:alpha val="15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351044" y="3307110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7DA9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115300" y="334282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28" name="Text 26"/>
          <p:cNvSpPr/>
          <p:nvPr/>
        </p:nvSpPr>
        <p:spPr>
          <a:xfrm>
            <a:off x="4597784" y="3336801"/>
            <a:ext cx="3471081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الإبلاغ والاعتماد:</a:t>
            </a:r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Reporting للفواتير المبسطة وClearance للقياسية + إشعارات دائنة</a:t>
            </a:r>
            <a:endParaRPr lang="en-US" sz="788" dirty="0"/>
          </a:p>
        </p:txBody>
      </p:sp>
      <p:sp>
        <p:nvSpPr>
          <p:cNvPr id="29" name="Text 27"/>
          <p:cNvSpPr/>
          <p:nvPr/>
        </p:nvSpPr>
        <p:spPr>
          <a:xfrm>
            <a:off x="2861072" y="3702137"/>
            <a:ext cx="5822156" cy="404180"/>
          </a:xfrm>
          <a:prstGeom prst="roundRect">
            <a:avLst>
              <a:gd name="adj" fmla="val 30636"/>
            </a:avLst>
          </a:prstGeom>
          <a:solidFill>
            <a:srgbClr val="121A38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354616" y="3800587"/>
            <a:ext cx="207169" cy="207169"/>
          </a:xfrm>
          <a:prstGeom prst="ellipse">
            <a:avLst/>
          </a:prstGeom>
          <a:solidFill>
            <a:srgbClr val="3B82F6">
              <a:alpha val="15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351044" y="3797015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7DA9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115300" y="383273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406" dirty="0"/>
          </a:p>
        </p:txBody>
      </p:sp>
      <p:sp>
        <p:nvSpPr>
          <p:cNvPr id="33" name="Text 31"/>
          <p:cNvSpPr/>
          <p:nvPr/>
        </p:nvSpPr>
        <p:spPr>
          <a:xfrm>
            <a:off x="6428482" y="3826706"/>
            <a:ext cx="172146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تكاملات تصديرية: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سلة/زد/كشوف بنكية</a:t>
            </a:r>
            <a:endParaRPr lang="en-US" sz="80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638" y="1924236"/>
            <a:ext cx="2000250" cy="200025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528638" y="1924236"/>
            <a:ext cx="2000250" cy="200025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769962" y="2406439"/>
            <a:ext cx="1780044" cy="972122"/>
          </a:xfrm>
          <a:prstGeom prst="rect">
            <a:avLst/>
          </a:prstGeom>
          <a:noFill/>
          <a:ln/>
          <a:effectLst>
            <a:outerShdw sx="100000" sy="100000" kx="0" ky="0" algn="bl" rotWithShape="0" blurRad="762000" dist="50800" dir="16200000">
              <a:srgbClr val="3B82F6">
                <a:alpha val="45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7088"/>
              </a:lnSpc>
              <a:buNone/>
            </a:pPr>
            <a:r>
              <a:rPr lang="en-US" sz="7875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875" dirty="0"/>
          </a:p>
        </p:txBody>
      </p:sp>
      <p:sp>
        <p:nvSpPr>
          <p:cNvPr id="37" name="Text 34"/>
          <p:cNvSpPr/>
          <p:nvPr/>
        </p:nvSpPr>
        <p:spPr>
          <a:xfrm>
            <a:off x="1953342" y="2985083"/>
            <a:ext cx="534987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04</a:t>
            </a:r>
            <a:endParaRPr lang="en-US" sz="1575" dirty="0"/>
          </a:p>
        </p:txBody>
      </p:sp>
      <p:sp>
        <p:nvSpPr>
          <p:cNvPr id="38" name="Text 35"/>
          <p:cNvSpPr/>
          <p:nvPr/>
        </p:nvSpPr>
        <p:spPr>
          <a:xfrm>
            <a:off x="1850231" y="3406564"/>
            <a:ext cx="257175" cy="35719"/>
          </a:xfrm>
          <a:prstGeom prst="roundRect">
            <a:avLst>
              <a:gd name="adj" fmla="val 2639982"/>
            </a:avLst>
          </a:prstGeom>
          <a:solidFill>
            <a:srgbClr val="3B82F6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1550194" y="3406564"/>
            <a:ext cx="257175" cy="35719"/>
          </a:xfrm>
          <a:prstGeom prst="roundRect">
            <a:avLst>
              <a:gd name="adj" fmla="val 2639982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1250156" y="3406564"/>
            <a:ext cx="257175" cy="35719"/>
          </a:xfrm>
          <a:prstGeom prst="roundRect">
            <a:avLst>
              <a:gd name="adj" fmla="val 2639982"/>
            </a:avLst>
          </a:prstGeom>
          <a:solidFill>
            <a:srgbClr val="3B82F6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950119" y="3406564"/>
            <a:ext cx="257175" cy="35719"/>
          </a:xfrm>
          <a:prstGeom prst="roundRect">
            <a:avLst>
              <a:gd name="adj" fmla="val 2639982"/>
            </a:avLst>
          </a:prstGeom>
          <a:solidFill>
            <a:srgbClr val="3B82F6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60772" y="4242048"/>
            <a:ext cx="8222456" cy="583555"/>
          </a:xfrm>
          <a:prstGeom prst="roundRect">
            <a:avLst>
              <a:gd name="adj" fmla="val 22851"/>
            </a:avLst>
          </a:prstGeom>
          <a:solidFill>
            <a:srgbClr val="3B82F6">
              <a:alpha val="9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8358188" y="4359920"/>
            <a:ext cx="16430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617" dirty="0"/>
          </a:p>
        </p:txBody>
      </p:sp>
      <p:sp>
        <p:nvSpPr>
          <p:cNvPr id="44" name="Text 41"/>
          <p:cNvSpPr/>
          <p:nvPr/>
        </p:nvSpPr>
        <p:spPr>
          <a:xfrm>
            <a:off x="621506" y="4345632"/>
            <a:ext cx="7693819" cy="376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872" b="1" dirty="0">
                <a:solidFill>
                  <a:srgbClr val="7DA9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الحقيقة الصادقة:</a:t>
            </a:r>
            <a:pPr algn="l" indent="0" marL="0">
              <a:lnSpc>
                <a:spcPts val="1482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مرحلة-2 مقيدة عاملين خارجيين — بيانات اعتماد حية من منصة فاتورة وجدول موجات الربط الضريبي لZATCA؛ لذلك صممت الموجة مرنة الترتيب داخلياً وتبدأ sandbox مبكراً.</a:t>
            </a:r>
            <a:endParaRPr lang="en-US" sz="87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143000" y="-1571625"/>
            <a:ext cx="3429000" cy="34290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58063" y="3857625"/>
            <a:ext cx="2857500" cy="28575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113166" y="360759"/>
            <a:ext cx="1570062" cy="203597"/>
          </a:xfrm>
          <a:prstGeom prst="roundRect">
            <a:avLst>
              <a:gd name="adj" fmla="val 4673681"/>
            </a:avLst>
          </a:prstGeom>
          <a:solidFill>
            <a:srgbClr val="3B82F6">
              <a:alpha val="8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16750" y="407194"/>
            <a:ext cx="1470050" cy="126609"/>
          </a:xfrm>
          <a:prstGeom prst="rect">
            <a:avLst/>
          </a:prstGeom>
          <a:noFill/>
          <a:ln/>
        </p:spPr>
        <p:txBody>
          <a:bodyPr wrap="none" lIns="100013" tIns="28575" rIns="100013" bIns="28575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العمود الثاني · الامتثال والتكامل</a:t>
            </a:r>
            <a:endParaRPr lang="en-US" sz="731" dirty="0"/>
          </a:p>
        </p:txBody>
      </p:sp>
      <p:sp>
        <p:nvSpPr>
          <p:cNvPr id="6" name="Text 4"/>
          <p:cNvSpPr/>
          <p:nvPr/>
        </p:nvSpPr>
        <p:spPr>
          <a:xfrm>
            <a:off x="8472488" y="408980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055" dirty="0"/>
          </a:p>
        </p:txBody>
      </p:sp>
      <p:sp>
        <p:nvSpPr>
          <p:cNvPr id="7" name="Text 5"/>
          <p:cNvSpPr/>
          <p:nvPr/>
        </p:nvSpPr>
        <p:spPr>
          <a:xfrm>
            <a:off x="457200" y="403622"/>
            <a:ext cx="66381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ZATCA PHASE-2 · 02/04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653653"/>
            <a:ext cx="8636000" cy="356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1856" b="1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ZATCA المرحلة-2</a:t>
            </a:r>
            <a:pPr algn="l" indent="0" marL="0">
              <a:lnSpc>
                <a:spcPts val="2599"/>
              </a:lnSpc>
              <a:buNone/>
            </a:pPr>
            <a:r>
              <a:rPr lang="en-US" sz="1856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2599"/>
              </a:lnSpc>
              <a:buNone/>
            </a:pPr>
            <a:r>
              <a:rPr lang="en-US" sz="1856" b="1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</a:t>
            </a:r>
            <a:pPr algn="l" indent="0" marL="0">
              <a:lnSpc>
                <a:spcPts val="2599"/>
              </a:lnSpc>
              <a:buNone/>
            </a:pPr>
            <a:r>
              <a:rPr lang="en-US" sz="1856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ست خطوات من CSR إلى أول فاتورة معتمدة</a:t>
            </a:r>
            <a:endParaRPr lang="en-US" sz="1856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9638" y="1297930"/>
            <a:ext cx="14288" cy="334550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83460" y="1126480"/>
            <a:ext cx="3146152" cy="240619"/>
          </a:xfrm>
          <a:prstGeom prst="rect">
            <a:avLst/>
          </a:prstGeom>
          <a:noFill/>
          <a:ln/>
        </p:spPr>
        <p:txBody>
          <a:bodyPr wrap="square" lIns="0" tIns="5715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816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إنشاء CSR وتسجيل جهاز نقاط البيع EGS</a:t>
            </a:r>
            <a:pPr algn="l" indent="0" marL="0">
              <a:lnSpc>
                <a:spcPts val="1305"/>
              </a:lnSpc>
              <a:buNone/>
            </a:pPr>
            <a:r>
              <a:rPr lang="en-US" sz="816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ببيانات OTP من بوابة فاتورة</a:t>
            </a:r>
            <a:endParaRPr lang="en-US" sz="816" dirty="0"/>
          </a:p>
        </p:txBody>
      </p:sp>
      <p:sp>
        <p:nvSpPr>
          <p:cNvPr id="11" name="Text 8"/>
          <p:cNvSpPr/>
          <p:nvPr/>
        </p:nvSpPr>
        <p:spPr>
          <a:xfrm>
            <a:off x="4467299" y="1786496"/>
            <a:ext cx="3862313" cy="240619"/>
          </a:xfrm>
          <a:prstGeom prst="rect">
            <a:avLst/>
          </a:prstGeom>
          <a:noFill/>
          <a:ln/>
        </p:spPr>
        <p:txBody>
          <a:bodyPr wrap="square" lIns="0" tIns="5715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816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استلام CSID وتخزينه مشفراً</a:t>
            </a:r>
            <a:pPr algn="l" indent="0" marL="0">
              <a:lnSpc>
                <a:spcPts val="1305"/>
              </a:lnSpc>
              <a:buNone/>
            </a:pPr>
            <a:r>
              <a:rPr lang="en-US" sz="816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داخل AndroidKeyStore (نمط ZatcaKeys/PinVault القائم)</a:t>
            </a:r>
            <a:endParaRPr lang="en-US" sz="816" dirty="0"/>
          </a:p>
        </p:txBody>
      </p:sp>
      <p:sp>
        <p:nvSpPr>
          <p:cNvPr id="12" name="Text 9"/>
          <p:cNvSpPr/>
          <p:nvPr/>
        </p:nvSpPr>
        <p:spPr>
          <a:xfrm>
            <a:off x="3186113" y="2446511"/>
            <a:ext cx="5143500" cy="419517"/>
          </a:xfrm>
          <a:prstGeom prst="rect">
            <a:avLst/>
          </a:prstGeom>
          <a:noFill/>
          <a:ln/>
        </p:spPr>
        <p:txBody>
          <a:bodyPr wrap="square" lIns="0" tIns="5715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816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توسيع ZatcaInvoiceXml إلى UBL 2.1 كامل:</a:t>
            </a:r>
            <a:pPr algn="l" indent="0" marL="0">
              <a:lnSpc>
                <a:spcPts val="1305"/>
              </a:lnSpc>
              <a:buNone/>
            </a:pPr>
            <a:r>
              <a:rPr lang="en-US" sz="816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الحقول الإلزامية للاعتماد، فئات الضريبة S/Z/E الموجودة تُستثمر كما هي</a:t>
            </a:r>
            <a:endParaRPr lang="en-US" sz="816" dirty="0"/>
          </a:p>
        </p:txBody>
      </p:sp>
      <p:sp>
        <p:nvSpPr>
          <p:cNvPr id="13" name="Text 10"/>
          <p:cNvSpPr/>
          <p:nvPr/>
        </p:nvSpPr>
        <p:spPr>
          <a:xfrm>
            <a:off x="3376650" y="3194819"/>
            <a:ext cx="4952963" cy="240619"/>
          </a:xfrm>
          <a:prstGeom prst="rect">
            <a:avLst/>
          </a:prstGeom>
          <a:noFill/>
          <a:ln/>
        </p:spPr>
        <p:txBody>
          <a:bodyPr wrap="square" lIns="0" tIns="5715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816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سلسلة السلامة:</a:t>
            </a:r>
            <a:pPr algn="l" indent="0" marL="0">
              <a:lnSpc>
                <a:spcPts val="1305"/>
              </a:lnSpc>
              <a:buNone/>
            </a:pPr>
            <a:r>
              <a:rPr lang="en-US" sz="816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عداد ICV + هاش PIH لكل فاتورة يربط بسابقتها — يوسّع ZatcaStamp الحالي (ECDSA P-256)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3483471" y="3854834"/>
            <a:ext cx="4846141" cy="240619"/>
          </a:xfrm>
          <a:prstGeom prst="rect">
            <a:avLst/>
          </a:prstGeom>
          <a:noFill/>
          <a:ln/>
        </p:spPr>
        <p:txBody>
          <a:bodyPr wrap="square" lIns="0" tIns="5715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816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تكامل API:</a:t>
            </a:r>
            <a:pPr algn="l" indent="0" marL="0">
              <a:lnSpc>
                <a:spcPts val="1305"/>
              </a:lnSpc>
              <a:buNone/>
            </a:pPr>
            <a:r>
              <a:rPr lang="en-US" sz="816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الإبلاغ الفوري Reporting للمبسطة واعتماد Clearance للقياسية مع حالات الرفض وإعادة المحاولة</a:t>
            </a:r>
            <a:endParaRPr lang="en-US" sz="816" dirty="0"/>
          </a:p>
        </p:txBody>
      </p:sp>
      <p:sp>
        <p:nvSpPr>
          <p:cNvPr id="15" name="Text 12"/>
          <p:cNvSpPr/>
          <p:nvPr/>
        </p:nvSpPr>
        <p:spPr>
          <a:xfrm>
            <a:off x="5835328" y="4514850"/>
            <a:ext cx="2494285" cy="240619"/>
          </a:xfrm>
          <a:prstGeom prst="rect">
            <a:avLst/>
          </a:prstGeom>
          <a:noFill/>
          <a:ln/>
        </p:spPr>
        <p:txBody>
          <a:bodyPr wrap="square" lIns="0" tIns="5715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816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الإشعارات الدائنة والخصومات</a:t>
            </a:r>
            <a:pPr algn="l" indent="0" marL="0">
              <a:lnSpc>
                <a:spcPts val="1305"/>
              </a:lnSpc>
              <a:buNone/>
            </a:pPr>
            <a:r>
              <a:rPr lang="en-US" sz="816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وأرشفة الحالات الضريبية</a:t>
            </a:r>
            <a:endParaRPr lang="en-US" sz="816" dirty="0"/>
          </a:p>
        </p:txBody>
      </p:sp>
      <p:sp>
        <p:nvSpPr>
          <p:cNvPr id="16" name="Text 13"/>
          <p:cNvSpPr/>
          <p:nvPr/>
        </p:nvSpPr>
        <p:spPr>
          <a:xfrm>
            <a:off x="460772" y="1849115"/>
            <a:ext cx="2507456" cy="1216223"/>
          </a:xfrm>
          <a:prstGeom prst="roundRect">
            <a:avLst>
              <a:gd name="adj" fmla="val 12531"/>
            </a:avLst>
          </a:prstGeom>
          <a:solidFill>
            <a:srgbClr val="22D3EE">
              <a:alpha val="5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657475" y="2008956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77" dirty="0"/>
          </a:p>
        </p:txBody>
      </p:sp>
      <p:sp>
        <p:nvSpPr>
          <p:cNvPr id="18" name="Text 15"/>
          <p:cNvSpPr/>
          <p:nvPr/>
        </p:nvSpPr>
        <p:spPr>
          <a:xfrm>
            <a:off x="1748991" y="1995562"/>
            <a:ext cx="1055238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قرار معماري بارز</a:t>
            </a:r>
            <a:endParaRPr lang="en-US" sz="928" dirty="0"/>
          </a:p>
        </p:txBody>
      </p:sp>
      <p:sp>
        <p:nvSpPr>
          <p:cNvPr id="19" name="Text 16"/>
          <p:cNvSpPr/>
          <p:nvPr/>
        </p:nvSpPr>
        <p:spPr>
          <a:xfrm>
            <a:off x="621506" y="2243807"/>
            <a:ext cx="2185988" cy="67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9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إذن </a:t>
            </a:r>
            <a:pPr algn="l" indent="0" marL="0">
              <a:lnSpc>
                <a:spcPts val="1329"/>
              </a:lnSpc>
              <a:buNone/>
            </a:pPr>
            <a:r>
              <a:rPr lang="en-US" sz="800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INTERNET</a:t>
            </a:r>
            <a:pPr algn="l" indent="0" marL="0">
              <a:lnSpc>
                <a:spcPts val="1329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يُضاف </a:t>
            </a:r>
            <a:pPr algn="l" indent="0" marL="0">
              <a:lnSpc>
                <a:spcPts val="1329"/>
              </a:lnSpc>
              <a:buNone/>
            </a:pPr>
            <a:r>
              <a:rPr lang="en-US" sz="800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ميزة-بميزة (feature-gated)</a:t>
            </a:r>
            <a:pPr algn="l" indent="0" marL="0">
              <a:lnSpc>
                <a:spcPts val="1329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التطبيق يعمل كاملاً بدونه، وطبقة ZATCA وحدة معزولة معطلة افتراضياً — يُعاد صياغة قاعدة الجودة رقم 3 بقرار منتج موثق في CHANGELOG.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60772" y="3201070"/>
            <a:ext cx="2507456" cy="891183"/>
          </a:xfrm>
          <a:prstGeom prst="roundRect">
            <a:avLst>
              <a:gd name="adj" fmla="val 17101"/>
            </a:avLst>
          </a:prstGeom>
          <a:solidFill>
            <a:srgbClr val="34D399">
              <a:alpha val="6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657475" y="3360911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22" name="Text 19"/>
          <p:cNvSpPr/>
          <p:nvPr/>
        </p:nvSpPr>
        <p:spPr>
          <a:xfrm>
            <a:off x="1620403" y="3347517"/>
            <a:ext cx="1187090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معيار القبول النهائي</a:t>
            </a:r>
            <a:endParaRPr lang="en-US" sz="928" dirty="0"/>
          </a:p>
        </p:txBody>
      </p:sp>
      <p:sp>
        <p:nvSpPr>
          <p:cNvPr id="23" name="Text 20"/>
          <p:cNvSpPr/>
          <p:nvPr/>
        </p:nvSpPr>
        <p:spPr>
          <a:xfrm>
            <a:off x="621506" y="3595762"/>
            <a:ext cx="2185988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اجتياز فحوص compliance في sandbox بنسبة </a:t>
            </a:r>
            <a:pPr algn="l" indent="0" marL="0">
              <a:lnSpc>
                <a:spcPts val="1378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pPr algn="l" indent="0" marL="0">
              <a:lnSpc>
                <a:spcPts val="1378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أول فاتورة معتمدة حية.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390334" y="1130052"/>
            <a:ext cx="292894" cy="292894"/>
          </a:xfrm>
          <a:prstGeom prst="roundRect">
            <a:avLst>
              <a:gd name="adj" fmla="val 42276"/>
            </a:avLst>
          </a:prstGeom>
          <a:solidFill>
            <a:srgbClr val="3B82F6">
              <a:alpha val="12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8386763" y="1126480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7DB2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956" dirty="0"/>
          </a:p>
        </p:txBody>
      </p:sp>
      <p:sp>
        <p:nvSpPr>
          <p:cNvPr id="26" name="Text 23"/>
          <p:cNvSpPr/>
          <p:nvPr/>
        </p:nvSpPr>
        <p:spPr>
          <a:xfrm>
            <a:off x="8390334" y="1790067"/>
            <a:ext cx="292894" cy="292894"/>
          </a:xfrm>
          <a:prstGeom prst="roundRect">
            <a:avLst>
              <a:gd name="adj" fmla="val 42276"/>
            </a:avLst>
          </a:prstGeom>
          <a:solidFill>
            <a:srgbClr val="3B82F6">
              <a:alpha val="12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8386763" y="1786496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7DB2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956" dirty="0"/>
          </a:p>
        </p:txBody>
      </p:sp>
      <p:sp>
        <p:nvSpPr>
          <p:cNvPr id="28" name="Text 25"/>
          <p:cNvSpPr/>
          <p:nvPr/>
        </p:nvSpPr>
        <p:spPr>
          <a:xfrm>
            <a:off x="8390334" y="2450083"/>
            <a:ext cx="292894" cy="292894"/>
          </a:xfrm>
          <a:prstGeom prst="roundRect">
            <a:avLst>
              <a:gd name="adj" fmla="val 42276"/>
            </a:avLst>
          </a:prstGeom>
          <a:solidFill>
            <a:srgbClr val="3B82F6">
              <a:alpha val="12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8386763" y="2446511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7DB2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956" dirty="0"/>
          </a:p>
        </p:txBody>
      </p:sp>
      <p:sp>
        <p:nvSpPr>
          <p:cNvPr id="30" name="Text 27"/>
          <p:cNvSpPr/>
          <p:nvPr/>
        </p:nvSpPr>
        <p:spPr>
          <a:xfrm>
            <a:off x="8390334" y="3198391"/>
            <a:ext cx="292894" cy="292894"/>
          </a:xfrm>
          <a:prstGeom prst="roundRect">
            <a:avLst>
              <a:gd name="adj" fmla="val 42276"/>
            </a:avLst>
          </a:prstGeom>
          <a:solidFill>
            <a:srgbClr val="3B82F6">
              <a:alpha val="12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8386763" y="3194819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7DB2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956" dirty="0"/>
          </a:p>
        </p:txBody>
      </p:sp>
      <p:sp>
        <p:nvSpPr>
          <p:cNvPr id="32" name="Text 29"/>
          <p:cNvSpPr/>
          <p:nvPr/>
        </p:nvSpPr>
        <p:spPr>
          <a:xfrm>
            <a:off x="8390334" y="3858406"/>
            <a:ext cx="292894" cy="292894"/>
          </a:xfrm>
          <a:prstGeom prst="roundRect">
            <a:avLst>
              <a:gd name="adj" fmla="val 42276"/>
            </a:avLst>
          </a:prstGeom>
          <a:solidFill>
            <a:srgbClr val="3B82F6">
              <a:alpha val="12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8386763" y="3854834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7DB2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956" dirty="0"/>
          </a:p>
        </p:txBody>
      </p:sp>
      <p:sp>
        <p:nvSpPr>
          <p:cNvPr id="34" name="Text 31"/>
          <p:cNvSpPr/>
          <p:nvPr/>
        </p:nvSpPr>
        <p:spPr>
          <a:xfrm>
            <a:off x="8390334" y="4518422"/>
            <a:ext cx="292894" cy="292894"/>
          </a:xfrm>
          <a:prstGeom prst="roundRect">
            <a:avLst>
              <a:gd name="adj" fmla="val 42276"/>
            </a:avLst>
          </a:prstGeom>
          <a:solidFill>
            <a:srgbClr val="3B82F6">
              <a:alpha val="12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8386763" y="4514850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7DB2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95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2313" y="-1500187"/>
            <a:ext cx="3286125" cy="3286125"/>
          </a:xfrm>
          <a:prstGeom prst="ellipse">
            <a:avLst/>
          </a:prstGeom>
          <a:solidFill>
            <a:srgbClr val="3B82F6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1071562" y="4000500"/>
            <a:ext cx="2714625" cy="2714625"/>
          </a:xfrm>
          <a:prstGeom prst="ellipse">
            <a:avLst/>
          </a:prstGeom>
          <a:solidFill>
            <a:srgbClr val="34D39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113166" y="360759"/>
            <a:ext cx="1570062" cy="203597"/>
          </a:xfrm>
          <a:prstGeom prst="roundRect">
            <a:avLst>
              <a:gd name="adj" fmla="val 4673681"/>
            </a:avLst>
          </a:prstGeom>
          <a:solidFill>
            <a:srgbClr val="3B82F6">
              <a:alpha val="8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16750" y="407194"/>
            <a:ext cx="1470050" cy="126609"/>
          </a:xfrm>
          <a:prstGeom prst="rect">
            <a:avLst/>
          </a:prstGeom>
          <a:noFill/>
          <a:ln/>
        </p:spPr>
        <p:txBody>
          <a:bodyPr wrap="none" lIns="100013" tIns="28575" rIns="100013" bIns="28575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العمود الثاني · الامتثال والتكامل</a:t>
            </a:r>
            <a:endParaRPr lang="en-US" sz="731" dirty="0"/>
          </a:p>
        </p:txBody>
      </p:sp>
      <p:sp>
        <p:nvSpPr>
          <p:cNvPr id="6" name="Text 4"/>
          <p:cNvSpPr/>
          <p:nvPr/>
        </p:nvSpPr>
        <p:spPr>
          <a:xfrm>
            <a:off x="8472488" y="408980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055" dirty="0"/>
          </a:p>
        </p:txBody>
      </p:sp>
      <p:sp>
        <p:nvSpPr>
          <p:cNvPr id="7" name="Text 5"/>
          <p:cNvSpPr/>
          <p:nvPr/>
        </p:nvSpPr>
        <p:spPr>
          <a:xfrm>
            <a:off x="457200" y="403622"/>
            <a:ext cx="66381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97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ECOSYSTEM BRIDGES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653653"/>
            <a:ext cx="8636000" cy="356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1856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التكاملات المحيطة — جسور معيارية لا تكسر </a:t>
            </a:r>
            <a:pPr algn="l" indent="0" marL="0">
              <a:lnSpc>
                <a:spcPts val="2599"/>
              </a:lnSpc>
              <a:buNone/>
            </a:pPr>
            <a:r>
              <a:rPr lang="en-US" sz="1856" b="1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«بلا إنترنت»</a:t>
            </a:r>
            <a:endParaRPr lang="en-US" sz="1856" dirty="0"/>
          </a:p>
        </p:txBody>
      </p:sp>
      <p:sp>
        <p:nvSpPr>
          <p:cNvPr id="9" name="Text 7"/>
          <p:cNvSpPr/>
          <p:nvPr/>
        </p:nvSpPr>
        <p:spPr>
          <a:xfrm>
            <a:off x="6013921" y="1130052"/>
            <a:ext cx="2669307" cy="1667396"/>
          </a:xfrm>
          <a:prstGeom prst="roundRect">
            <a:avLst>
              <a:gd name="adj" fmla="val 7998"/>
            </a:avLst>
          </a:prstGeom>
          <a:solidFill>
            <a:srgbClr val="121A38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54603" y="1271476"/>
            <a:ext cx="292894" cy="292894"/>
          </a:xfrm>
          <a:prstGeom prst="roundRect">
            <a:avLst>
              <a:gd name="adj" fmla="val 39024"/>
            </a:avLst>
          </a:prstGeom>
          <a:solidFill>
            <a:srgbClr val="3B82F6">
              <a:alpha val="13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81928" y="1298801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7DB2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617" dirty="0"/>
          </a:p>
        </p:txBody>
      </p:sp>
      <p:sp>
        <p:nvSpPr>
          <p:cNvPr id="12" name="Text 10"/>
          <p:cNvSpPr/>
          <p:nvPr/>
        </p:nvSpPr>
        <p:spPr>
          <a:xfrm>
            <a:off x="7281379" y="1247924"/>
            <a:ext cx="930362" cy="367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956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المتاجر الإلكترونية</a:t>
            </a:r>
            <a:endParaRPr lang="en-US" sz="956" dirty="0"/>
          </a:p>
          <a:p>
            <a:pPr algn="l" indent="0" marL="0">
              <a:lnSpc>
                <a:spcPts val="1339"/>
              </a:lnSpc>
              <a:buNone/>
            </a:pPr>
            <a:r>
              <a:rPr lang="en-US" sz="800" b="1" dirty="0">
                <a:solidFill>
                  <a:srgbClr val="7DB2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سلة / زد</a:t>
            </a:r>
            <a:endParaRPr lang="en-US" sz="956" dirty="0"/>
          </a:p>
        </p:txBody>
      </p:sp>
      <p:sp>
        <p:nvSpPr>
          <p:cNvPr id="13" name="Text 11"/>
          <p:cNvSpPr/>
          <p:nvPr/>
        </p:nvSpPr>
        <p:spPr>
          <a:xfrm>
            <a:off x="6146081" y="1353629"/>
            <a:ext cx="11210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7A3C4">
                    <a:alpha val="6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146081" y="1659359"/>
            <a:ext cx="2404988" cy="559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4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تصدير كتالوج ومخزون CSV/XLSX بمخططات مطابقة لأدوات الاستيراد الرسمية + استيراد الطلبات — مزامنة يدوية آمنة بلا أي SDK شبكي.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37347" y="1130052"/>
            <a:ext cx="2669418" cy="1667396"/>
          </a:xfrm>
          <a:prstGeom prst="roundRect">
            <a:avLst>
              <a:gd name="adj" fmla="val 7998"/>
            </a:avLst>
          </a:prstGeom>
          <a:solidFill>
            <a:srgbClr val="121A38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78140" y="1251496"/>
            <a:ext cx="292894" cy="292894"/>
          </a:xfrm>
          <a:prstGeom prst="roundRect">
            <a:avLst>
              <a:gd name="adj" fmla="val 39024"/>
            </a:avLst>
          </a:prstGeom>
          <a:solidFill>
            <a:srgbClr val="3B82F6">
              <a:alpha val="13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05465" y="1278821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7DB2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617" dirty="0"/>
          </a:p>
        </p:txBody>
      </p:sp>
      <p:sp>
        <p:nvSpPr>
          <p:cNvPr id="18" name="Text 16"/>
          <p:cNvSpPr/>
          <p:nvPr/>
        </p:nvSpPr>
        <p:spPr>
          <a:xfrm>
            <a:off x="4436380" y="1312887"/>
            <a:ext cx="1199508" cy="18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956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واتساب Business</a:t>
            </a:r>
            <a:endParaRPr lang="en-US" sz="956" dirty="0"/>
          </a:p>
        </p:txBody>
      </p:sp>
      <p:sp>
        <p:nvSpPr>
          <p:cNvPr id="19" name="Text 17"/>
          <p:cNvSpPr/>
          <p:nvPr/>
        </p:nvSpPr>
        <p:spPr>
          <a:xfrm>
            <a:off x="3369506" y="1333649"/>
            <a:ext cx="10525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7A3C4">
                    <a:alpha val="6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69506" y="1619399"/>
            <a:ext cx="2405100" cy="372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4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مشاركة الفواتير والكشوف PDF عبر Intents النظام (الأساس قائم منذ P6) + قوالب رسائل تحصيل جاهزة بالعربية.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0883" y="1130052"/>
            <a:ext cx="2669307" cy="1667396"/>
          </a:xfrm>
          <a:prstGeom prst="roundRect">
            <a:avLst>
              <a:gd name="adj" fmla="val 7998"/>
            </a:avLst>
          </a:prstGeom>
          <a:solidFill>
            <a:srgbClr val="121A38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01565" y="1251496"/>
            <a:ext cx="292894" cy="292894"/>
          </a:xfrm>
          <a:prstGeom prst="roundRect">
            <a:avLst>
              <a:gd name="adj" fmla="val 39024"/>
            </a:avLst>
          </a:prstGeom>
          <a:solidFill>
            <a:srgbClr val="3B82F6">
              <a:alpha val="13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728890" y="1278821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7DB2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⎙</a:t>
            </a:r>
            <a:endParaRPr lang="en-US" sz="1617" dirty="0"/>
          </a:p>
        </p:txBody>
      </p:sp>
      <p:sp>
        <p:nvSpPr>
          <p:cNvPr id="24" name="Text 22"/>
          <p:cNvSpPr/>
          <p:nvPr/>
        </p:nvSpPr>
        <p:spPr>
          <a:xfrm>
            <a:off x="1778347" y="1312887"/>
            <a:ext cx="1051331" cy="18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956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الطباعة الموسعة</a:t>
            </a:r>
            <a:endParaRPr lang="en-US" sz="956" dirty="0"/>
          </a:p>
        </p:txBody>
      </p:sp>
      <p:sp>
        <p:nvSpPr>
          <p:cNvPr id="25" name="Text 23"/>
          <p:cNvSpPr/>
          <p:nvPr/>
        </p:nvSpPr>
        <p:spPr>
          <a:xfrm>
            <a:off x="593043" y="1333649"/>
            <a:ext cx="11710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7A3C4">
                    <a:alpha val="6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3043" y="1619399"/>
            <a:ext cx="2404988" cy="372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4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ESC/POS الحالي + طابعات شبكية اختيارية (ميزة معزولة بإذن شبكة محلي) + ملصقات باركود للأرفف.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25690" y="2904604"/>
            <a:ext cx="4057538" cy="1448953"/>
          </a:xfrm>
          <a:prstGeom prst="roundRect">
            <a:avLst>
              <a:gd name="adj" fmla="val 9203"/>
            </a:avLst>
          </a:prstGeom>
          <a:solidFill>
            <a:srgbClr val="121A38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254603" y="3026048"/>
            <a:ext cx="292894" cy="292894"/>
          </a:xfrm>
          <a:prstGeom prst="roundRect">
            <a:avLst>
              <a:gd name="adj" fmla="val 39024"/>
            </a:avLst>
          </a:prstGeom>
          <a:solidFill>
            <a:srgbClr val="3B82F6">
              <a:alpha val="13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281928" y="3053373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7DB2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</a:t>
            </a:r>
            <a:endParaRPr lang="en-US" sz="1617" dirty="0"/>
          </a:p>
        </p:txBody>
      </p:sp>
      <p:sp>
        <p:nvSpPr>
          <p:cNvPr id="30" name="Text 28"/>
          <p:cNvSpPr/>
          <p:nvPr/>
        </p:nvSpPr>
        <p:spPr>
          <a:xfrm>
            <a:off x="7388535" y="3087439"/>
            <a:ext cx="979894" cy="18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956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المطابقة البنكية</a:t>
            </a:r>
            <a:endParaRPr lang="en-US" sz="956" dirty="0"/>
          </a:p>
        </p:txBody>
      </p:sp>
      <p:sp>
        <p:nvSpPr>
          <p:cNvPr id="31" name="Text 29"/>
          <p:cNvSpPr/>
          <p:nvPr/>
        </p:nvSpPr>
        <p:spPr>
          <a:xfrm>
            <a:off x="4757849" y="3108201"/>
            <a:ext cx="26163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7A3C4">
                    <a:alpha val="6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57849" y="3393951"/>
            <a:ext cx="3793220" cy="186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4"/>
              </a:lnSpc>
              <a:buNone/>
            </a:pPr>
            <a:r>
              <a:rPr lang="en-US" sz="72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استيراد كشوف MT940/CSV محلياً ومطابقة تلقائية مع الشيكات والقبوضات — يغلق دورة التسوية.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460883" y="2904604"/>
            <a:ext cx="4057650" cy="1448953"/>
          </a:xfrm>
          <a:prstGeom prst="roundRect">
            <a:avLst>
              <a:gd name="adj" fmla="val 9203"/>
            </a:avLst>
          </a:prstGeom>
          <a:solidFill>
            <a:srgbClr val="121A38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089908" y="3026048"/>
            <a:ext cx="292894" cy="292894"/>
          </a:xfrm>
          <a:prstGeom prst="roundRect">
            <a:avLst>
              <a:gd name="adj" fmla="val 39024"/>
            </a:avLst>
          </a:prstGeom>
          <a:solidFill>
            <a:srgbClr val="3B82F6">
              <a:alpha val="13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117233" y="3053373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7DB2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1617" dirty="0"/>
          </a:p>
        </p:txBody>
      </p:sp>
      <p:sp>
        <p:nvSpPr>
          <p:cNvPr id="36" name="Text 34"/>
          <p:cNvSpPr/>
          <p:nvPr/>
        </p:nvSpPr>
        <p:spPr>
          <a:xfrm>
            <a:off x="3416722" y="3087439"/>
            <a:ext cx="738792" cy="18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956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روابط الدفع</a:t>
            </a:r>
            <a:endParaRPr lang="en-US" sz="956" dirty="0"/>
          </a:p>
        </p:txBody>
      </p:sp>
      <p:sp>
        <p:nvSpPr>
          <p:cNvPr id="37" name="Text 35"/>
          <p:cNvSpPr/>
          <p:nvPr/>
        </p:nvSpPr>
        <p:spPr>
          <a:xfrm>
            <a:off x="593043" y="3108201"/>
            <a:ext cx="28093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7A3C4">
                    <a:alpha val="6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93043" y="3393951"/>
            <a:ext cx="3793331" cy="186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4"/>
              </a:lnSpc>
              <a:buNone/>
            </a:pPr>
            <a:r>
              <a:rPr lang="en-US" sz="72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توليد ومشاركة روابط تحصيل نصياً (STC Pay/مدى عبر البنك) — التحصيل عن بُعد بلا خادم.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460772" y="4460825"/>
            <a:ext cx="8222456" cy="350490"/>
          </a:xfrm>
          <a:prstGeom prst="roundRect">
            <a:avLst>
              <a:gd name="adj" fmla="val 38047"/>
            </a:avLst>
          </a:prstGeom>
          <a:solidFill>
            <a:srgbClr val="34D399">
              <a:alpha val="6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379619" y="455748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547" dirty="0"/>
          </a:p>
        </p:txBody>
      </p:sp>
      <p:sp>
        <p:nvSpPr>
          <p:cNvPr id="41" name="Text 39"/>
          <p:cNvSpPr/>
          <p:nvPr/>
        </p:nvSpPr>
        <p:spPr>
          <a:xfrm>
            <a:off x="2949141" y="4557266"/>
            <a:ext cx="5384043" cy="157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776" b="1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المبدأ:</a:t>
            </a:r>
            <a:pPr algn="l" indent="0" marL="0">
              <a:lnSpc>
                <a:spcPts val="1242"/>
              </a:lnSpc>
              <a:buNone/>
            </a:pPr>
            <a:r>
              <a:rPr lang="en-US" sz="776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كل تكامل = ملف معياري أو Intent نظامي — لا خلفية سحابية مركزية ولا بيانات تخرج من الجهاز إلا بفعل المستخدم الصريح.</a:t>
            </a:r>
            <a:endParaRPr lang="en-US" sz="776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85875" y="-1857375"/>
            <a:ext cx="4000500" cy="4000500"/>
          </a:xfrm>
          <a:prstGeom prst="ellipse">
            <a:avLst/>
          </a:prstGeom>
          <a:solidFill>
            <a:srgbClr val="22D3EE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86625" y="3857625"/>
            <a:ext cx="3000375" cy="3000375"/>
          </a:xfrm>
          <a:prstGeom prst="ellipse">
            <a:avLst/>
          </a:prstGeom>
          <a:solidFill>
            <a:srgbClr val="8B5CF6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-639366" y="503634"/>
            <a:ext cx="2421731" cy="2421731"/>
          </a:xfrm>
          <a:prstGeom prst="ellipse">
            <a:avLst/>
          </a:prstGeom>
          <a:noFill/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-210741" y="932259"/>
            <a:ext cx="1564481" cy="1564481"/>
          </a:xfrm>
          <a:prstGeom prst="ellipse">
            <a:avLst/>
          </a:prstGeom>
          <a:noFill/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22044" y="387406"/>
            <a:ext cx="1287616" cy="236030"/>
          </a:xfrm>
          <a:prstGeom prst="roundRect">
            <a:avLst>
              <a:gd name="adj" fmla="val 4031468"/>
            </a:avLst>
          </a:prstGeom>
          <a:solidFill>
            <a:srgbClr val="22D3EE">
              <a:alpha val="8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552060" y="450056"/>
            <a:ext cx="877565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العمود الثالث من أربعة</a:t>
            </a:r>
            <a:endParaRPr lang="en-US" sz="731" dirty="0"/>
          </a:p>
        </p:txBody>
      </p:sp>
      <p:sp>
        <p:nvSpPr>
          <p:cNvPr id="8" name="Text 6"/>
          <p:cNvSpPr/>
          <p:nvPr/>
        </p:nvSpPr>
        <p:spPr>
          <a:xfrm>
            <a:off x="8472488" y="451842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055" dirty="0"/>
          </a:p>
        </p:txBody>
      </p:sp>
      <p:sp>
        <p:nvSpPr>
          <p:cNvPr id="9" name="Text 7"/>
          <p:cNvSpPr/>
          <p:nvPr/>
        </p:nvSpPr>
        <p:spPr>
          <a:xfrm>
            <a:off x="3958530" y="710803"/>
            <a:ext cx="5185470" cy="456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4"/>
              </a:lnSpc>
              <a:buNone/>
            </a:pPr>
            <a:r>
              <a:rPr lang="en-US" sz="2588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العمود الثالث — </a:t>
            </a:r>
            <a:pPr algn="l" indent="0" marL="0">
              <a:lnSpc>
                <a:spcPts val="3364"/>
              </a:lnSpc>
              <a:buNone/>
            </a:pPr>
            <a:r>
              <a:rPr lang="en-US" sz="2588" b="1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الذكاء المحلي</a:t>
            </a:r>
            <a:endParaRPr lang="en-US" sz="2588" dirty="0"/>
          </a:p>
        </p:txBody>
      </p:sp>
      <p:sp>
        <p:nvSpPr>
          <p:cNvPr id="10" name="Text 8"/>
          <p:cNvSpPr/>
          <p:nvPr/>
        </p:nvSpPr>
        <p:spPr>
          <a:xfrm>
            <a:off x="3958530" y="1195127"/>
            <a:ext cx="4728270" cy="222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6"/>
              </a:lnSpc>
              <a:buNone/>
            </a:pPr>
            <a:r>
              <a:rPr lang="en-US" sz="956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أذكى محرك تحليلات تجارية يعمل داخل الجهاز — رؤى استباقية ومساعد عربي، </a:t>
            </a:r>
            <a:pPr algn="l" indent="0" marL="0">
              <a:lnSpc>
                <a:spcPts val="1626"/>
              </a:lnSpc>
              <a:buNone/>
            </a:pPr>
            <a:r>
              <a:rPr lang="en-US" sz="956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صفر بايت شبكة</a:t>
            </a:r>
            <a:pPr algn="l" indent="0" marL="0">
              <a:lnSpc>
                <a:spcPts val="1626"/>
              </a:lnSpc>
              <a:buNone/>
            </a:pPr>
            <a:r>
              <a:rPr lang="en-US" sz="956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152073" y="428625"/>
            <a:ext cx="1627346" cy="869778"/>
          </a:xfrm>
          <a:prstGeom prst="rect">
            <a:avLst/>
          </a:prstGeom>
          <a:noFill/>
          <a:ln/>
          <a:effectLst>
            <a:outerShdw sx="100000" sy="100000" kx="0" ky="0" algn="bl" rotWithShape="0" blurRad="571500" dist="50800" dir="16200000">
              <a:srgbClr val="22D3EE">
                <a:alpha val="35000"/>
              </a:srgbClr>
            </a:outerShdw>
          </a:effectLst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6840"/>
              </a:lnSpc>
              <a:buNone/>
            </a:pPr>
            <a:r>
              <a:rPr lang="en-US" sz="7200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152073" y="1325835"/>
            <a:ext cx="1627346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spc="281" kern="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04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60772" y="1686595"/>
            <a:ext cx="8222456" cy="673298"/>
          </a:xfrm>
          <a:prstGeom prst="roundRect">
            <a:avLst>
              <a:gd name="adj" fmla="val 19805"/>
            </a:avLst>
          </a:prstGeom>
          <a:solidFill>
            <a:srgbClr val="121A38"/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73206" y="1843757"/>
            <a:ext cx="5492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الإنجاز الحالي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7808900" y="1797323"/>
            <a:ext cx="7144" cy="242888"/>
          </a:xfrm>
          <a:prstGeom prst="rect">
            <a:avLst/>
          </a:prstGeom>
          <a:solidFill>
            <a:srgbClr val="22D3EE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539893" y="1820540"/>
            <a:ext cx="178951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1463" dirty="0"/>
          </a:p>
        </p:txBody>
      </p:sp>
      <p:sp>
        <p:nvSpPr>
          <p:cNvPr id="17" name="Text 15"/>
          <p:cNvSpPr/>
          <p:nvPr/>
        </p:nvSpPr>
        <p:spPr>
          <a:xfrm>
            <a:off x="6659761" y="1877690"/>
            <a:ext cx="9561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موجات ذكاء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R7–R15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95455" y="1797323"/>
            <a:ext cx="7144" cy="242888"/>
          </a:xfrm>
          <a:prstGeom prst="rect">
            <a:avLst/>
          </a:prstGeom>
          <a:solidFill>
            <a:srgbClr val="22D3EE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90915" y="1820540"/>
            <a:ext cx="715804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160+</a:t>
            </a:r>
            <a:endParaRPr lang="en-US" sz="1463" dirty="0"/>
          </a:p>
        </p:txBody>
      </p:sp>
      <p:sp>
        <p:nvSpPr>
          <p:cNvPr id="20" name="Text 18"/>
          <p:cNvSpPr/>
          <p:nvPr/>
        </p:nvSpPr>
        <p:spPr>
          <a:xfrm>
            <a:off x="5150644" y="1877690"/>
            <a:ext cx="7922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خوارزمية إحصائية</a:t>
            </a:r>
            <a:endParaRPr lang="en-US" sz="731" dirty="0"/>
          </a:p>
        </p:txBody>
      </p:sp>
      <p:sp>
        <p:nvSpPr>
          <p:cNvPr id="21" name="Text 19"/>
          <p:cNvSpPr/>
          <p:nvPr/>
        </p:nvSpPr>
        <p:spPr>
          <a:xfrm>
            <a:off x="4986338" y="1797323"/>
            <a:ext cx="7144" cy="242888"/>
          </a:xfrm>
          <a:prstGeom prst="rect">
            <a:avLst/>
          </a:prstGeom>
          <a:solidFill>
            <a:srgbClr val="22D3EE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96892" y="1824112"/>
            <a:ext cx="367008" cy="185166"/>
          </a:xfrm>
          <a:prstGeom prst="rect">
            <a:avLst/>
          </a:prstGeom>
          <a:noFill/>
          <a:ln/>
        </p:spPr>
        <p:txBody>
          <a:bodyPr wrap="none" lIns="0" tIns="42863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JVM</a:t>
            </a:r>
            <a:endParaRPr lang="en-US" sz="1013" dirty="0"/>
          </a:p>
        </p:txBody>
      </p:sp>
      <p:sp>
        <p:nvSpPr>
          <p:cNvPr id="23" name="Text 21"/>
          <p:cNvSpPr/>
          <p:nvPr/>
        </p:nvSpPr>
        <p:spPr>
          <a:xfrm>
            <a:off x="3619314" y="1874118"/>
            <a:ext cx="10703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تحقق ميداني لكل موجة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1506" y="2104504"/>
            <a:ext cx="8010715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أعمق قاعدة تحليلات في فئة POS أوفلاين عالمياً.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13921" y="2481337"/>
            <a:ext cx="2669307" cy="829456"/>
          </a:xfrm>
          <a:prstGeom prst="roundRect">
            <a:avLst>
              <a:gd name="adj" fmla="val 16077"/>
            </a:avLst>
          </a:prstGeom>
          <a:solidFill>
            <a:srgbClr val="121A38"/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379619" y="259920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27" name="Text 25"/>
          <p:cNvSpPr/>
          <p:nvPr/>
        </p:nvSpPr>
        <p:spPr>
          <a:xfrm>
            <a:off x="6146081" y="2620640"/>
            <a:ext cx="221925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2D3EE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46081" y="2834953"/>
            <a:ext cx="2404988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موجات إحصائية </a:t>
            </a:r>
            <a:pPr algn="l" indent="0" marL="0">
              <a:lnSpc>
                <a:spcPts val="1350"/>
              </a:lnSpc>
              <a:buNone/>
            </a:pPr>
            <a:r>
              <a:rPr lang="en-US" sz="800" b="1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R16–R20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46081" y="3042121"/>
            <a:ext cx="2514716" cy="15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تمدد التنبؤ والاكتشاف والتسعير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37347" y="2481337"/>
            <a:ext cx="2669418" cy="829456"/>
          </a:xfrm>
          <a:prstGeom prst="roundRect">
            <a:avLst>
              <a:gd name="adj" fmla="val 16077"/>
            </a:avLst>
          </a:prstGeom>
          <a:solidFill>
            <a:srgbClr val="121A38"/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03156" y="259920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32" name="Text 30"/>
          <p:cNvSpPr/>
          <p:nvPr/>
        </p:nvSpPr>
        <p:spPr>
          <a:xfrm>
            <a:off x="3369506" y="2620640"/>
            <a:ext cx="221936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2D3EE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69506" y="2834953"/>
            <a:ext cx="2405100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مساعد SuperBiz Advisor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69506" y="3042121"/>
            <a:ext cx="2514828" cy="15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بالعربية يجيب على أسئلة بياناتك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0883" y="2481337"/>
            <a:ext cx="2669307" cy="829456"/>
          </a:xfrm>
          <a:prstGeom prst="roundRect">
            <a:avLst>
              <a:gd name="adj" fmla="val 16077"/>
            </a:avLst>
          </a:prstGeom>
          <a:solidFill>
            <a:srgbClr val="121A38"/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826581" y="259920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37" name="Text 35"/>
          <p:cNvSpPr/>
          <p:nvPr/>
        </p:nvSpPr>
        <p:spPr>
          <a:xfrm>
            <a:off x="593043" y="2620640"/>
            <a:ext cx="221925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2D3EE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93043" y="2834953"/>
            <a:ext cx="2404988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لوحة استباقية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3043" y="3042121"/>
            <a:ext cx="2514716" cy="15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ماذا سيحدث الأسبوع القادم وماذا افعل اليوم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7200" y="3428665"/>
            <a:ext cx="8229600" cy="1357647"/>
          </a:xfrm>
          <a:prstGeom prst="roundRect">
            <a:avLst>
              <a:gd name="adj" fmla="val 9822"/>
            </a:avLst>
          </a:prstGeom>
          <a:solidFill>
            <a:srgbClr val="12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8676084" y="3428665"/>
            <a:ext cx="0" cy="1357647"/>
          </a:xfrm>
          <a:prstGeom prst="line">
            <a:avLst/>
          </a:prstGeom>
          <a:noFill/>
          <a:ln w="21431">
            <a:solidFill>
              <a:srgbClr val="22D3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65319" y="3985989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91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2391" dirty="0"/>
          </a:p>
        </p:txBody>
      </p:sp>
      <p:sp>
        <p:nvSpPr>
          <p:cNvPr id="43" name="Text 41"/>
          <p:cNvSpPr/>
          <p:nvPr/>
        </p:nvSpPr>
        <p:spPr>
          <a:xfrm>
            <a:off x="2437693" y="3998491"/>
            <a:ext cx="5770476" cy="235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7"/>
              </a:lnSpc>
              <a:buNone/>
            </a:pPr>
            <a:r>
              <a:rPr lang="en-US" sz="104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المنافسون السحابيون يحتاجون إنترنت ليجمعوا بياناتك أولاً — نحن نحلل حيث توجد البيانات: </a:t>
            </a:r>
            <a:pPr algn="l" indent="0" marL="0">
              <a:lnSpc>
                <a:spcPts val="1717"/>
              </a:lnSpc>
              <a:buNone/>
            </a:pPr>
            <a:r>
              <a:rPr lang="en-US" sz="1041" b="1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على جهازك.</a:t>
            </a:r>
            <a:endParaRPr lang="en-US" sz="104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29438" y="-1643062"/>
            <a:ext cx="3429000" cy="34290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1143000" y="3786188"/>
            <a:ext cx="3000375" cy="3000375"/>
          </a:xfrm>
          <a:prstGeom prst="ellipse">
            <a:avLst/>
          </a:prstGeom>
          <a:solidFill>
            <a:srgbClr val="8B5CF6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06035" y="332184"/>
            <a:ext cx="1477194" cy="203597"/>
          </a:xfrm>
          <a:prstGeom prst="roundRect">
            <a:avLst>
              <a:gd name="adj" fmla="val 4673681"/>
            </a:avLst>
          </a:prstGeom>
          <a:solidFill>
            <a:srgbClr val="22D3EE">
              <a:alpha val="8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09619" y="378619"/>
            <a:ext cx="1377181" cy="126609"/>
          </a:xfrm>
          <a:prstGeom prst="rect">
            <a:avLst/>
          </a:prstGeom>
          <a:noFill/>
          <a:ln/>
        </p:spPr>
        <p:txBody>
          <a:bodyPr wrap="none" lIns="100013" tIns="28575" rIns="100013" bIns="28575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العمود الثالث · الذكاء المحلي</a:t>
            </a:r>
            <a:endParaRPr lang="en-US" sz="731" dirty="0"/>
          </a:p>
        </p:txBody>
      </p:sp>
      <p:sp>
        <p:nvSpPr>
          <p:cNvPr id="6" name="Text 4"/>
          <p:cNvSpPr/>
          <p:nvPr/>
        </p:nvSpPr>
        <p:spPr>
          <a:xfrm>
            <a:off x="8472488" y="380405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055" dirty="0"/>
          </a:p>
        </p:txBody>
      </p:sp>
      <p:sp>
        <p:nvSpPr>
          <p:cNvPr id="7" name="Text 5"/>
          <p:cNvSpPr/>
          <p:nvPr/>
        </p:nvSpPr>
        <p:spPr>
          <a:xfrm>
            <a:off x="457200" y="375047"/>
            <a:ext cx="67309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97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ON-DEVICE INTELLIGENCE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610791"/>
            <a:ext cx="8636000" cy="33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744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الذكاء المحلي — </a:t>
            </a:r>
            <a:pPr algn="l" indent="0" marL="0">
              <a:lnSpc>
                <a:spcPts val="2441"/>
              </a:lnSpc>
              <a:buNone/>
            </a:pPr>
            <a:r>
              <a:rPr lang="en-US" sz="1744" b="1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مساران متكاملان</a:t>
            </a:r>
            <a:pPr algn="l" indent="0" marL="0">
              <a:lnSpc>
                <a:spcPts val="2441"/>
              </a:lnSpc>
              <a:buNone/>
            </a:pPr>
            <a:r>
              <a:rPr lang="en-US" sz="1744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وقرار معماري واحد</a:t>
            </a:r>
            <a:endParaRPr lang="en-US" sz="1744" dirty="0"/>
          </a:p>
        </p:txBody>
      </p:sp>
      <p:sp>
        <p:nvSpPr>
          <p:cNvPr id="9" name="Text 7"/>
          <p:cNvSpPr/>
          <p:nvPr/>
        </p:nvSpPr>
        <p:spPr>
          <a:xfrm>
            <a:off x="460772" y="1010059"/>
            <a:ext cx="8222456" cy="506313"/>
          </a:xfrm>
          <a:prstGeom prst="roundRect">
            <a:avLst>
              <a:gd name="adj" fmla="val 26337"/>
            </a:avLst>
          </a:prstGeom>
          <a:solidFill>
            <a:srgbClr val="8B5CF6">
              <a:alpha val="7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51044" y="1170347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828" dirty="0"/>
          </a:p>
        </p:txBody>
      </p:sp>
      <p:sp>
        <p:nvSpPr>
          <p:cNvPr id="11" name="Text 9"/>
          <p:cNvSpPr/>
          <p:nvPr/>
        </p:nvSpPr>
        <p:spPr>
          <a:xfrm>
            <a:off x="607219" y="1106500"/>
            <a:ext cx="7693819" cy="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4"/>
              </a:lnSpc>
              <a:buNone/>
            </a:pPr>
            <a:r>
              <a:rPr lang="en-US" sz="800" b="1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القرار المعماري — تفسير القاعدة 4 بدقة:</a:t>
            </a:r>
            <a:pPr algn="l" indent="0" marL="0">
              <a:lnSpc>
                <a:spcPts val="1234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القاعدة 4 الحالية (لا مكتبات AI/ML) تعني: </a:t>
            </a:r>
            <a:pPr algn="l" indent="0" marL="0">
              <a:lnSpc>
                <a:spcPts val="1234"/>
              </a:lnSpc>
              <a:buNone/>
            </a:pPr>
            <a:r>
              <a:rPr lang="en-US" sz="800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ممنوع السحابة</a:t>
            </a:r>
            <a:pPr algn="l" indent="0" marL="0">
              <a:lnSpc>
                <a:spcPts val="1234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، ويُسمح بنماذج تعمل داخل الجهاز كلياً </a:t>
            </a:r>
            <a:pPr algn="l" indent="0" marL="0">
              <a:lnSpc>
                <a:spcPts val="1234"/>
              </a:lnSpc>
              <a:buNone/>
            </a:pPr>
            <a:r>
              <a:rPr lang="en-US" sz="800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لا تخرج أي بايت</a:t>
            </a:r>
            <a:pPr algn="l" indent="0" marL="0">
              <a:lnSpc>
                <a:spcPts val="1234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قرار موثق يحفظ مبدأ الخصوصية الجذري.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0772" y="1623529"/>
            <a:ext cx="4050506" cy="2780593"/>
          </a:xfrm>
          <a:prstGeom prst="roundRect">
            <a:avLst>
              <a:gd name="adj" fmla="val 5481"/>
            </a:avLst>
          </a:prstGeom>
          <a:solidFill>
            <a:srgbClr val="121A38"/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29273" y="1730471"/>
            <a:ext cx="535558" cy="204026"/>
          </a:xfrm>
          <a:prstGeom prst="roundRect">
            <a:avLst>
              <a:gd name="adj" fmla="val 4663854"/>
            </a:avLst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829273" y="1741401"/>
            <a:ext cx="53555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B10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مسار 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032075" y="1744080"/>
            <a:ext cx="907200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تعميق إحصائي</a:t>
            </a:r>
            <a:endParaRPr lang="en-US" sz="928" dirty="0"/>
          </a:p>
        </p:txBody>
      </p:sp>
      <p:sp>
        <p:nvSpPr>
          <p:cNvPr id="16" name="Text 14"/>
          <p:cNvSpPr/>
          <p:nvPr/>
        </p:nvSpPr>
        <p:spPr>
          <a:xfrm>
            <a:off x="584359" y="1739472"/>
            <a:ext cx="725827" cy="186023"/>
          </a:xfrm>
          <a:prstGeom prst="roundRect">
            <a:avLst>
              <a:gd name="adj" fmla="val 5115214"/>
            </a:avLst>
          </a:prstGeom>
          <a:solidFill>
            <a:srgbClr val="22D3EE">
              <a:alpha val="8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7219" y="1749437"/>
            <a:ext cx="6801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أساس مضمون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087788" y="2118202"/>
            <a:ext cx="277044" cy="186023"/>
          </a:xfrm>
          <a:prstGeom prst="roundRect">
            <a:avLst>
              <a:gd name="adj" fmla="val 40963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087788" y="2128168"/>
            <a:ext cx="27704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R16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791630" y="2113880"/>
            <a:ext cx="2260439" cy="214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1"/>
              </a:lnSpc>
              <a:buNone/>
            </a:pPr>
            <a:r>
              <a:rPr lang="en-US" sz="726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تنبؤ Holt-Winters متعدد الموسمية وتحسين مخزون مختلط</a:t>
            </a:r>
            <a:endParaRPr lang="en-US" sz="726" dirty="0"/>
          </a:p>
        </p:txBody>
      </p:sp>
      <p:sp>
        <p:nvSpPr>
          <p:cNvPr id="21" name="Text 19"/>
          <p:cNvSpPr/>
          <p:nvPr/>
        </p:nvSpPr>
        <p:spPr>
          <a:xfrm>
            <a:off x="4087788" y="2586453"/>
            <a:ext cx="277044" cy="186023"/>
          </a:xfrm>
          <a:prstGeom prst="roundRect">
            <a:avLst>
              <a:gd name="adj" fmla="val 40963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087788" y="2596418"/>
            <a:ext cx="27704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R17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48891" y="2582131"/>
            <a:ext cx="3103178" cy="214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1"/>
              </a:lnSpc>
              <a:buNone/>
            </a:pPr>
            <a:r>
              <a:rPr lang="en-US" sz="726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كشف شواذ متعدد المتغيرات (Isolation Forest محلي) على الفواتير والمصروفات</a:t>
            </a:r>
            <a:endParaRPr lang="en-US" sz="726" dirty="0"/>
          </a:p>
        </p:txBody>
      </p:sp>
      <p:sp>
        <p:nvSpPr>
          <p:cNvPr id="24" name="Text 22"/>
          <p:cNvSpPr/>
          <p:nvPr/>
        </p:nvSpPr>
        <p:spPr>
          <a:xfrm>
            <a:off x="4087788" y="3054703"/>
            <a:ext cx="277044" cy="186023"/>
          </a:xfrm>
          <a:prstGeom prst="roundRect">
            <a:avLst>
              <a:gd name="adj" fmla="val 40963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087788" y="3064669"/>
            <a:ext cx="27704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R18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66690" y="3050381"/>
            <a:ext cx="1889633" cy="214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1"/>
              </a:lnSpc>
              <a:buNone/>
            </a:pPr>
            <a:r>
              <a:rPr lang="en-US" sz="726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تسعير ديناميكي بمرونة متقاطعة وسقوف آمنة</a:t>
            </a:r>
            <a:endParaRPr lang="en-US" sz="726" dirty="0"/>
          </a:p>
        </p:txBody>
      </p:sp>
      <p:sp>
        <p:nvSpPr>
          <p:cNvPr id="27" name="Text 25"/>
          <p:cNvSpPr/>
          <p:nvPr/>
        </p:nvSpPr>
        <p:spPr>
          <a:xfrm>
            <a:off x="4087788" y="3522954"/>
            <a:ext cx="277044" cy="186023"/>
          </a:xfrm>
          <a:prstGeom prst="roundRect">
            <a:avLst>
              <a:gd name="adj" fmla="val 40963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087788" y="3532919"/>
            <a:ext cx="27704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R19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162659" y="3518632"/>
            <a:ext cx="2001987" cy="214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1"/>
              </a:lnSpc>
              <a:buNone/>
            </a:pPr>
            <a:r>
              <a:rPr lang="en-US" sz="726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محاكي سيناريوهات what-if (سعر/توريد/مصروف)</a:t>
            </a:r>
            <a:endParaRPr lang="en-US" sz="726" dirty="0"/>
          </a:p>
        </p:txBody>
      </p:sp>
      <p:sp>
        <p:nvSpPr>
          <p:cNvPr id="30" name="Text 28"/>
          <p:cNvSpPr/>
          <p:nvPr/>
        </p:nvSpPr>
        <p:spPr>
          <a:xfrm>
            <a:off x="4087788" y="3991204"/>
            <a:ext cx="277044" cy="186023"/>
          </a:xfrm>
          <a:prstGeom prst="roundRect">
            <a:avLst>
              <a:gd name="adj" fmla="val 40963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087788" y="4001170"/>
            <a:ext cx="27704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R20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137222" y="3986882"/>
            <a:ext cx="1030338" cy="214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1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درجة صحة </a:t>
            </a:r>
            <a:pPr algn="l" indent="0" marL="0">
              <a:lnSpc>
                <a:spcPts val="1161"/>
              </a:lnSpc>
              <a:buNone/>
            </a:pPr>
            <a:r>
              <a:rPr lang="en-US" sz="80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360</a:t>
            </a:r>
            <a:pPr algn="l" indent="0" marL="0">
              <a:lnSpc>
                <a:spcPts val="1161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موحدة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32722" y="1623529"/>
            <a:ext cx="4050506" cy="2780593"/>
          </a:xfrm>
          <a:prstGeom prst="roundRect">
            <a:avLst>
              <a:gd name="adj" fmla="val 5481"/>
            </a:avLst>
          </a:prstGeom>
          <a:solidFill>
            <a:srgbClr val="121A38"/>
          </a:solidFill>
          <a:ln w="7144">
            <a:solidFill>
              <a:srgbClr val="8B5CF6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001223" y="1730471"/>
            <a:ext cx="535558" cy="204026"/>
          </a:xfrm>
          <a:prstGeom prst="roundRect">
            <a:avLst>
              <a:gd name="adj" fmla="val 4663854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001223" y="1741401"/>
            <a:ext cx="53555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B10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مسار B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951650" y="1744080"/>
            <a:ext cx="1222670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SuperBiz Advisor</a:t>
            </a:r>
            <a:endParaRPr lang="en-US" sz="928" dirty="0"/>
          </a:p>
        </p:txBody>
      </p:sp>
      <p:sp>
        <p:nvSpPr>
          <p:cNvPr id="37" name="Text 35"/>
          <p:cNvSpPr/>
          <p:nvPr/>
        </p:nvSpPr>
        <p:spPr>
          <a:xfrm>
            <a:off x="4756309" y="1739472"/>
            <a:ext cx="874618" cy="186023"/>
          </a:xfrm>
          <a:prstGeom prst="roundRect">
            <a:avLst>
              <a:gd name="adj" fmla="val 5115214"/>
            </a:avLst>
          </a:prstGeom>
          <a:solidFill>
            <a:srgbClr val="8B5CF6">
              <a:alpha val="10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779169" y="1749437"/>
            <a:ext cx="82889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اختياري ميزة-بميزة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79169" y="1987860"/>
            <a:ext cx="3757613" cy="333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69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Gemma 4 E2B</a:t>
            </a:r>
            <a:pPr algn="l" indent="0" marL="0">
              <a:lnSpc>
                <a:spcPts val="1169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عبر MediaPipe LLM Inference على الأجهزة الواسعة، و</a:t>
            </a:r>
            <a:pPr algn="l" indent="0" marL="0">
              <a:lnSpc>
                <a:spcPts val="1169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Nano</a:t>
            </a:r>
            <a:pPr algn="l" indent="0" marL="0">
              <a:lnSpc>
                <a:spcPts val="1169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عبر AI Edge SDK على Android 16+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79169" y="2348843"/>
            <a:ext cx="3757613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اسأل بالعربية: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82741" y="2669977"/>
            <a:ext cx="3750469" cy="248803"/>
          </a:xfrm>
          <a:prstGeom prst="roundRect">
            <a:avLst>
              <a:gd name="adj" fmla="val 45940"/>
            </a:avLst>
          </a:prstGeom>
          <a:solidFill>
            <a:srgbClr val="1A2447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779169" y="2666405"/>
            <a:ext cx="3757613" cy="307137"/>
          </a:xfrm>
          <a:prstGeom prst="rect">
            <a:avLst/>
          </a:prstGeom>
          <a:noFill/>
          <a:ln/>
        </p:spPr>
        <p:txBody>
          <a:bodyPr wrap="square" lIns="92869" tIns="50006" rIns="92869" bIns="50006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«كيف مبيعاتي مقارنة بالشهر الماضي؟»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82741" y="3275298"/>
            <a:ext cx="3750469" cy="248803"/>
          </a:xfrm>
          <a:prstGeom prst="roundRect">
            <a:avLst>
              <a:gd name="adj" fmla="val 45940"/>
            </a:avLst>
          </a:prstGeom>
          <a:solidFill>
            <a:srgbClr val="1A2447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779169" y="3271726"/>
            <a:ext cx="3757613" cy="2559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16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«من أعملّي ذممه أولاً؟»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82741" y="3880619"/>
            <a:ext cx="3750469" cy="248803"/>
          </a:xfrm>
          <a:prstGeom prst="roundRect">
            <a:avLst>
              <a:gd name="adj" fmla="val 45940"/>
            </a:avLst>
          </a:prstGeom>
          <a:solidFill>
            <a:srgbClr val="1A2447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779169" y="3877047"/>
            <a:ext cx="3757613" cy="307137"/>
          </a:xfrm>
          <a:prstGeom prst="rect">
            <a:avLst/>
          </a:prstGeom>
          <a:noFill/>
          <a:ln/>
        </p:spPr>
        <p:txBody>
          <a:bodyPr wrap="square" lIns="92869" tIns="50006" rIns="92869" bIns="50006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«اكتب رسالة تحصيل مهذبة للعميل X»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60772" y="4511278"/>
            <a:ext cx="8222456" cy="314325"/>
          </a:xfrm>
          <a:prstGeom prst="roundRect">
            <a:avLst>
              <a:gd name="adj" fmla="val 42424"/>
            </a:avLst>
          </a:prstGeom>
          <a:solidFill>
            <a:srgbClr val="34D399">
              <a:alpha val="5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8393906" y="459700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49" name="Text 47"/>
          <p:cNvSpPr/>
          <p:nvPr/>
        </p:nvSpPr>
        <p:spPr>
          <a:xfrm>
            <a:off x="7780325" y="4593431"/>
            <a:ext cx="69553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حواجز الجودة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658881" y="4593431"/>
            <a:ext cx="7144" cy="150019"/>
          </a:xfrm>
          <a:prstGeom prst="rect">
            <a:avLst/>
          </a:prstGeom>
          <a:solidFill>
            <a:srgbClr val="97A3C4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278575" y="4599794"/>
            <a:ext cx="1367287" cy="143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1"/>
              </a:lnSpc>
              <a:buNone/>
            </a:pPr>
            <a:r>
              <a:rPr lang="en-US" sz="698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النموذج يقرأ تجميعات لا سجلات خام</a:t>
            </a:r>
            <a:endParaRPr lang="en-US" sz="698" dirty="0"/>
          </a:p>
        </p:txBody>
      </p:sp>
      <p:sp>
        <p:nvSpPr>
          <p:cNvPr id="52" name="Text 50"/>
          <p:cNvSpPr/>
          <p:nvPr/>
        </p:nvSpPr>
        <p:spPr>
          <a:xfrm>
            <a:off x="6157131" y="4593431"/>
            <a:ext cx="7144" cy="150019"/>
          </a:xfrm>
          <a:prstGeom prst="rect">
            <a:avLst/>
          </a:prstGeom>
          <a:solidFill>
            <a:srgbClr val="97A3C4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503813" y="4599794"/>
            <a:ext cx="631729" cy="14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1"/>
              </a:lnSpc>
              <a:buNone/>
            </a:pPr>
            <a:r>
              <a:rPr lang="en-US" sz="698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معطل افتراضياً</a:t>
            </a:r>
            <a:endParaRPr lang="en-US" sz="698" dirty="0"/>
          </a:p>
        </p:txBody>
      </p:sp>
      <p:sp>
        <p:nvSpPr>
          <p:cNvPr id="54" name="Text 52"/>
          <p:cNvSpPr/>
          <p:nvPr/>
        </p:nvSpPr>
        <p:spPr>
          <a:xfrm>
            <a:off x="5382369" y="4593431"/>
            <a:ext cx="7144" cy="150019"/>
          </a:xfrm>
          <a:prstGeom prst="rect">
            <a:avLst/>
          </a:prstGeom>
          <a:solidFill>
            <a:srgbClr val="97A3C4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097235" y="4596222"/>
            <a:ext cx="4227984" cy="14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1"/>
              </a:lnSpc>
              <a:buNone/>
            </a:pPr>
            <a:r>
              <a:rPr lang="en-US" sz="698" b="1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معايير قبول:</a:t>
            </a:r>
            <a:pPr algn="l" indent="0" marL="0">
              <a:lnSpc>
                <a:spcPts val="1081"/>
              </a:lnSpc>
              <a:buNone/>
            </a:pPr>
            <a:r>
              <a:rPr lang="en-US" sz="698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دقة تنبؤ </a:t>
            </a:r>
            <a:pPr algn="l" indent="0" marL="0">
              <a:lnSpc>
                <a:spcPts val="1081"/>
              </a:lnSpc>
              <a:buNone/>
            </a:pPr>
            <a:r>
              <a:rPr lang="en-US" sz="698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≥85%</a:t>
            </a:r>
            <a:pPr algn="l" indent="0" marL="0">
              <a:lnSpc>
                <a:spcPts val="1081"/>
              </a:lnSpc>
              <a:buNone/>
            </a:pPr>
            <a:r>
              <a:rPr lang="en-US" sz="698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على نوافذ 30 يوماً · استجابة المساعد </a:t>
            </a:r>
            <a:pPr algn="l" indent="0" marL="0">
              <a:lnSpc>
                <a:spcPts val="1081"/>
              </a:lnSpc>
              <a:buNone/>
            </a:pPr>
            <a:r>
              <a:rPr lang="en-US" sz="698" dirty="0">
                <a:solidFill>
                  <a:srgbClr val="E7E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&lt;3</a:t>
            </a:r>
            <a:pPr algn="l" indent="0" marL="0">
              <a:lnSpc>
                <a:spcPts val="1081"/>
              </a:lnSpc>
              <a:buNone/>
            </a:pPr>
            <a:r>
              <a:rPr lang="en-US" sz="698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ثوانٍ جهازياً · صفر طلبات شبكة مثبتة بالاختبارات</a:t>
            </a:r>
            <a:endParaRPr lang="en-US" sz="698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85875" y="-1857375"/>
            <a:ext cx="4000500" cy="4000500"/>
          </a:xfrm>
          <a:prstGeom prst="ellipse">
            <a:avLst/>
          </a:prstGeom>
          <a:solidFill>
            <a:srgbClr val="34D399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86625" y="3857625"/>
            <a:ext cx="3000375" cy="3000375"/>
          </a:xfrm>
          <a:prstGeom prst="ellipse">
            <a:avLst/>
          </a:prstGeom>
          <a:solidFill>
            <a:srgbClr val="8B5CF6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-639366" y="575072"/>
            <a:ext cx="2421731" cy="2421731"/>
          </a:xfrm>
          <a:prstGeom prst="ellipse">
            <a:avLst/>
          </a:prstGeom>
          <a:noFill/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-210741" y="1003697"/>
            <a:ext cx="1564481" cy="1564481"/>
          </a:xfrm>
          <a:prstGeom prst="ellipse">
            <a:avLst/>
          </a:prstGeom>
          <a:noFill/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43475" y="387406"/>
            <a:ext cx="1266185" cy="236030"/>
          </a:xfrm>
          <a:prstGeom prst="roundRect">
            <a:avLst>
              <a:gd name="adj" fmla="val 4031468"/>
            </a:avLst>
          </a:prstGeom>
          <a:solidFill>
            <a:srgbClr val="34D399">
              <a:alpha val="8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573491" y="450056"/>
            <a:ext cx="856134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العمود الرابع من أربعة</a:t>
            </a:r>
            <a:endParaRPr lang="en-US" sz="731" dirty="0"/>
          </a:p>
        </p:txBody>
      </p:sp>
      <p:sp>
        <p:nvSpPr>
          <p:cNvPr id="8" name="Text 6"/>
          <p:cNvSpPr/>
          <p:nvPr/>
        </p:nvSpPr>
        <p:spPr>
          <a:xfrm>
            <a:off x="8472488" y="451842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055" dirty="0"/>
          </a:p>
        </p:txBody>
      </p:sp>
      <p:sp>
        <p:nvSpPr>
          <p:cNvPr id="9" name="Text 7"/>
          <p:cNvSpPr/>
          <p:nvPr/>
        </p:nvSpPr>
        <p:spPr>
          <a:xfrm>
            <a:off x="3391049" y="710803"/>
            <a:ext cx="5560539" cy="456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64"/>
              </a:lnSpc>
              <a:buNone/>
            </a:pPr>
            <a:r>
              <a:rPr lang="en-US" sz="2588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العمود الرابع — </a:t>
            </a:r>
            <a:pPr algn="l" indent="0" marL="0">
              <a:lnSpc>
                <a:spcPts val="3364"/>
              </a:lnSpc>
              <a:buNone/>
            </a:pPr>
            <a:r>
              <a:rPr lang="en-US" sz="2588" b="1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المؤسسات</a:t>
            </a:r>
            <a:endParaRPr lang="en-US" sz="2588" dirty="0"/>
          </a:p>
        </p:txBody>
      </p:sp>
      <p:sp>
        <p:nvSpPr>
          <p:cNvPr id="10" name="Text 8"/>
          <p:cNvSpPr/>
          <p:nvPr/>
        </p:nvSpPr>
        <p:spPr>
          <a:xfrm>
            <a:off x="3391049" y="1195127"/>
            <a:ext cx="5295751" cy="222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6"/>
              </a:lnSpc>
              <a:buNone/>
            </a:pPr>
            <a:r>
              <a:rPr lang="en-US" sz="956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من تطبيق نشاط واحد إلى منصة أعمال متعددة الفروع — فتح شريحة السوق </a:t>
            </a:r>
            <a:pPr algn="l" indent="0" marL="0">
              <a:lnSpc>
                <a:spcPts val="1626"/>
              </a:lnSpc>
              <a:buNone/>
            </a:pPr>
            <a:r>
              <a:rPr lang="en-US" sz="956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الأعلى قيمة والأعمق احتفاظاً</a:t>
            </a:r>
            <a:pPr algn="l" indent="0" marL="0">
              <a:lnSpc>
                <a:spcPts val="1626"/>
              </a:lnSpc>
              <a:buNone/>
            </a:pPr>
            <a:r>
              <a:rPr lang="en-US" sz="956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152073" y="428625"/>
            <a:ext cx="1627346" cy="869778"/>
          </a:xfrm>
          <a:prstGeom prst="rect">
            <a:avLst/>
          </a:prstGeom>
          <a:noFill/>
          <a:ln/>
          <a:effectLst>
            <a:outerShdw sx="100000" sy="100000" kx="0" ky="0" algn="bl" rotWithShape="0" blurRad="571500" dist="50800" dir="16200000">
              <a:srgbClr val="34D399">
                <a:alpha val="35000"/>
              </a:srgbClr>
            </a:outerShdw>
          </a:effectLst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6840"/>
              </a:lnSpc>
              <a:buNone/>
            </a:pPr>
            <a:r>
              <a:rPr lang="en-US" sz="7200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152073" y="1325835"/>
            <a:ext cx="1627346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spc="281" kern="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04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625578" y="1686595"/>
            <a:ext cx="4057650" cy="1160301"/>
          </a:xfrm>
          <a:prstGeom prst="roundRect">
            <a:avLst>
              <a:gd name="adj" fmla="val 11493"/>
            </a:avLst>
          </a:prstGeom>
          <a:solidFill>
            <a:srgbClr val="121A38"/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83178" y="1800895"/>
            <a:ext cx="264319" cy="264319"/>
          </a:xfrm>
          <a:prstGeom prst="roundRect">
            <a:avLst>
              <a:gd name="adj" fmla="val 39640"/>
            </a:avLst>
          </a:prstGeom>
          <a:solidFill>
            <a:srgbClr val="34D399">
              <a:alpha val="12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06574" y="1824291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477" dirty="0"/>
          </a:p>
        </p:txBody>
      </p:sp>
      <p:sp>
        <p:nvSpPr>
          <p:cNvPr id="16" name="Text 14"/>
          <p:cNvSpPr/>
          <p:nvPr/>
        </p:nvSpPr>
        <p:spPr>
          <a:xfrm>
            <a:off x="7119082" y="1797323"/>
            <a:ext cx="1251293" cy="18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تعدد الفروع والمخازن</a:t>
            </a:r>
            <a:endParaRPr lang="en-US" sz="956" dirty="0"/>
          </a:p>
        </p:txBody>
      </p:sp>
      <p:sp>
        <p:nvSpPr>
          <p:cNvPr id="17" name="Text 15"/>
          <p:cNvSpPr/>
          <p:nvPr/>
        </p:nvSpPr>
        <p:spPr>
          <a:xfrm>
            <a:off x="7119082" y="2008063"/>
            <a:ext cx="1174421" cy="18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مع تقارير فرعية وموحدة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7738" y="1797323"/>
            <a:ext cx="23149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4D399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0772" y="1686595"/>
            <a:ext cx="4057650" cy="1160301"/>
          </a:xfrm>
          <a:prstGeom prst="roundRect">
            <a:avLst>
              <a:gd name="adj" fmla="val 11493"/>
            </a:avLst>
          </a:prstGeom>
          <a:solidFill>
            <a:srgbClr val="121A38"/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118372" y="1800895"/>
            <a:ext cx="264319" cy="264319"/>
          </a:xfrm>
          <a:prstGeom prst="roundRect">
            <a:avLst>
              <a:gd name="adj" fmla="val 39640"/>
            </a:avLst>
          </a:prstGeom>
          <a:solidFill>
            <a:srgbClr val="34D399">
              <a:alpha val="12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141768" y="1824291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77" dirty="0"/>
          </a:p>
        </p:txBody>
      </p:sp>
      <p:sp>
        <p:nvSpPr>
          <p:cNvPr id="22" name="Text 20"/>
          <p:cNvSpPr/>
          <p:nvPr/>
        </p:nvSpPr>
        <p:spPr>
          <a:xfrm>
            <a:off x="2867769" y="1797323"/>
            <a:ext cx="1352678" cy="18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أدوار وصلاحيات RBAC</a:t>
            </a:r>
            <a:endParaRPr lang="en-US" sz="956" dirty="0"/>
          </a:p>
        </p:txBody>
      </p:sp>
      <p:sp>
        <p:nvSpPr>
          <p:cNvPr id="23" name="Text 21"/>
          <p:cNvSpPr/>
          <p:nvPr/>
        </p:nvSpPr>
        <p:spPr>
          <a:xfrm>
            <a:off x="2867769" y="2008063"/>
            <a:ext cx="1352678" cy="18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مع تدقيق عمليات كامل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92931" y="1797323"/>
            <a:ext cx="22284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4D399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25578" y="2954052"/>
            <a:ext cx="4057650" cy="1160301"/>
          </a:xfrm>
          <a:prstGeom prst="roundRect">
            <a:avLst>
              <a:gd name="adj" fmla="val 11493"/>
            </a:avLst>
          </a:prstGeom>
          <a:solidFill>
            <a:srgbClr val="121A38"/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283178" y="3068352"/>
            <a:ext cx="264319" cy="264319"/>
          </a:xfrm>
          <a:prstGeom prst="roundRect">
            <a:avLst>
              <a:gd name="adj" fmla="val 39640"/>
            </a:avLst>
          </a:prstGeom>
          <a:solidFill>
            <a:srgbClr val="34D399">
              <a:alpha val="12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306574" y="3091748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77" dirty="0"/>
          </a:p>
        </p:txBody>
      </p:sp>
      <p:sp>
        <p:nvSpPr>
          <p:cNvPr id="28" name="Text 26"/>
          <p:cNvSpPr/>
          <p:nvPr/>
        </p:nvSpPr>
        <p:spPr>
          <a:xfrm>
            <a:off x="6933344" y="3064780"/>
            <a:ext cx="1468977" cy="18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محاسبة موسعة</a:t>
            </a:r>
            <a:endParaRPr lang="en-US" sz="956" dirty="0"/>
          </a:p>
        </p:txBody>
      </p:sp>
      <p:sp>
        <p:nvSpPr>
          <p:cNvPr id="29" name="Text 27"/>
          <p:cNvSpPr/>
          <p:nvPr/>
        </p:nvSpPr>
        <p:spPr>
          <a:xfrm>
            <a:off x="6933344" y="3275521"/>
            <a:ext cx="1353665" cy="18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731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مراكز تكلفة وفترات مالية وإقفال</a:t>
            </a:r>
            <a:endParaRPr lang="en-US" sz="731" dirty="0"/>
          </a:p>
        </p:txBody>
      </p:sp>
      <p:sp>
        <p:nvSpPr>
          <p:cNvPr id="30" name="Text 28"/>
          <p:cNvSpPr/>
          <p:nvPr/>
        </p:nvSpPr>
        <p:spPr>
          <a:xfrm>
            <a:off x="4757738" y="3064780"/>
            <a:ext cx="212917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4D399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0772" y="2954052"/>
            <a:ext cx="4057650" cy="1160301"/>
          </a:xfrm>
          <a:prstGeom prst="roundRect">
            <a:avLst>
              <a:gd name="adj" fmla="val 11493"/>
            </a:avLst>
          </a:prstGeom>
          <a:solidFill>
            <a:srgbClr val="121A38"/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118372" y="3068352"/>
            <a:ext cx="264319" cy="264319"/>
          </a:xfrm>
          <a:prstGeom prst="roundRect">
            <a:avLst>
              <a:gd name="adj" fmla="val 39640"/>
            </a:avLst>
          </a:prstGeom>
          <a:solidFill>
            <a:srgbClr val="34D399">
              <a:alpha val="12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141768" y="3091748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477" dirty="0"/>
          </a:p>
        </p:txBody>
      </p:sp>
      <p:sp>
        <p:nvSpPr>
          <p:cNvPr id="34" name="Text 32"/>
          <p:cNvSpPr/>
          <p:nvPr/>
        </p:nvSpPr>
        <p:spPr>
          <a:xfrm>
            <a:off x="2538599" y="3064780"/>
            <a:ext cx="1557499" cy="18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مزامنة اختيارية</a:t>
            </a:r>
            <a:endParaRPr lang="en-US" sz="956" dirty="0"/>
          </a:p>
        </p:txBody>
      </p:sp>
      <p:sp>
        <p:nvSpPr>
          <p:cNvPr id="35" name="Text 33"/>
          <p:cNvSpPr/>
          <p:nvPr/>
        </p:nvSpPr>
        <p:spPr>
          <a:xfrm>
            <a:off x="2538599" y="3275521"/>
            <a:ext cx="1601999" cy="18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731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بين أجهزة النشاط الواحد (المؤجل S1)</a:t>
            </a:r>
            <a:endParaRPr lang="en-US" sz="731" dirty="0"/>
          </a:p>
        </p:txBody>
      </p:sp>
      <p:sp>
        <p:nvSpPr>
          <p:cNvPr id="36" name="Text 34"/>
          <p:cNvSpPr/>
          <p:nvPr/>
        </p:nvSpPr>
        <p:spPr>
          <a:xfrm>
            <a:off x="592931" y="3064780"/>
            <a:ext cx="18992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4D399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0772" y="4235797"/>
            <a:ext cx="8222456" cy="546943"/>
          </a:xfrm>
          <a:prstGeom prst="roundRect">
            <a:avLst>
              <a:gd name="adj" fmla="val 24381"/>
            </a:avLst>
          </a:prstGeom>
          <a:solidFill>
            <a:srgbClr val="34D399">
              <a:alpha val="5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351044" y="4416400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39" name="Text 37"/>
          <p:cNvSpPr/>
          <p:nvPr/>
        </p:nvSpPr>
        <p:spPr>
          <a:xfrm>
            <a:off x="607219" y="4346525"/>
            <a:ext cx="7690247" cy="325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1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أساس صلب:</a:t>
            </a:r>
            <a:pPr algn="l" indent="0" marL="0">
              <a:lnSpc>
                <a:spcPts val="1281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التصميمان التاريخيان S1 (أعلام اتساخ + PendingOp + SyncBackend محايد) وS2 (BranchEntity + مصفوفة أدوار) محفوظان في ROADMAP منذ البداية — هذه الموجة تنفذهما على مخطط v12 الناضج </a:t>
            </a:r>
            <a:pPr algn="l" indent="0" marL="0">
              <a:lnSpc>
                <a:spcPts val="1281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لا من الصفر</a:t>
            </a:r>
            <a:pPr algn="l" indent="0" marL="0">
              <a:lnSpc>
                <a:spcPts val="1281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2313" y="-1571625"/>
            <a:ext cx="3286125" cy="3286125"/>
          </a:xfrm>
          <a:prstGeom prst="ellipse">
            <a:avLst/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1071562" y="4000500"/>
            <a:ext cx="2714625" cy="2714625"/>
          </a:xfrm>
          <a:prstGeom prst="ellipse">
            <a:avLst/>
          </a:prstGeom>
          <a:solidFill>
            <a:srgbClr val="8B5CF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0400" y="332184"/>
            <a:ext cx="1372828" cy="203597"/>
          </a:xfrm>
          <a:prstGeom prst="roundRect">
            <a:avLst>
              <a:gd name="adj" fmla="val 4673681"/>
            </a:avLst>
          </a:prstGeom>
          <a:solidFill>
            <a:srgbClr val="34D399">
              <a:alpha val="8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13985" y="378619"/>
            <a:ext cx="1272815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العمود الرابع · المؤسسات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72488" y="380405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055" dirty="0"/>
          </a:p>
        </p:txBody>
      </p:sp>
      <p:sp>
        <p:nvSpPr>
          <p:cNvPr id="7" name="Text 5"/>
          <p:cNvSpPr/>
          <p:nvPr/>
        </p:nvSpPr>
        <p:spPr>
          <a:xfrm>
            <a:off x="457200" y="375047"/>
            <a:ext cx="68353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97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 EXECUTION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610791"/>
            <a:ext cx="8636000" cy="33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744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المؤسسات — التنفيذ التفصيلي </a:t>
            </a:r>
            <a:pPr algn="l" indent="0" marL="0">
              <a:lnSpc>
                <a:spcPts val="2441"/>
              </a:lnSpc>
              <a:buNone/>
            </a:pPr>
            <a:r>
              <a:rPr lang="en-US" sz="1744" b="1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و</a:t>
            </a:r>
            <a:pPr algn="l" indent="0" marL="0">
              <a:lnSpc>
                <a:spcPts val="2441"/>
              </a:lnSpc>
              <a:buNone/>
            </a:pPr>
            <a:r>
              <a:rPr lang="en-US" sz="1744" b="1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معايير القبول</a:t>
            </a:r>
            <a:endParaRPr lang="en-US" sz="1744" dirty="0"/>
          </a:p>
        </p:txBody>
      </p:sp>
      <p:sp>
        <p:nvSpPr>
          <p:cNvPr id="9" name="Text 7"/>
          <p:cNvSpPr/>
          <p:nvPr/>
        </p:nvSpPr>
        <p:spPr>
          <a:xfrm>
            <a:off x="460772" y="1024347"/>
            <a:ext cx="8222456" cy="604428"/>
          </a:xfrm>
          <a:prstGeom prst="roundRect">
            <a:avLst>
              <a:gd name="adj" fmla="val 20486"/>
            </a:avLst>
          </a:prstGeom>
          <a:solidFill>
            <a:srgbClr val="121A38"/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53889" y="1246138"/>
            <a:ext cx="29718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44" dirty="0"/>
          </a:p>
        </p:txBody>
      </p:sp>
      <p:sp>
        <p:nvSpPr>
          <p:cNvPr id="11" name="Text 9"/>
          <p:cNvSpPr/>
          <p:nvPr/>
        </p:nvSpPr>
        <p:spPr>
          <a:xfrm>
            <a:off x="7997428" y="1201489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34D399">
              <a:alpha val="10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18859" y="1222921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406" dirty="0"/>
          </a:p>
        </p:txBody>
      </p:sp>
      <p:sp>
        <p:nvSpPr>
          <p:cNvPr id="13" name="Text 11"/>
          <p:cNvSpPr/>
          <p:nvPr/>
        </p:nvSpPr>
        <p:spPr>
          <a:xfrm>
            <a:off x="6650831" y="1251831"/>
            <a:ext cx="1535906" cy="161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72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تعدد الفروع</a:t>
            </a:r>
            <a:endParaRPr lang="en-US" sz="872" dirty="0"/>
          </a:p>
        </p:txBody>
      </p:sp>
      <p:sp>
        <p:nvSpPr>
          <p:cNvPr id="14" name="Text 12"/>
          <p:cNvSpPr/>
          <p:nvPr/>
        </p:nvSpPr>
        <p:spPr>
          <a:xfrm>
            <a:off x="592931" y="1182960"/>
            <a:ext cx="6000750" cy="355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BranchEntity + ربط الفواتير والمخزون والذمم بالفرع + تقارير فرعية وموحدة ذرّية — ترحيل </a:t>
            </a:r>
            <a:pPr algn="l" indent="0" marL="0">
              <a:lnSpc>
                <a:spcPts val="1130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12→13</a:t>
            </a:r>
            <a:pPr algn="l" indent="0" marL="0">
              <a:lnSpc>
                <a:spcPts val="1130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بإنشاء جدول واحد وعمودَي فرع ببذرة افتراضية «الفرع الرئيسي» (كل البيانات الحالية تسقط فيه تلقائياً — بلا فقد).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0772" y="1700213"/>
            <a:ext cx="8222456" cy="604540"/>
          </a:xfrm>
          <a:prstGeom prst="roundRect">
            <a:avLst>
              <a:gd name="adj" fmla="val 20483"/>
            </a:avLst>
          </a:prstGeom>
          <a:solidFill>
            <a:srgbClr val="121A38"/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53889" y="1922115"/>
            <a:ext cx="29718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44" dirty="0"/>
          </a:p>
        </p:txBody>
      </p:sp>
      <p:sp>
        <p:nvSpPr>
          <p:cNvPr id="17" name="Text 15"/>
          <p:cNvSpPr/>
          <p:nvPr/>
        </p:nvSpPr>
        <p:spPr>
          <a:xfrm>
            <a:off x="7997428" y="1877467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34D399">
              <a:alpha val="10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18859" y="1898898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9" name="Text 17"/>
          <p:cNvSpPr/>
          <p:nvPr/>
        </p:nvSpPr>
        <p:spPr>
          <a:xfrm>
            <a:off x="6650831" y="1927696"/>
            <a:ext cx="1900237" cy="161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72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RBAC</a:t>
            </a:r>
            <a:endParaRPr lang="en-US" sz="872" dirty="0"/>
          </a:p>
        </p:txBody>
      </p:sp>
      <p:sp>
        <p:nvSpPr>
          <p:cNvPr id="20" name="Text 18"/>
          <p:cNvSpPr/>
          <p:nvPr/>
        </p:nvSpPr>
        <p:spPr>
          <a:xfrm>
            <a:off x="592931" y="1858938"/>
            <a:ext cx="6000750" cy="355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أدوار مدير/محاسب/كاشير بمصفوفة صلبة domain/Roles.kt + بوابات تنقل وشاشات + توسيع AuditLog الموجود لتغطية كل عملية حساسة + إعادة مصادقة للأفعال الحرجة (النمط القائم).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0772" y="2376190"/>
            <a:ext cx="8222456" cy="604540"/>
          </a:xfrm>
          <a:prstGeom prst="roundRect">
            <a:avLst>
              <a:gd name="adj" fmla="val 20483"/>
            </a:avLst>
          </a:prstGeom>
          <a:solidFill>
            <a:srgbClr val="121A38"/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53889" y="2598093"/>
            <a:ext cx="29718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44" dirty="0"/>
          </a:p>
        </p:txBody>
      </p:sp>
      <p:sp>
        <p:nvSpPr>
          <p:cNvPr id="23" name="Text 21"/>
          <p:cNvSpPr/>
          <p:nvPr/>
        </p:nvSpPr>
        <p:spPr>
          <a:xfrm>
            <a:off x="7997428" y="2553444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34D399">
              <a:alpha val="10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018859" y="2574875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25" name="Text 23"/>
          <p:cNvSpPr/>
          <p:nvPr/>
        </p:nvSpPr>
        <p:spPr>
          <a:xfrm>
            <a:off x="6650831" y="2603674"/>
            <a:ext cx="1535906" cy="161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72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محاسبة موسعة</a:t>
            </a:r>
            <a:endParaRPr lang="en-US" sz="872" dirty="0"/>
          </a:p>
        </p:txBody>
      </p:sp>
      <p:sp>
        <p:nvSpPr>
          <p:cNvPr id="26" name="Text 24"/>
          <p:cNvSpPr/>
          <p:nvPr/>
        </p:nvSpPr>
        <p:spPr>
          <a:xfrm>
            <a:off x="748643" y="2606687"/>
            <a:ext cx="5845039" cy="17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698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مراكز تكلفة على سطور القيد، فترات مالية مع إقفال ومنع التعداد الرجعي، ميزان عمومي متعدد الفترات — القيد المزدوج بمساواة تامة (P33) يدعمها بلا تغيير جوهري.</a:t>
            </a:r>
            <a:endParaRPr lang="en-US" sz="698" dirty="0"/>
          </a:p>
        </p:txBody>
      </p:sp>
      <p:sp>
        <p:nvSpPr>
          <p:cNvPr id="27" name="Text 25"/>
          <p:cNvSpPr/>
          <p:nvPr/>
        </p:nvSpPr>
        <p:spPr>
          <a:xfrm>
            <a:off x="460772" y="3052167"/>
            <a:ext cx="8222456" cy="604540"/>
          </a:xfrm>
          <a:prstGeom prst="roundRect">
            <a:avLst>
              <a:gd name="adj" fmla="val 20483"/>
            </a:avLst>
          </a:prstGeom>
          <a:solidFill>
            <a:srgbClr val="121A38"/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253889" y="3274070"/>
            <a:ext cx="29718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44" dirty="0"/>
          </a:p>
        </p:txBody>
      </p:sp>
      <p:sp>
        <p:nvSpPr>
          <p:cNvPr id="29" name="Text 27"/>
          <p:cNvSpPr/>
          <p:nvPr/>
        </p:nvSpPr>
        <p:spPr>
          <a:xfrm>
            <a:off x="7997428" y="3229421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34D399">
              <a:alpha val="10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018859" y="325085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406" dirty="0"/>
          </a:p>
        </p:txBody>
      </p:sp>
      <p:sp>
        <p:nvSpPr>
          <p:cNvPr id="31" name="Text 29"/>
          <p:cNvSpPr/>
          <p:nvPr/>
        </p:nvSpPr>
        <p:spPr>
          <a:xfrm>
            <a:off x="6650831" y="3279651"/>
            <a:ext cx="1535906" cy="161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72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المزامنة S1 كقرار منتج</a:t>
            </a:r>
            <a:endParaRPr lang="en-US" sz="872" dirty="0"/>
          </a:p>
        </p:txBody>
      </p:sp>
      <p:sp>
        <p:nvSpPr>
          <p:cNvPr id="32" name="Text 30"/>
          <p:cNvSpPr/>
          <p:nvPr/>
        </p:nvSpPr>
        <p:spPr>
          <a:xfrm>
            <a:off x="653095" y="3282665"/>
            <a:ext cx="5940586" cy="17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698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تعمل بين أجهزة نشاط واحد فقط، خادم اختياري (ذاتي أو Supabase) عبر واجهة SyncBackend المحايدة، حل تعارض LWW بمال idempotent — معطل افتراضياً تماماً.</a:t>
            </a:r>
            <a:endParaRPr lang="en-US" sz="698" dirty="0"/>
          </a:p>
        </p:txBody>
      </p:sp>
      <p:sp>
        <p:nvSpPr>
          <p:cNvPr id="33" name="Text 31"/>
          <p:cNvSpPr/>
          <p:nvPr/>
        </p:nvSpPr>
        <p:spPr>
          <a:xfrm>
            <a:off x="460772" y="3728145"/>
            <a:ext cx="8222456" cy="604540"/>
          </a:xfrm>
          <a:prstGeom prst="roundRect">
            <a:avLst>
              <a:gd name="adj" fmla="val 20483"/>
            </a:avLst>
          </a:prstGeom>
          <a:solidFill>
            <a:srgbClr val="121A38"/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253889" y="3950047"/>
            <a:ext cx="29718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44" dirty="0"/>
          </a:p>
        </p:txBody>
      </p:sp>
      <p:sp>
        <p:nvSpPr>
          <p:cNvPr id="35" name="Text 33"/>
          <p:cNvSpPr/>
          <p:nvPr/>
        </p:nvSpPr>
        <p:spPr>
          <a:xfrm>
            <a:off x="7997428" y="3905399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34D399">
              <a:alpha val="10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018859" y="3926830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37" name="Text 35"/>
          <p:cNvSpPr/>
          <p:nvPr/>
        </p:nvSpPr>
        <p:spPr>
          <a:xfrm>
            <a:off x="6650831" y="3955628"/>
            <a:ext cx="1535906" cy="161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72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أمان مؤسسي</a:t>
            </a:r>
            <a:endParaRPr lang="en-US" sz="872" dirty="0"/>
          </a:p>
        </p:txBody>
      </p:sp>
      <p:sp>
        <p:nvSpPr>
          <p:cNvPr id="38" name="Text 36"/>
          <p:cNvSpPr/>
          <p:nvPr/>
        </p:nvSpPr>
        <p:spPr>
          <a:xfrm>
            <a:off x="4418186" y="3958642"/>
            <a:ext cx="2175495" cy="17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698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تقييم SQLCipher للتشفير عند الراحة + تصدير سجل تدقيق.</a:t>
            </a:r>
            <a:endParaRPr lang="en-US" sz="698" dirty="0"/>
          </a:p>
        </p:txBody>
      </p:sp>
      <p:sp>
        <p:nvSpPr>
          <p:cNvPr id="39" name="Text 37"/>
          <p:cNvSpPr/>
          <p:nvPr/>
        </p:nvSpPr>
        <p:spPr>
          <a:xfrm>
            <a:off x="460772" y="4432697"/>
            <a:ext cx="8222456" cy="392906"/>
          </a:xfrm>
          <a:prstGeom prst="roundRect">
            <a:avLst>
              <a:gd name="adj" fmla="val 33939"/>
            </a:avLst>
          </a:prstGeom>
          <a:solidFill>
            <a:srgbClr val="34D399">
              <a:alpha val="6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393906" y="455771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41" name="Text 39"/>
          <p:cNvSpPr/>
          <p:nvPr/>
        </p:nvSpPr>
        <p:spPr>
          <a:xfrm>
            <a:off x="7777869" y="4554141"/>
            <a:ext cx="7165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معايير القبول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694600" y="4521994"/>
            <a:ext cx="7144" cy="214313"/>
          </a:xfrm>
          <a:prstGeom prst="rect">
            <a:avLst/>
          </a:prstGeom>
          <a:solidFill>
            <a:srgbClr val="34D399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342645" y="4577581"/>
            <a:ext cx="1251942" cy="124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8"/>
              </a:lnSpc>
              <a:buNone/>
            </a:pPr>
            <a:r>
              <a:rPr lang="en-US" sz="69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مصفوفة الأدوار مغطاة اختبارات</a:t>
            </a:r>
            <a:endParaRPr lang="en-US" sz="692" dirty="0"/>
          </a:p>
        </p:txBody>
      </p:sp>
      <p:sp>
        <p:nvSpPr>
          <p:cNvPr id="44" name="Text 42"/>
          <p:cNvSpPr/>
          <p:nvPr/>
        </p:nvSpPr>
        <p:spPr>
          <a:xfrm>
            <a:off x="7487431" y="4575572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45" name="Text 43"/>
          <p:cNvSpPr/>
          <p:nvPr/>
        </p:nvSpPr>
        <p:spPr>
          <a:xfrm>
            <a:off x="6088149" y="4563294"/>
            <a:ext cx="1377851" cy="164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8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095601" y="4577581"/>
            <a:ext cx="1928254" cy="124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8"/>
              </a:lnSpc>
              <a:buNone/>
            </a:pPr>
            <a:r>
              <a:rPr lang="en-US" sz="69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المزامنة تعيد بناء الحالة بدقة على محاكي جهازين</a:t>
            </a:r>
            <a:endParaRPr lang="en-US" sz="692" dirty="0"/>
          </a:p>
        </p:txBody>
      </p:sp>
      <p:sp>
        <p:nvSpPr>
          <p:cNvPr id="47" name="Text 45"/>
          <p:cNvSpPr/>
          <p:nvPr/>
        </p:nvSpPr>
        <p:spPr>
          <a:xfrm>
            <a:off x="5852406" y="4575572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48" name="Text 46"/>
          <p:cNvSpPr/>
          <p:nvPr/>
        </p:nvSpPr>
        <p:spPr>
          <a:xfrm>
            <a:off x="2240347" y="4577581"/>
            <a:ext cx="1790960" cy="124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8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نظيف بعد الترحيل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859857" y="4575572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50" name="Text 48"/>
          <p:cNvSpPr/>
          <p:nvPr/>
        </p:nvSpPr>
        <p:spPr>
          <a:xfrm>
            <a:off x="2917887" y="4563294"/>
            <a:ext cx="1053754" cy="164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8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foreign_key_check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5125" y="-1857375"/>
            <a:ext cx="3714750" cy="3714750"/>
          </a:xfrm>
          <a:prstGeom prst="ellipse">
            <a:avLst/>
          </a:prstGeom>
          <a:solidFill>
            <a:srgbClr val="8B5CF6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1143000" y="3857625"/>
            <a:ext cx="3000375" cy="3000375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09830" y="346472"/>
            <a:ext cx="1501973" cy="203597"/>
          </a:xfrm>
          <a:prstGeom prst="roundRect">
            <a:avLst>
              <a:gd name="adj" fmla="val 4673681"/>
            </a:avLst>
          </a:prstGeom>
          <a:solidFill>
            <a:srgbClr val="8B5CF6">
              <a:alpha val="8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3414" y="392906"/>
            <a:ext cx="1401961" cy="126609"/>
          </a:xfrm>
          <a:prstGeom prst="rect">
            <a:avLst/>
          </a:prstGeom>
          <a:noFill/>
          <a:ln/>
        </p:spPr>
        <p:txBody>
          <a:bodyPr wrap="none" lIns="100013" tIns="28575" rIns="100013" bIns="28575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الخارطة الكاملة · 2026–2028</a:t>
            </a:r>
            <a:endParaRPr lang="en-US" sz="731" dirty="0"/>
          </a:p>
        </p:txBody>
      </p:sp>
      <p:sp>
        <p:nvSpPr>
          <p:cNvPr id="6" name="Text 4"/>
          <p:cNvSpPr/>
          <p:nvPr/>
        </p:nvSpPr>
        <p:spPr>
          <a:xfrm>
            <a:off x="8501063" y="394692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055" dirty="0"/>
          </a:p>
        </p:txBody>
      </p:sp>
      <p:sp>
        <p:nvSpPr>
          <p:cNvPr id="7" name="Text 5"/>
          <p:cNvSpPr/>
          <p:nvPr/>
        </p:nvSpPr>
        <p:spPr>
          <a:xfrm>
            <a:off x="428625" y="389334"/>
            <a:ext cx="67633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 MONTHS · 5 WAVES · 8 QUARTERS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28625" y="625078"/>
            <a:ext cx="8636000" cy="34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الخط الزمني — </a:t>
            </a:r>
            <a:pPr algn="l" indent="0" marL="0">
              <a:lnSpc>
                <a:spcPts val="2520"/>
              </a:lnSpc>
              <a:buNone/>
            </a:pPr>
            <a:r>
              <a:rPr lang="en-US" sz="1575" b="1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شهراً · </a:t>
            </a:r>
            <a:pPr algn="l" indent="0" marL="0">
              <a:lnSpc>
                <a:spcPts val="2520"/>
              </a:lnSpc>
              <a:buNone/>
            </a:pPr>
            <a:r>
              <a:rPr lang="en-US" sz="1575" b="1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موجات ·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إصدار موسوم عند كل بوابة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51081" y="1060289"/>
            <a:ext cx="64294" cy="64294"/>
          </a:xfrm>
          <a:prstGeom prst="roundRect">
            <a:avLst>
              <a:gd name="adj" fmla="val 66666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56711" y="1030821"/>
            <a:ext cx="69832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النشر والربح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963830" y="1060289"/>
            <a:ext cx="64294" cy="64294"/>
          </a:xfrm>
          <a:prstGeom prst="roundRect">
            <a:avLst>
              <a:gd name="adj" fmla="val 66666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326585" y="1030821"/>
            <a:ext cx="8769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الامتثال والتكامل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133704" y="1060289"/>
            <a:ext cx="64294" cy="64294"/>
          </a:xfrm>
          <a:prstGeom prst="roundRect">
            <a:avLst>
              <a:gd name="adj" fmla="val 66666"/>
            </a:avLst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03616" y="1030821"/>
            <a:ext cx="7429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الذكاء المحلي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10734" y="1060289"/>
            <a:ext cx="64294" cy="64294"/>
          </a:xfrm>
          <a:prstGeom prst="roundRect">
            <a:avLst>
              <a:gd name="adj" fmla="val 66666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967822" y="1030821"/>
            <a:ext cx="7253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المؤسسات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74941" y="1060289"/>
            <a:ext cx="64294" cy="64294"/>
          </a:xfrm>
          <a:prstGeom prst="roundRect">
            <a:avLst>
              <a:gd name="adj" fmla="val 66666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60616" y="1030821"/>
            <a:ext cx="541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العالمية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728332" y="1935800"/>
            <a:ext cx="974184" cy="180023"/>
          </a:xfrm>
          <a:prstGeom prst="roundRect">
            <a:avLst>
              <a:gd name="adj" fmla="val 5285700"/>
            </a:avLst>
          </a:prstGeom>
          <a:solidFill>
            <a:srgbClr val="FBBF24">
              <a:alpha val="10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481937" y="1945444"/>
            <a:ext cx="1466974" cy="183309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ش1-3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51192" y="2156185"/>
            <a:ext cx="928464" cy="1071563"/>
          </a:xfrm>
          <a:prstGeom prst="roundRect">
            <a:avLst>
              <a:gd name="adj" fmla="val 12311"/>
            </a:avLst>
          </a:prstGeom>
          <a:solidFill>
            <a:srgbClr val="12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7751192" y="2166900"/>
            <a:ext cx="928464" cy="0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76084" y="2156185"/>
            <a:ext cx="0" cy="1071563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51192" y="3224175"/>
            <a:ext cx="928464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54764" y="2156185"/>
            <a:ext cx="0" cy="1071563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04816" y="2534580"/>
            <a:ext cx="421327" cy="1743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v2.0</a:t>
            </a:r>
            <a:endParaRPr lang="en-US" sz="872" dirty="0"/>
          </a:p>
        </p:txBody>
      </p:sp>
      <p:sp>
        <p:nvSpPr>
          <p:cNvPr id="27" name="Text 25"/>
          <p:cNvSpPr/>
          <p:nvPr/>
        </p:nvSpPr>
        <p:spPr>
          <a:xfrm>
            <a:off x="7892289" y="2736391"/>
            <a:ext cx="646381" cy="16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الإطلاق التجاري</a:t>
            </a:r>
            <a:endParaRPr lang="en-US" sz="647" dirty="0"/>
          </a:p>
        </p:txBody>
      </p:sp>
      <p:sp>
        <p:nvSpPr>
          <p:cNvPr id="28" name="Text 26"/>
          <p:cNvSpPr/>
          <p:nvPr/>
        </p:nvSpPr>
        <p:spPr>
          <a:xfrm>
            <a:off x="7715473" y="3318830"/>
            <a:ext cx="999902" cy="17859"/>
          </a:xfrm>
          <a:prstGeom prst="rect">
            <a:avLst/>
          </a:prstGeom>
          <a:solidFill>
            <a:srgbClr val="FBBF24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168990" y="3281325"/>
            <a:ext cx="92869" cy="92869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01600" dist="50800" dir="16200000">
              <a:srgbClr val="0B1026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721188" y="3458037"/>
            <a:ext cx="988472" cy="235154"/>
          </a:xfrm>
          <a:prstGeom prst="roundRect">
            <a:avLst>
              <a:gd name="adj" fmla="val 40505"/>
            </a:avLst>
          </a:prstGeom>
          <a:solidFill>
            <a:srgbClr val="FBBF24">
              <a:alpha val="10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981692" y="3527785"/>
            <a:ext cx="33887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نشر حي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148094" y="3508284"/>
            <a:ext cx="134660" cy="1346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914" dirty="0"/>
          </a:p>
        </p:txBody>
      </p:sp>
      <p:sp>
        <p:nvSpPr>
          <p:cNvPr id="33" name="Text 31"/>
          <p:cNvSpPr/>
          <p:nvPr/>
        </p:nvSpPr>
        <p:spPr>
          <a:xfrm>
            <a:off x="6728430" y="1935800"/>
            <a:ext cx="974184" cy="180023"/>
          </a:xfrm>
          <a:prstGeom prst="roundRect">
            <a:avLst>
              <a:gd name="adj" fmla="val 5285700"/>
            </a:avLst>
          </a:prstGeom>
          <a:solidFill>
            <a:srgbClr val="3B82F6">
              <a:alpha val="10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482036" y="1945444"/>
            <a:ext cx="1466974" cy="183309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ش4-6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751290" y="2156185"/>
            <a:ext cx="928464" cy="1071563"/>
          </a:xfrm>
          <a:prstGeom prst="roundRect">
            <a:avLst>
              <a:gd name="adj" fmla="val 12311"/>
            </a:avLst>
          </a:prstGeom>
          <a:solidFill>
            <a:srgbClr val="12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751290" y="2166900"/>
            <a:ext cx="928464" cy="0"/>
          </a:xfrm>
          <a:prstGeom prst="line">
            <a:avLst/>
          </a:prstGeom>
          <a:noFill/>
          <a:ln w="21431">
            <a:solidFill>
              <a:srgbClr val="3B82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76183" y="2156185"/>
            <a:ext cx="0" cy="1071563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51290" y="3224175"/>
            <a:ext cx="928464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54862" y="2156185"/>
            <a:ext cx="0" cy="1071563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04915" y="2470956"/>
            <a:ext cx="421327" cy="1743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v2.5</a:t>
            </a:r>
            <a:endParaRPr lang="en-US" sz="872" dirty="0"/>
          </a:p>
        </p:txBody>
      </p:sp>
      <p:sp>
        <p:nvSpPr>
          <p:cNvPr id="41" name="Text 39"/>
          <p:cNvSpPr/>
          <p:nvPr/>
        </p:nvSpPr>
        <p:spPr>
          <a:xfrm>
            <a:off x="6822728" y="2672767"/>
            <a:ext cx="785589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ZATCA أساس: CSR/CSID+UBL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15571" y="3318830"/>
            <a:ext cx="999902" cy="17859"/>
          </a:xfrm>
          <a:prstGeom prst="rect">
            <a:avLst/>
          </a:prstGeom>
          <a:solidFill>
            <a:srgbClr val="3B82F6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169088" y="3281325"/>
            <a:ext cx="92869" cy="92869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50800" dir="16200000">
              <a:srgbClr val="0B1026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721286" y="3458037"/>
            <a:ext cx="988472" cy="235154"/>
          </a:xfrm>
          <a:prstGeom prst="roundRect">
            <a:avLst>
              <a:gd name="adj" fmla="val 40505"/>
            </a:avLst>
          </a:prstGeom>
          <a:solidFill>
            <a:srgbClr val="3B82F6">
              <a:alpha val="10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027822" y="3527785"/>
            <a:ext cx="47195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sandbox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461089" y="352912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914" dirty="0"/>
          </a:p>
        </p:txBody>
      </p:sp>
      <p:sp>
        <p:nvSpPr>
          <p:cNvPr id="47" name="Text 45"/>
          <p:cNvSpPr/>
          <p:nvPr/>
        </p:nvSpPr>
        <p:spPr>
          <a:xfrm>
            <a:off x="6815603" y="3520641"/>
            <a:ext cx="312501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441104" y="1935800"/>
            <a:ext cx="1261609" cy="180023"/>
          </a:xfrm>
          <a:prstGeom prst="roundRect">
            <a:avLst>
              <a:gd name="adj" fmla="val 5285700"/>
            </a:avLst>
          </a:prstGeom>
          <a:solidFill>
            <a:srgbClr val="3B82F6">
              <a:alpha val="10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111356" y="1945444"/>
            <a:ext cx="1921104" cy="183309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ش7-9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463964" y="2156185"/>
            <a:ext cx="1215889" cy="1071563"/>
          </a:xfrm>
          <a:prstGeom prst="roundRect">
            <a:avLst>
              <a:gd name="adj" fmla="val 10667"/>
            </a:avLst>
          </a:prstGeom>
          <a:solidFill>
            <a:srgbClr val="12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5463964" y="2166900"/>
            <a:ext cx="1215889" cy="0"/>
          </a:xfrm>
          <a:prstGeom prst="line">
            <a:avLst/>
          </a:prstGeom>
          <a:noFill/>
          <a:ln w="21431">
            <a:solidFill>
              <a:srgbClr val="3B82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676281" y="2156185"/>
            <a:ext cx="0" cy="1071563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63964" y="3224175"/>
            <a:ext cx="1215889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67536" y="2156185"/>
            <a:ext cx="0" cy="1071563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61245" y="2470956"/>
            <a:ext cx="421327" cy="1743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v3.0</a:t>
            </a:r>
            <a:endParaRPr lang="en-US" sz="872" dirty="0"/>
          </a:p>
        </p:txBody>
      </p:sp>
      <p:sp>
        <p:nvSpPr>
          <p:cNvPr id="56" name="Text 54"/>
          <p:cNvSpPr/>
          <p:nvPr/>
        </p:nvSpPr>
        <p:spPr>
          <a:xfrm>
            <a:off x="5535402" y="2672767"/>
            <a:ext cx="1073014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اعتماد Reporting/Clearance+تكاملات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428245" y="3318830"/>
            <a:ext cx="1287326" cy="17859"/>
          </a:xfrm>
          <a:prstGeom prst="rect">
            <a:avLst/>
          </a:prstGeom>
          <a:solidFill>
            <a:srgbClr val="3B82F6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025530" y="3281325"/>
            <a:ext cx="92869" cy="92869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50800" dir="16200000">
              <a:srgbClr val="0B1026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433960" y="3458037"/>
            <a:ext cx="1275896" cy="235154"/>
          </a:xfrm>
          <a:prstGeom prst="roundRect">
            <a:avLst>
              <a:gd name="adj" fmla="val 40505"/>
            </a:avLst>
          </a:prstGeom>
          <a:solidFill>
            <a:srgbClr val="3B82F6">
              <a:alpha val="10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5714330" y="3527785"/>
            <a:ext cx="58668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أول فاتورة معتمدة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004579" y="3508284"/>
            <a:ext cx="134660" cy="1346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914" dirty="0"/>
          </a:p>
        </p:txBody>
      </p:sp>
      <p:sp>
        <p:nvSpPr>
          <p:cNvPr id="62" name="Text 60"/>
          <p:cNvSpPr/>
          <p:nvPr/>
        </p:nvSpPr>
        <p:spPr>
          <a:xfrm>
            <a:off x="4441202" y="1935800"/>
            <a:ext cx="974184" cy="180023"/>
          </a:xfrm>
          <a:prstGeom prst="roundRect">
            <a:avLst>
              <a:gd name="adj" fmla="val 5285700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4334077" y="1945444"/>
            <a:ext cx="1188434" cy="183309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ش10-12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464062" y="2156185"/>
            <a:ext cx="928464" cy="1071563"/>
          </a:xfrm>
          <a:prstGeom prst="roundRect">
            <a:avLst>
              <a:gd name="adj" fmla="val 12311"/>
            </a:avLst>
          </a:prstGeom>
          <a:solidFill>
            <a:srgbClr val="12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4464062" y="2166900"/>
            <a:ext cx="928464" cy="0"/>
          </a:xfrm>
          <a:prstGeom prst="line">
            <a:avLst/>
          </a:prstGeom>
          <a:noFill/>
          <a:ln w="21431">
            <a:solidFill>
              <a:srgbClr val="22D3E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88955" y="2156185"/>
            <a:ext cx="0" cy="1071563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64062" y="3224175"/>
            <a:ext cx="928464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467634" y="2156185"/>
            <a:ext cx="0" cy="1071563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17687" y="2470956"/>
            <a:ext cx="421327" cy="1743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v3.5</a:t>
            </a:r>
            <a:endParaRPr lang="en-US" sz="872" dirty="0"/>
          </a:p>
        </p:txBody>
      </p:sp>
      <p:sp>
        <p:nvSpPr>
          <p:cNvPr id="70" name="Text 68"/>
          <p:cNvSpPr/>
          <p:nvPr/>
        </p:nvSpPr>
        <p:spPr>
          <a:xfrm>
            <a:off x="4535500" y="2672767"/>
            <a:ext cx="785589" cy="339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R16-R18+محرك سياق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428344" y="3318830"/>
            <a:ext cx="999902" cy="17859"/>
          </a:xfrm>
          <a:prstGeom prst="rect">
            <a:avLst/>
          </a:prstGeom>
          <a:solidFill>
            <a:srgbClr val="22D3EE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4881860" y="3281325"/>
            <a:ext cx="92869" cy="92869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01600" dist="50800" dir="16200000">
              <a:srgbClr val="0B1026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4434059" y="3458037"/>
            <a:ext cx="988472" cy="235154"/>
          </a:xfrm>
          <a:prstGeom prst="roundRect">
            <a:avLst>
              <a:gd name="adj" fmla="val 40505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4854147" y="3527785"/>
            <a:ext cx="19740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دقة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045720" y="352912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914" dirty="0"/>
          </a:p>
        </p:txBody>
      </p:sp>
      <p:sp>
        <p:nvSpPr>
          <p:cNvPr id="76" name="Text 74"/>
          <p:cNvSpPr/>
          <p:nvPr/>
        </p:nvSpPr>
        <p:spPr>
          <a:xfrm>
            <a:off x="4669906" y="3520641"/>
            <a:ext cx="238171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85%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3441301" y="1935800"/>
            <a:ext cx="974184" cy="180023"/>
          </a:xfrm>
          <a:prstGeom prst="roundRect">
            <a:avLst>
              <a:gd name="adj" fmla="val 5285700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3334176" y="1945444"/>
            <a:ext cx="1188434" cy="183309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ش13-15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464161" y="2156185"/>
            <a:ext cx="928464" cy="1071563"/>
          </a:xfrm>
          <a:prstGeom prst="roundRect">
            <a:avLst>
              <a:gd name="adj" fmla="val 12311"/>
            </a:avLst>
          </a:prstGeom>
          <a:solidFill>
            <a:srgbClr val="12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Shape 78"/>
          <p:cNvSpPr/>
          <p:nvPr/>
        </p:nvSpPr>
        <p:spPr>
          <a:xfrm>
            <a:off x="3464161" y="2166900"/>
            <a:ext cx="928464" cy="0"/>
          </a:xfrm>
          <a:prstGeom prst="line">
            <a:avLst/>
          </a:prstGeom>
          <a:noFill/>
          <a:ln w="21431">
            <a:solidFill>
              <a:srgbClr val="22D3E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389053" y="2156185"/>
            <a:ext cx="0" cy="1071563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464161" y="3224175"/>
            <a:ext cx="928464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467733" y="2156185"/>
            <a:ext cx="0" cy="1071563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717785" y="2470956"/>
            <a:ext cx="421327" cy="1743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v4.0</a:t>
            </a:r>
            <a:endParaRPr lang="en-US" sz="872" dirty="0"/>
          </a:p>
        </p:txBody>
      </p:sp>
      <p:sp>
        <p:nvSpPr>
          <p:cNvPr id="85" name="Text 83"/>
          <p:cNvSpPr/>
          <p:nvPr/>
        </p:nvSpPr>
        <p:spPr>
          <a:xfrm>
            <a:off x="3535598" y="2672767"/>
            <a:ext cx="785589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المساعد الجهازي+R19-R20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3428442" y="3318830"/>
            <a:ext cx="999902" cy="17859"/>
          </a:xfrm>
          <a:prstGeom prst="rect">
            <a:avLst/>
          </a:prstGeom>
          <a:solidFill>
            <a:srgbClr val="22D3EE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3881958" y="3281325"/>
            <a:ext cx="92869" cy="92869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01600" dist="50800" dir="16200000">
              <a:srgbClr val="0B1026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3434157" y="3458037"/>
            <a:ext cx="988472" cy="235154"/>
          </a:xfrm>
          <a:prstGeom prst="roundRect">
            <a:avLst>
              <a:gd name="adj" fmla="val 40505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3640711" y="3527785"/>
            <a:ext cx="44677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مساعد حي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3861063" y="3508284"/>
            <a:ext cx="134660" cy="1346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914" dirty="0"/>
          </a:p>
        </p:txBody>
      </p:sp>
      <p:sp>
        <p:nvSpPr>
          <p:cNvPr id="91" name="Text 89"/>
          <p:cNvSpPr/>
          <p:nvPr/>
        </p:nvSpPr>
        <p:spPr>
          <a:xfrm>
            <a:off x="2441399" y="1935800"/>
            <a:ext cx="974184" cy="180023"/>
          </a:xfrm>
          <a:prstGeom prst="roundRect">
            <a:avLst>
              <a:gd name="adj" fmla="val 5285700"/>
            </a:avLst>
          </a:prstGeom>
          <a:solidFill>
            <a:srgbClr val="34D399">
              <a:alpha val="10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90"/>
          <p:cNvSpPr/>
          <p:nvPr/>
        </p:nvSpPr>
        <p:spPr>
          <a:xfrm>
            <a:off x="2334274" y="1945444"/>
            <a:ext cx="1188434" cy="183309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ش16-18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2464259" y="2156185"/>
            <a:ext cx="928464" cy="1071563"/>
          </a:xfrm>
          <a:prstGeom prst="roundRect">
            <a:avLst>
              <a:gd name="adj" fmla="val 12311"/>
            </a:avLst>
          </a:prstGeom>
          <a:solidFill>
            <a:srgbClr val="12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Shape 92"/>
          <p:cNvSpPr/>
          <p:nvPr/>
        </p:nvSpPr>
        <p:spPr>
          <a:xfrm>
            <a:off x="2464259" y="2166900"/>
            <a:ext cx="928464" cy="0"/>
          </a:xfrm>
          <a:prstGeom prst="line">
            <a:avLst/>
          </a:prstGeom>
          <a:noFill/>
          <a:ln w="21431">
            <a:solidFill>
              <a:srgbClr val="34D39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89151" y="2156185"/>
            <a:ext cx="0" cy="1071563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464259" y="3224175"/>
            <a:ext cx="928464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467831" y="2156185"/>
            <a:ext cx="0" cy="1071563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717883" y="2534580"/>
            <a:ext cx="421327" cy="1743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v4.5</a:t>
            </a:r>
            <a:endParaRPr lang="en-US" sz="872" dirty="0"/>
          </a:p>
        </p:txBody>
      </p:sp>
      <p:sp>
        <p:nvSpPr>
          <p:cNvPr id="99" name="Text 97"/>
          <p:cNvSpPr/>
          <p:nvPr/>
        </p:nvSpPr>
        <p:spPr>
          <a:xfrm>
            <a:off x="2535696" y="2736391"/>
            <a:ext cx="785589" cy="16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فروع+RBAC+محاسبة</a:t>
            </a:r>
            <a:endParaRPr lang="en-US" sz="647" dirty="0"/>
          </a:p>
        </p:txBody>
      </p:sp>
      <p:sp>
        <p:nvSpPr>
          <p:cNvPr id="100" name="Text 98"/>
          <p:cNvSpPr/>
          <p:nvPr/>
        </p:nvSpPr>
        <p:spPr>
          <a:xfrm>
            <a:off x="2428540" y="3318830"/>
            <a:ext cx="999902" cy="17859"/>
          </a:xfrm>
          <a:prstGeom prst="rect">
            <a:avLst/>
          </a:prstGeom>
          <a:solidFill>
            <a:srgbClr val="34D399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2882057" y="3281325"/>
            <a:ext cx="92869" cy="92869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101600" dist="50800" dir="16200000">
              <a:srgbClr val="0B1026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Text 100"/>
          <p:cNvSpPr/>
          <p:nvPr/>
        </p:nvSpPr>
        <p:spPr>
          <a:xfrm>
            <a:off x="2434255" y="3458037"/>
            <a:ext cx="988472" cy="235154"/>
          </a:xfrm>
          <a:prstGeom prst="roundRect">
            <a:avLst>
              <a:gd name="adj" fmla="val 40505"/>
            </a:avLst>
          </a:prstGeom>
          <a:solidFill>
            <a:srgbClr val="34D399">
              <a:alpha val="10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3" name="Text 101"/>
          <p:cNvSpPr/>
          <p:nvPr/>
        </p:nvSpPr>
        <p:spPr>
          <a:xfrm>
            <a:off x="2516126" y="3527785"/>
            <a:ext cx="69614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ترحيل بلا فقد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2861161" y="3508284"/>
            <a:ext cx="134660" cy="1346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914" dirty="0"/>
          </a:p>
        </p:txBody>
      </p:sp>
      <p:sp>
        <p:nvSpPr>
          <p:cNvPr id="105" name="Text 103"/>
          <p:cNvSpPr/>
          <p:nvPr/>
        </p:nvSpPr>
        <p:spPr>
          <a:xfrm>
            <a:off x="1441497" y="1935800"/>
            <a:ext cx="974184" cy="180023"/>
          </a:xfrm>
          <a:prstGeom prst="roundRect">
            <a:avLst>
              <a:gd name="adj" fmla="val 5285700"/>
            </a:avLst>
          </a:prstGeom>
          <a:solidFill>
            <a:srgbClr val="34D399">
              <a:alpha val="10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6" name="Text 104"/>
          <p:cNvSpPr/>
          <p:nvPr/>
        </p:nvSpPr>
        <p:spPr>
          <a:xfrm>
            <a:off x="1334372" y="1945444"/>
            <a:ext cx="1188434" cy="183309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ش19-21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1464357" y="2156185"/>
            <a:ext cx="928464" cy="1071563"/>
          </a:xfrm>
          <a:prstGeom prst="roundRect">
            <a:avLst>
              <a:gd name="adj" fmla="val 12311"/>
            </a:avLst>
          </a:prstGeom>
          <a:solidFill>
            <a:srgbClr val="12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8" name="Shape 106"/>
          <p:cNvSpPr/>
          <p:nvPr/>
        </p:nvSpPr>
        <p:spPr>
          <a:xfrm>
            <a:off x="1464357" y="2166900"/>
            <a:ext cx="928464" cy="0"/>
          </a:xfrm>
          <a:prstGeom prst="line">
            <a:avLst/>
          </a:prstGeom>
          <a:noFill/>
          <a:ln w="21431">
            <a:solidFill>
              <a:srgbClr val="34D399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389250" y="2156185"/>
            <a:ext cx="0" cy="1071563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464357" y="3224175"/>
            <a:ext cx="928464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467929" y="2156185"/>
            <a:ext cx="0" cy="1071563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535795" y="2571862"/>
            <a:ext cx="785589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تحديث محاسبة+مزامنة S1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1428638" y="3318830"/>
            <a:ext cx="999902" cy="17859"/>
          </a:xfrm>
          <a:prstGeom prst="rect">
            <a:avLst/>
          </a:prstGeom>
          <a:solidFill>
            <a:srgbClr val="34D399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4" name="Text 112"/>
          <p:cNvSpPr/>
          <p:nvPr/>
        </p:nvSpPr>
        <p:spPr>
          <a:xfrm>
            <a:off x="1882155" y="3281325"/>
            <a:ext cx="92869" cy="92869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101600" dist="50800" dir="16200000">
              <a:srgbClr val="0B1026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Text 113"/>
          <p:cNvSpPr/>
          <p:nvPr/>
        </p:nvSpPr>
        <p:spPr>
          <a:xfrm>
            <a:off x="1434353" y="3458037"/>
            <a:ext cx="988472" cy="235154"/>
          </a:xfrm>
          <a:prstGeom prst="roundRect">
            <a:avLst>
              <a:gd name="adj" fmla="val 40505"/>
            </a:avLst>
          </a:prstGeom>
          <a:solidFill>
            <a:srgbClr val="34D399">
              <a:alpha val="10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Text 114"/>
          <p:cNvSpPr/>
          <p:nvPr/>
        </p:nvSpPr>
        <p:spPr>
          <a:xfrm>
            <a:off x="1506034" y="3527785"/>
            <a:ext cx="71652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مزامنة جهازين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1861259" y="3508284"/>
            <a:ext cx="134660" cy="1346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914" dirty="0"/>
          </a:p>
        </p:txBody>
      </p:sp>
      <p:sp>
        <p:nvSpPr>
          <p:cNvPr id="118" name="Text 116"/>
          <p:cNvSpPr/>
          <p:nvPr/>
        </p:nvSpPr>
        <p:spPr>
          <a:xfrm>
            <a:off x="441595" y="1935800"/>
            <a:ext cx="974184" cy="180023"/>
          </a:xfrm>
          <a:prstGeom prst="roundRect">
            <a:avLst>
              <a:gd name="adj" fmla="val 5285700"/>
            </a:avLst>
          </a:prstGeom>
          <a:solidFill>
            <a:srgbClr val="8B5CF6">
              <a:alpha val="10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9" name="Text 117"/>
          <p:cNvSpPr/>
          <p:nvPr/>
        </p:nvSpPr>
        <p:spPr>
          <a:xfrm>
            <a:off x="334470" y="1945444"/>
            <a:ext cx="1188434" cy="183309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ش22-24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464455" y="2156185"/>
            <a:ext cx="928464" cy="1071563"/>
          </a:xfrm>
          <a:prstGeom prst="roundRect">
            <a:avLst>
              <a:gd name="adj" fmla="val 12311"/>
            </a:avLst>
          </a:prstGeom>
          <a:solidFill>
            <a:srgbClr val="12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1" name="Shape 119"/>
          <p:cNvSpPr/>
          <p:nvPr/>
        </p:nvSpPr>
        <p:spPr>
          <a:xfrm>
            <a:off x="464455" y="2166900"/>
            <a:ext cx="928464" cy="0"/>
          </a:xfrm>
          <a:prstGeom prst="line">
            <a:avLst/>
          </a:prstGeom>
          <a:noFill/>
          <a:ln w="21431">
            <a:solidFill>
              <a:srgbClr val="8B5CF6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389348" y="2156185"/>
            <a:ext cx="0" cy="1071563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64455" y="3224175"/>
            <a:ext cx="928464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68027" y="2156185"/>
            <a:ext cx="0" cy="1071563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18080" y="2470956"/>
            <a:ext cx="421327" cy="1743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v5.0</a:t>
            </a:r>
            <a:endParaRPr lang="en-US" sz="872" dirty="0"/>
          </a:p>
        </p:txBody>
      </p:sp>
      <p:sp>
        <p:nvSpPr>
          <p:cNvPr id="126" name="Text 124"/>
          <p:cNvSpPr/>
          <p:nvPr/>
        </p:nvSpPr>
        <p:spPr>
          <a:xfrm>
            <a:off x="535893" y="2672767"/>
            <a:ext cx="785589" cy="3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العالمية: لغات+امتثال خليجي</a:t>
            </a:r>
            <a:endParaRPr lang="en-US" sz="800" dirty="0"/>
          </a:p>
        </p:txBody>
      </p:sp>
      <p:sp>
        <p:nvSpPr>
          <p:cNvPr id="127" name="Text 125"/>
          <p:cNvSpPr/>
          <p:nvPr/>
        </p:nvSpPr>
        <p:spPr>
          <a:xfrm>
            <a:off x="428737" y="3318830"/>
            <a:ext cx="999902" cy="17859"/>
          </a:xfrm>
          <a:prstGeom prst="rect">
            <a:avLst/>
          </a:prstGeom>
          <a:solidFill>
            <a:srgbClr val="8B5CF6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8" name="Text 126"/>
          <p:cNvSpPr/>
          <p:nvPr/>
        </p:nvSpPr>
        <p:spPr>
          <a:xfrm>
            <a:off x="882253" y="3281325"/>
            <a:ext cx="92869" cy="92869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50800" dir="16200000">
              <a:srgbClr val="0B1026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9" name="Text 127"/>
          <p:cNvSpPr/>
          <p:nvPr/>
        </p:nvSpPr>
        <p:spPr>
          <a:xfrm>
            <a:off x="385874" y="327061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‹</a:t>
            </a:r>
            <a:endParaRPr lang="en-US" sz="1125" dirty="0"/>
          </a:p>
        </p:txBody>
      </p:sp>
      <p:sp>
        <p:nvSpPr>
          <p:cNvPr id="130" name="Text 128"/>
          <p:cNvSpPr/>
          <p:nvPr/>
        </p:nvSpPr>
        <p:spPr>
          <a:xfrm>
            <a:off x="434452" y="3458037"/>
            <a:ext cx="988472" cy="235154"/>
          </a:xfrm>
          <a:prstGeom prst="roundRect">
            <a:avLst>
              <a:gd name="adj" fmla="val 40505"/>
            </a:avLst>
          </a:prstGeom>
          <a:solidFill>
            <a:srgbClr val="8B5CF6">
              <a:alpha val="10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1" name="Text 129"/>
          <p:cNvSpPr/>
          <p:nvPr/>
        </p:nvSpPr>
        <p:spPr>
          <a:xfrm>
            <a:off x="697192" y="3527785"/>
            <a:ext cx="25135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لغات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1016645" y="352912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914" dirty="0"/>
          </a:p>
        </p:txBody>
      </p:sp>
      <p:sp>
        <p:nvSpPr>
          <p:cNvPr id="133" name="Text 131"/>
          <p:cNvSpPr/>
          <p:nvPr/>
        </p:nvSpPr>
        <p:spPr>
          <a:xfrm>
            <a:off x="919401" y="3520641"/>
            <a:ext cx="91440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34" name="Text 132"/>
          <p:cNvSpPr/>
          <p:nvPr/>
        </p:nvSpPr>
        <p:spPr>
          <a:xfrm>
            <a:off x="432197" y="4475559"/>
            <a:ext cx="8279606" cy="350044"/>
          </a:xfrm>
          <a:prstGeom prst="roundRect">
            <a:avLst>
              <a:gd name="adj" fmla="val 38095"/>
            </a:avLst>
          </a:prstGeom>
          <a:solidFill>
            <a:srgbClr val="8B5CF6">
              <a:alpha val="7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5" name="Text 133"/>
          <p:cNvSpPr/>
          <p:nvPr/>
        </p:nvSpPr>
        <p:spPr>
          <a:xfrm>
            <a:off x="8408194" y="457200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136" name="Text 134"/>
          <p:cNvSpPr/>
          <p:nvPr/>
        </p:nvSpPr>
        <p:spPr>
          <a:xfrm>
            <a:off x="4169606" y="4573451"/>
            <a:ext cx="4192153" cy="155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759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كل بوابة = </a:t>
            </a:r>
            <a:pPr algn="l" indent="0" marL="0">
              <a:lnSpc>
                <a:spcPts val="1215"/>
              </a:lnSpc>
              <a:buNone/>
            </a:pPr>
            <a:r>
              <a:rPr lang="en-US" sz="759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إصدار موسوم عبر حلقة النشر الآلية + تقرير KPIs</a:t>
            </a:r>
            <a:pPr algn="l" indent="0" marL="0">
              <a:lnSpc>
                <a:spcPts val="1215"/>
              </a:lnSpc>
              <a:buNone/>
            </a:pPr>
            <a:r>
              <a:rPr lang="en-US" sz="759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1215"/>
              </a:lnSpc>
              <a:buNone/>
            </a:pPr>
            <a:r>
              <a:rPr lang="en-US" sz="759" b="1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لا موجة تُفتح قبل إغلاق بوابة سابقتها.</a:t>
            </a:r>
            <a:endParaRPr lang="en-US" sz="759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29438" y="-1428750"/>
            <a:ext cx="3357563" cy="3357563"/>
          </a:xfrm>
          <a:prstGeom prst="ellipse">
            <a:avLst/>
          </a:prstGeom>
          <a:solidFill>
            <a:srgbClr val="FBBF24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1071562" y="3571875"/>
            <a:ext cx="3071813" cy="3071813"/>
          </a:xfrm>
          <a:prstGeom prst="ellipse">
            <a:avLst/>
          </a:prstGeom>
          <a:solidFill>
            <a:srgbClr val="8B5CF6">
              <a:alpha val="1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347472" y="396478"/>
            <a:ext cx="392906" cy="392906"/>
          </a:xfrm>
          <a:prstGeom prst="roundRect">
            <a:avLst>
              <a:gd name="adj" fmla="val 38788"/>
            </a:avLst>
          </a:prstGeom>
          <a:solidFill>
            <a:srgbClr val="FBBF24">
              <a:alpha val="13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93728" y="442734"/>
            <a:ext cx="300395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9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2039" dirty="0"/>
          </a:p>
        </p:txBody>
      </p:sp>
      <p:sp>
        <p:nvSpPr>
          <p:cNvPr id="6" name="Text 4"/>
          <p:cNvSpPr/>
          <p:nvPr/>
        </p:nvSpPr>
        <p:spPr>
          <a:xfrm>
            <a:off x="7448587" y="294537"/>
            <a:ext cx="788157" cy="236030"/>
          </a:xfrm>
          <a:prstGeom prst="roundRect">
            <a:avLst>
              <a:gd name="adj" fmla="val 4031468"/>
            </a:avLst>
          </a:prstGeom>
          <a:solidFill>
            <a:srgbClr val="FBBF24">
              <a:alpha val="8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48587" y="307181"/>
            <a:ext cx="788157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الموجة 1 من 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947743" y="342900"/>
            <a:ext cx="5496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الشهر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1–3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038116" y="539353"/>
            <a:ext cx="4618490" cy="36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72"/>
              </a:lnSpc>
              <a:buNone/>
            </a:pPr>
            <a:r>
              <a:rPr lang="en-US" sz="2138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الموجة 1 — </a:t>
            </a:r>
            <a:pPr algn="l" indent="0" marL="0">
              <a:lnSpc>
                <a:spcPts val="2672"/>
              </a:lnSpc>
              <a:buNone/>
            </a:pPr>
            <a:r>
              <a:rPr lang="en-US" sz="2138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v2.0</a:t>
            </a:r>
            <a:pPr algn="l" indent="0" marL="0">
              <a:lnSpc>
                <a:spcPts val="2672"/>
              </a:lnSpc>
              <a:buNone/>
            </a:pPr>
            <a:r>
              <a:rPr lang="en-US" sz="2138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«الإطلاق التجاري»</a:t>
            </a:r>
            <a:endParaRPr lang="en-US" sz="2138" dirty="0"/>
          </a:p>
        </p:txBody>
      </p:sp>
      <p:sp>
        <p:nvSpPr>
          <p:cNvPr id="10" name="Text 8"/>
          <p:cNvSpPr/>
          <p:nvPr/>
        </p:nvSpPr>
        <p:spPr>
          <a:xfrm>
            <a:off x="400050" y="285750"/>
            <a:ext cx="3623779" cy="663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4838" b="1" dirty="0">
                <a:solidFill>
                  <a:srgbClr val="FBBF24">
                    <a:alpha val="1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W1</a:t>
            </a:r>
            <a:endParaRPr lang="en-US" sz="4838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1000125"/>
            <a:ext cx="8343900" cy="39004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03622" y="1003697"/>
            <a:ext cx="8336756" cy="3893344"/>
          </a:xfrm>
          <a:prstGeom prst="roundRect">
            <a:avLst>
              <a:gd name="adj" fmla="val 5382"/>
            </a:avLst>
          </a:prstGeom>
          <a:solidFill>
            <a:srgbClr val="FBBF24">
              <a:alpha val="6000"/>
            </a:srgbClr>
          </a:solidFill>
          <a:ln w="7144">
            <a:solidFill>
              <a:srgbClr val="FBBF24"/>
            </a:solidFill>
            <a:prstDash val="solid"/>
          </a:ln>
          <a:effectLst>
            <a:outerShdw sx="100000" sy="100000" kx="0" ky="0" algn="bl" rotWithShape="0" blurRad="666750" dist="247650" dir="5400000">
              <a:srgbClr val="000000">
                <a:alpha val="3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632722" y="1139428"/>
            <a:ext cx="3929063" cy="470148"/>
          </a:xfrm>
          <a:prstGeom prst="roundRect">
            <a:avLst>
              <a:gd name="adj" fmla="val 24311"/>
            </a:avLst>
          </a:prstGeom>
          <a:solidFill>
            <a:srgbClr val="0B1026">
              <a:alpha val="55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268891" y="1281633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265319" y="1278062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971170" y="1294247"/>
            <a:ext cx="2385097" cy="17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ترقية </a:t>
            </a:r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targetSdk 36</a:t>
            </a:r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ومراجعة edge-to-edge</a:t>
            </a:r>
            <a:endParaRPr lang="en-US" sz="872" dirty="0"/>
          </a:p>
        </p:txBody>
      </p:sp>
      <p:sp>
        <p:nvSpPr>
          <p:cNvPr id="17" name="Text 14"/>
          <p:cNvSpPr/>
          <p:nvPr/>
        </p:nvSpPr>
        <p:spPr>
          <a:xfrm>
            <a:off x="582216" y="1139428"/>
            <a:ext cx="3929063" cy="470148"/>
          </a:xfrm>
          <a:prstGeom prst="roundRect">
            <a:avLst>
              <a:gd name="adj" fmla="val 24311"/>
            </a:avLst>
          </a:prstGeom>
          <a:solidFill>
            <a:srgbClr val="0B1026">
              <a:alpha val="55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218384" y="1281633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214813" y="1278062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758925" y="1294247"/>
            <a:ext cx="2559775" cy="17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AAB</a:t>
            </a:r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موقّع + قنوات </a:t>
            </a:r>
            <a:pPr algn="l" indent="0" marL="0">
              <a:lnSpc>
                <a:spcPts val="1264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internal/closed/production</a:t>
            </a:r>
            <a:endParaRPr lang="en-US" sz="872" dirty="0"/>
          </a:p>
        </p:txBody>
      </p:sp>
      <p:sp>
        <p:nvSpPr>
          <p:cNvPr id="21" name="Text 18"/>
          <p:cNvSpPr/>
          <p:nvPr/>
        </p:nvSpPr>
        <p:spPr>
          <a:xfrm>
            <a:off x="4632722" y="1681014"/>
            <a:ext cx="3929063" cy="470148"/>
          </a:xfrm>
          <a:prstGeom prst="roundRect">
            <a:avLst>
              <a:gd name="adj" fmla="val 24311"/>
            </a:avLst>
          </a:prstGeom>
          <a:solidFill>
            <a:srgbClr val="0B1026">
              <a:alpha val="55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8268891" y="1823219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8265319" y="1819647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873167" y="1835832"/>
            <a:ext cx="2490941" cy="17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فريميوم </a:t>
            </a:r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</a:t>
            </a:r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عبر </a:t>
            </a:r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Play Billing v7</a:t>
            </a:r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(بلا خادم)</a:t>
            </a:r>
            <a:endParaRPr lang="en-US" sz="872" dirty="0"/>
          </a:p>
        </p:txBody>
      </p:sp>
      <p:sp>
        <p:nvSpPr>
          <p:cNvPr id="25" name="Text 22"/>
          <p:cNvSpPr/>
          <p:nvPr/>
        </p:nvSpPr>
        <p:spPr>
          <a:xfrm>
            <a:off x="582216" y="1681014"/>
            <a:ext cx="3929063" cy="470148"/>
          </a:xfrm>
          <a:prstGeom prst="roundRect">
            <a:avLst>
              <a:gd name="adj" fmla="val 24311"/>
            </a:avLst>
          </a:prstGeom>
          <a:solidFill>
            <a:srgbClr val="0B1026">
              <a:alpha val="55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218384" y="1823219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214813" y="1819647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195587" y="1835832"/>
            <a:ext cx="2088181" cy="17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سياسة خصوصية + Data Safety + تصنيف</a:t>
            </a:r>
            <a:endParaRPr lang="en-US" sz="872" dirty="0"/>
          </a:p>
        </p:txBody>
      </p:sp>
      <p:sp>
        <p:nvSpPr>
          <p:cNvPr id="29" name="Text 26"/>
          <p:cNvSpPr/>
          <p:nvPr/>
        </p:nvSpPr>
        <p:spPr>
          <a:xfrm>
            <a:off x="4632722" y="2222599"/>
            <a:ext cx="3929063" cy="470260"/>
          </a:xfrm>
          <a:prstGeom prst="roundRect">
            <a:avLst>
              <a:gd name="adj" fmla="val 24306"/>
            </a:avLst>
          </a:prstGeom>
          <a:solidFill>
            <a:srgbClr val="0B1026">
              <a:alpha val="55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8268891" y="2364804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8265319" y="2361233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066160" y="2377418"/>
            <a:ext cx="2282508" cy="17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لقطات جهاز حقيقية عربي/إنجليزي (إغلاق </a:t>
            </a:r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S3</a:t>
            </a:r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872" dirty="0"/>
          </a:p>
        </p:txBody>
      </p:sp>
      <p:sp>
        <p:nvSpPr>
          <p:cNvPr id="33" name="Text 30"/>
          <p:cNvSpPr/>
          <p:nvPr/>
        </p:nvSpPr>
        <p:spPr>
          <a:xfrm>
            <a:off x="582216" y="2222599"/>
            <a:ext cx="3929063" cy="470260"/>
          </a:xfrm>
          <a:prstGeom prst="roundRect">
            <a:avLst>
              <a:gd name="adj" fmla="val 24306"/>
            </a:avLst>
          </a:prstGeom>
          <a:solidFill>
            <a:srgbClr val="0B1026">
              <a:alpha val="55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218384" y="2364804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214813" y="2361233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3424535" y="2377418"/>
            <a:ext cx="880690" cy="17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ASO</a:t>
            </a:r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ثنائي اللغة</a:t>
            </a:r>
            <a:endParaRPr lang="en-US" sz="872" dirty="0"/>
          </a:p>
        </p:txBody>
      </p:sp>
      <p:sp>
        <p:nvSpPr>
          <p:cNvPr id="37" name="Text 34"/>
          <p:cNvSpPr/>
          <p:nvPr/>
        </p:nvSpPr>
        <p:spPr>
          <a:xfrm>
            <a:off x="4632722" y="2764296"/>
            <a:ext cx="3929063" cy="470260"/>
          </a:xfrm>
          <a:prstGeom prst="roundRect">
            <a:avLst>
              <a:gd name="adj" fmla="val 24306"/>
            </a:avLst>
          </a:prstGeom>
          <a:solidFill>
            <a:srgbClr val="0B1026">
              <a:alpha val="55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8268891" y="2906502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8265319" y="2902930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619466" y="2919115"/>
            <a:ext cx="1684938" cy="17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closed testing بـ</a:t>
            </a:r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</a:t>
            </a:r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مختبراً حقيقياً</a:t>
            </a:r>
            <a:endParaRPr lang="en-US" sz="872" dirty="0"/>
          </a:p>
        </p:txBody>
      </p:sp>
      <p:sp>
        <p:nvSpPr>
          <p:cNvPr id="41" name="Text 38"/>
          <p:cNvSpPr/>
          <p:nvPr/>
        </p:nvSpPr>
        <p:spPr>
          <a:xfrm>
            <a:off x="582216" y="2764296"/>
            <a:ext cx="3929063" cy="470260"/>
          </a:xfrm>
          <a:prstGeom prst="roundRect">
            <a:avLst>
              <a:gd name="adj" fmla="val 24306"/>
            </a:avLst>
          </a:prstGeom>
          <a:solidFill>
            <a:srgbClr val="0B1026">
              <a:alpha val="55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218384" y="2906502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4214813" y="2902930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3357897" y="2919115"/>
            <a:ext cx="963988" cy="17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لوحة </a:t>
            </a:r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KPIs</a:t>
            </a:r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أولى</a:t>
            </a:r>
            <a:endParaRPr lang="en-US" sz="872" dirty="0"/>
          </a:p>
        </p:txBody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31" y="3330997"/>
            <a:ext cx="7958138" cy="7144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8365331" y="348615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547" dirty="0"/>
          </a:p>
        </p:txBody>
      </p:sp>
      <p:sp>
        <p:nvSpPr>
          <p:cNvPr id="47" name="Text 43"/>
          <p:cNvSpPr/>
          <p:nvPr/>
        </p:nvSpPr>
        <p:spPr>
          <a:xfrm>
            <a:off x="7726077" y="3416722"/>
            <a:ext cx="839279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الجهد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7698765" y="3541737"/>
            <a:ext cx="711733" cy="184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956" b="1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6–8</a:t>
            </a:r>
            <a:pPr algn="l" indent="0" marL="0">
              <a:lnSpc>
                <a:spcPts val="1291"/>
              </a:lnSpc>
              <a:buNone/>
            </a:pPr>
            <a:r>
              <a:rPr lang="en-US" sz="956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أسابيع</a:t>
            </a:r>
            <a:endParaRPr lang="en-US" sz="956" dirty="0"/>
          </a:p>
        </p:txBody>
      </p:sp>
      <p:sp>
        <p:nvSpPr>
          <p:cNvPr id="49" name="Text 45"/>
          <p:cNvSpPr/>
          <p:nvPr/>
        </p:nvSpPr>
        <p:spPr>
          <a:xfrm>
            <a:off x="6255023" y="3436144"/>
            <a:ext cx="7144" cy="257175"/>
          </a:xfrm>
          <a:prstGeom prst="rect">
            <a:avLst/>
          </a:prstGeom>
          <a:solidFill>
            <a:srgbClr val="8B5CF6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5940698" y="348615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51" name="Text 47"/>
          <p:cNvSpPr/>
          <p:nvPr/>
        </p:nvSpPr>
        <p:spPr>
          <a:xfrm>
            <a:off x="5433492" y="3420294"/>
            <a:ext cx="548640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الصعوبة</a:t>
            </a:r>
            <a:endParaRPr lang="en-US" sz="800" dirty="0"/>
          </a:p>
        </p:txBody>
      </p:sp>
      <p:sp>
        <p:nvSpPr>
          <p:cNvPr id="52" name="Text 48"/>
          <p:cNvSpPr/>
          <p:nvPr/>
        </p:nvSpPr>
        <p:spPr>
          <a:xfrm>
            <a:off x="5433492" y="3545309"/>
            <a:ext cx="548640" cy="176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956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متوسطة</a:t>
            </a:r>
            <a:endParaRPr lang="en-US" sz="956" dirty="0"/>
          </a:p>
        </p:txBody>
      </p:sp>
      <p:sp>
        <p:nvSpPr>
          <p:cNvPr id="53" name="Text 49"/>
          <p:cNvSpPr/>
          <p:nvPr/>
        </p:nvSpPr>
        <p:spPr>
          <a:xfrm>
            <a:off x="3830278" y="3436144"/>
            <a:ext cx="7144" cy="257175"/>
          </a:xfrm>
          <a:prstGeom prst="rect">
            <a:avLst/>
          </a:prstGeom>
          <a:solidFill>
            <a:srgbClr val="8B5CF6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0"/>
          <p:cNvSpPr/>
          <p:nvPr/>
        </p:nvSpPr>
        <p:spPr>
          <a:xfrm>
            <a:off x="3515953" y="348615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547" dirty="0"/>
          </a:p>
        </p:txBody>
      </p:sp>
      <p:sp>
        <p:nvSpPr>
          <p:cNvPr id="55" name="Text 51"/>
          <p:cNvSpPr/>
          <p:nvPr/>
        </p:nvSpPr>
        <p:spPr>
          <a:xfrm>
            <a:off x="2557909" y="3420294"/>
            <a:ext cx="1125712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الفريق</a:t>
            </a:r>
            <a:endParaRPr lang="en-US" sz="800" dirty="0"/>
          </a:p>
        </p:txBody>
      </p:sp>
      <p:sp>
        <p:nvSpPr>
          <p:cNvPr id="56" name="Text 52"/>
          <p:cNvSpPr/>
          <p:nvPr/>
        </p:nvSpPr>
        <p:spPr>
          <a:xfrm>
            <a:off x="2557909" y="3545309"/>
            <a:ext cx="1030730" cy="176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956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مطور + أدوات AI</a:t>
            </a:r>
            <a:endParaRPr lang="en-US" sz="956" dirty="0"/>
          </a:p>
        </p:txBody>
      </p:sp>
      <p:sp>
        <p:nvSpPr>
          <p:cNvPr id="57" name="Text 53"/>
          <p:cNvSpPr/>
          <p:nvPr/>
        </p:nvSpPr>
        <p:spPr>
          <a:xfrm>
            <a:off x="4088681" y="3802038"/>
            <a:ext cx="4473104" cy="959272"/>
          </a:xfrm>
          <a:prstGeom prst="roundRect">
            <a:avLst>
              <a:gd name="adj" fmla="val 13901"/>
            </a:avLst>
          </a:prstGeom>
          <a:solidFill>
            <a:srgbClr val="34D399">
              <a:alpha val="8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4"/>
          <p:cNvSpPr/>
          <p:nvPr/>
        </p:nvSpPr>
        <p:spPr>
          <a:xfrm>
            <a:off x="8315325" y="3918124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36" dirty="0"/>
          </a:p>
        </p:txBody>
      </p:sp>
      <p:sp>
        <p:nvSpPr>
          <p:cNvPr id="59" name="Text 55"/>
          <p:cNvSpPr/>
          <p:nvPr/>
        </p:nvSpPr>
        <p:spPr>
          <a:xfrm>
            <a:off x="7512701" y="3884191"/>
            <a:ext cx="957231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معايير القبول</a:t>
            </a:r>
            <a:endParaRPr lang="en-US" sz="1069" dirty="0"/>
          </a:p>
        </p:txBody>
      </p:sp>
      <p:sp>
        <p:nvSpPr>
          <p:cNvPr id="60" name="Text 56"/>
          <p:cNvSpPr/>
          <p:nvPr/>
        </p:nvSpPr>
        <p:spPr>
          <a:xfrm>
            <a:off x="8329613" y="4152081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61" name="Text 57"/>
          <p:cNvSpPr/>
          <p:nvPr/>
        </p:nvSpPr>
        <p:spPr>
          <a:xfrm>
            <a:off x="7281267" y="4137794"/>
            <a:ext cx="10981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نشر إنتاجي حي على Play</a:t>
            </a:r>
            <a:endParaRPr lang="en-US" sz="800" dirty="0"/>
          </a:p>
        </p:txBody>
      </p:sp>
      <p:sp>
        <p:nvSpPr>
          <p:cNvPr id="62" name="Text 58"/>
          <p:cNvSpPr/>
          <p:nvPr/>
        </p:nvSpPr>
        <p:spPr>
          <a:xfrm>
            <a:off x="6160926" y="4152081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63" name="Text 59"/>
          <p:cNvSpPr/>
          <p:nvPr/>
        </p:nvSpPr>
        <p:spPr>
          <a:xfrm>
            <a:off x="4482145" y="4137794"/>
            <a:ext cx="175907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تثبيت تراكبي فوق 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v1.0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يحفظ كل البيانات</a:t>
            </a:r>
            <a:endParaRPr lang="en-US" sz="731" dirty="0"/>
          </a:p>
        </p:txBody>
      </p:sp>
      <p:sp>
        <p:nvSpPr>
          <p:cNvPr id="64" name="Text 60"/>
          <p:cNvSpPr/>
          <p:nvPr/>
        </p:nvSpPr>
        <p:spPr>
          <a:xfrm>
            <a:off x="8329613" y="4334247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65" name="Text 61"/>
          <p:cNvSpPr/>
          <p:nvPr/>
        </p:nvSpPr>
        <p:spPr>
          <a:xfrm>
            <a:off x="7942904" y="4319960"/>
            <a:ext cx="4335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 أخضر</a:t>
            </a:r>
            <a:endParaRPr lang="en-US" sz="800" dirty="0"/>
          </a:p>
        </p:txBody>
      </p:sp>
      <p:sp>
        <p:nvSpPr>
          <p:cNvPr id="66" name="Text 62"/>
          <p:cNvSpPr/>
          <p:nvPr/>
        </p:nvSpPr>
        <p:spPr>
          <a:xfrm>
            <a:off x="6160926" y="4334247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67" name="Text 63"/>
          <p:cNvSpPr/>
          <p:nvPr/>
        </p:nvSpPr>
        <p:spPr>
          <a:xfrm>
            <a:off x="5354464" y="4319960"/>
            <a:ext cx="8865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مستخدماً فعليين</a:t>
            </a:r>
            <a:endParaRPr lang="en-US" sz="731" dirty="0"/>
          </a:p>
        </p:txBody>
      </p:sp>
      <p:sp>
        <p:nvSpPr>
          <p:cNvPr id="68" name="Text 64"/>
          <p:cNvSpPr/>
          <p:nvPr/>
        </p:nvSpPr>
        <p:spPr>
          <a:xfrm>
            <a:off x="582216" y="3802038"/>
            <a:ext cx="3413596" cy="959272"/>
          </a:xfrm>
          <a:prstGeom prst="roundRect">
            <a:avLst>
              <a:gd name="adj" fmla="val 13901"/>
            </a:avLst>
          </a:prstGeom>
          <a:solidFill>
            <a:srgbClr val="FBBF24">
              <a:alpha val="7000"/>
            </a:srgbClr>
          </a:solidFill>
          <a:ln w="7144">
            <a:solidFill>
              <a:srgbClr val="FBBF24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5"/>
          <p:cNvSpPr/>
          <p:nvPr/>
        </p:nvSpPr>
        <p:spPr>
          <a:xfrm>
            <a:off x="714375" y="3877047"/>
            <a:ext cx="3149278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معلمة النجاح</a:t>
            </a:r>
            <a:endParaRPr lang="en-US" sz="800" dirty="0"/>
          </a:p>
        </p:txBody>
      </p:sp>
      <p:sp>
        <p:nvSpPr>
          <p:cNvPr id="70" name="Text 66"/>
          <p:cNvSpPr/>
          <p:nvPr/>
        </p:nvSpPr>
        <p:spPr>
          <a:xfrm>
            <a:off x="714375" y="4023494"/>
            <a:ext cx="3149278" cy="662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013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التطبيق حي على Google Play بتقييم </a:t>
            </a:r>
            <a:pPr algn="l" indent="0" marL="0">
              <a:lnSpc>
                <a:spcPts val="2430"/>
              </a:lnSpc>
              <a:buNone/>
            </a:pPr>
            <a:r>
              <a:rPr lang="en-US" sz="1744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≥ 4.5</a:t>
            </a:r>
            <a:pPr algn="l" indent="0" marL="0">
              <a:lnSpc>
                <a:spcPts val="2430"/>
              </a:lnSpc>
              <a:buNone/>
            </a:pPr>
            <a:r>
              <a:rPr lang="en-US" sz="1013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خلال أول </a:t>
            </a:r>
            <a:pPr algn="l" indent="0" marL="0">
              <a:lnSpc>
                <a:spcPts val="2430"/>
              </a:lnSpc>
              <a:buNone/>
            </a:pPr>
            <a:r>
              <a:rPr lang="en-US" sz="1519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60</a:t>
            </a:r>
            <a:pPr algn="l" indent="0" marL="0">
              <a:lnSpc>
                <a:spcPts val="2430"/>
              </a:lnSpc>
              <a:buNone/>
            </a:pPr>
            <a:r>
              <a:rPr lang="en-US" sz="1013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يوماً من النشر</a:t>
            </a:r>
            <a:endParaRPr lang="en-US" sz="101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29438" y="-1428750"/>
            <a:ext cx="3357563" cy="3357563"/>
          </a:xfrm>
          <a:prstGeom prst="ellipse">
            <a:avLst/>
          </a:prstGeom>
          <a:solidFill>
            <a:srgbClr val="3B82F6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1071562" y="3571875"/>
            <a:ext cx="3071813" cy="3071813"/>
          </a:xfrm>
          <a:prstGeom prst="ellipse">
            <a:avLst/>
          </a:prstGeom>
          <a:solidFill>
            <a:srgbClr val="8B5CF6">
              <a:alpha val="1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347472" y="396478"/>
            <a:ext cx="392906" cy="392906"/>
          </a:xfrm>
          <a:prstGeom prst="roundRect">
            <a:avLst>
              <a:gd name="adj" fmla="val 38788"/>
            </a:avLst>
          </a:prstGeom>
          <a:solidFill>
            <a:srgbClr val="3B82F6">
              <a:alpha val="13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93728" y="442734"/>
            <a:ext cx="300395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9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2039" dirty="0"/>
          </a:p>
        </p:txBody>
      </p:sp>
      <p:sp>
        <p:nvSpPr>
          <p:cNvPr id="6" name="Text 4"/>
          <p:cNvSpPr/>
          <p:nvPr/>
        </p:nvSpPr>
        <p:spPr>
          <a:xfrm>
            <a:off x="7448587" y="294537"/>
            <a:ext cx="788157" cy="236030"/>
          </a:xfrm>
          <a:prstGeom prst="roundRect">
            <a:avLst>
              <a:gd name="adj" fmla="val 4031468"/>
            </a:avLst>
          </a:prstGeom>
          <a:solidFill>
            <a:srgbClr val="3B82F6">
              <a:alpha val="8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48587" y="307181"/>
            <a:ext cx="788157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الموجة 2 من 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947743" y="342900"/>
            <a:ext cx="5496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الشهر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4–9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86844" y="539353"/>
            <a:ext cx="5994890" cy="36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72"/>
              </a:lnSpc>
              <a:buNone/>
            </a:pPr>
            <a:r>
              <a:rPr lang="en-US" sz="2138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الموجة 2 — </a:t>
            </a:r>
            <a:pPr algn="l" indent="0" marL="0">
              <a:lnSpc>
                <a:spcPts val="2672"/>
              </a:lnSpc>
              <a:buNone/>
            </a:pPr>
            <a:r>
              <a:rPr lang="en-US" sz="2138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v2.5 → v3.0</a:t>
            </a:r>
            <a:pPr algn="l" indent="0" marL="0">
              <a:lnSpc>
                <a:spcPts val="2672"/>
              </a:lnSpc>
              <a:buNone/>
            </a:pPr>
            <a:r>
              <a:rPr lang="en-US" sz="2138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«الامتثال والتكامل»</a:t>
            </a:r>
            <a:endParaRPr lang="en-US" sz="2138" dirty="0"/>
          </a:p>
        </p:txBody>
      </p:sp>
      <p:sp>
        <p:nvSpPr>
          <p:cNvPr id="10" name="Text 8"/>
          <p:cNvSpPr/>
          <p:nvPr/>
        </p:nvSpPr>
        <p:spPr>
          <a:xfrm>
            <a:off x="400050" y="285750"/>
            <a:ext cx="2372506" cy="663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4838" b="1" dirty="0">
                <a:solidFill>
                  <a:srgbClr val="3B82F6">
                    <a:alpha val="1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W2</a:t>
            </a:r>
            <a:endParaRPr lang="en-US" sz="4838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1000125"/>
            <a:ext cx="8343900" cy="39004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03622" y="1003697"/>
            <a:ext cx="8336756" cy="3893344"/>
          </a:xfrm>
          <a:prstGeom prst="roundRect">
            <a:avLst>
              <a:gd name="adj" fmla="val 5382"/>
            </a:avLst>
          </a:prstGeom>
          <a:solidFill>
            <a:srgbClr val="3B82F6">
              <a:alpha val="6000"/>
            </a:srgbClr>
          </a:solidFill>
          <a:ln w="7144">
            <a:solidFill>
              <a:srgbClr val="3B82F6"/>
            </a:solidFill>
            <a:prstDash val="solid"/>
          </a:ln>
          <a:effectLst>
            <a:outerShdw sx="100000" sy="100000" kx="0" ky="0" algn="bl" rotWithShape="0" blurRad="666750" dist="247650" dir="5400000">
              <a:srgbClr val="000000">
                <a:alpha val="3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768453" y="1139428"/>
            <a:ext cx="3793331" cy="2366814"/>
          </a:xfrm>
          <a:prstGeom prst="roundRect">
            <a:avLst>
              <a:gd name="adj" fmla="val 5634"/>
            </a:avLst>
          </a:prstGeom>
          <a:solidFill>
            <a:srgbClr val="0B1026">
              <a:alpha val="55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254603" y="1251942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3B82F6">
              <a:alpha val="14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251031" y="1248370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أ</a:t>
            </a:r>
            <a:endParaRPr lang="en-US" sz="1069" dirty="0"/>
          </a:p>
        </p:txBody>
      </p:sp>
      <p:sp>
        <p:nvSpPr>
          <p:cNvPr id="16" name="Text 13"/>
          <p:cNvSpPr/>
          <p:nvPr/>
        </p:nvSpPr>
        <p:spPr>
          <a:xfrm>
            <a:off x="7684666" y="1243013"/>
            <a:ext cx="717963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المرحلة أ</a:t>
            </a:r>
            <a:endParaRPr lang="en-US" sz="1069" dirty="0"/>
          </a:p>
        </p:txBody>
      </p:sp>
      <p:sp>
        <p:nvSpPr>
          <p:cNvPr id="17" name="Text 14"/>
          <p:cNvSpPr/>
          <p:nvPr/>
        </p:nvSpPr>
        <p:spPr>
          <a:xfrm>
            <a:off x="4863465" y="1234797"/>
            <a:ext cx="846601" cy="220028"/>
          </a:xfrm>
          <a:prstGeom prst="roundRect">
            <a:avLst>
              <a:gd name="adj" fmla="val 4324665"/>
            </a:avLst>
          </a:prstGeom>
          <a:solidFill>
            <a:srgbClr val="3B82F6">
              <a:alpha val="10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886325" y="1246584"/>
            <a:ext cx="2784053" cy="232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v2.5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ش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4–6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393906" y="2078162"/>
            <a:ext cx="50006" cy="50006"/>
          </a:xfrm>
          <a:prstGeom prst="roundRect">
            <a:avLst>
              <a:gd name="adj" fmla="val 38095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784222" y="2021012"/>
            <a:ext cx="664612" cy="187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CSR/CSID</a:t>
            </a:r>
            <a:endParaRPr lang="en-US" sz="872" dirty="0"/>
          </a:p>
        </p:txBody>
      </p:sp>
      <p:sp>
        <p:nvSpPr>
          <p:cNvPr id="21" name="Text 18"/>
          <p:cNvSpPr/>
          <p:nvPr/>
        </p:nvSpPr>
        <p:spPr>
          <a:xfrm>
            <a:off x="8393906" y="2315691"/>
            <a:ext cx="50006" cy="50006"/>
          </a:xfrm>
          <a:prstGeom prst="roundRect">
            <a:avLst>
              <a:gd name="adj" fmla="val 38095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582086" y="2258541"/>
            <a:ext cx="861826" cy="187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UBL 2.1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كامل</a:t>
            </a:r>
            <a:endParaRPr lang="en-US" sz="872" dirty="0"/>
          </a:p>
        </p:txBody>
      </p:sp>
      <p:sp>
        <p:nvSpPr>
          <p:cNvPr id="23" name="Text 20"/>
          <p:cNvSpPr/>
          <p:nvPr/>
        </p:nvSpPr>
        <p:spPr>
          <a:xfrm>
            <a:off x="8393906" y="2553221"/>
            <a:ext cx="50006" cy="50006"/>
          </a:xfrm>
          <a:prstGeom prst="roundRect">
            <a:avLst>
              <a:gd name="adj" fmla="val 38095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7855781" y="2496071"/>
            <a:ext cx="588132" cy="187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ICV/PIH</a:t>
            </a:r>
            <a:endParaRPr lang="en-US" sz="872" dirty="0"/>
          </a:p>
        </p:txBody>
      </p:sp>
      <p:sp>
        <p:nvSpPr>
          <p:cNvPr id="25" name="Text 22"/>
          <p:cNvSpPr/>
          <p:nvPr/>
        </p:nvSpPr>
        <p:spPr>
          <a:xfrm>
            <a:off x="8393906" y="2790751"/>
            <a:ext cx="50006" cy="50006"/>
          </a:xfrm>
          <a:prstGeom prst="roundRect">
            <a:avLst>
              <a:gd name="adj" fmla="val 38095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7327813" y="2733601"/>
            <a:ext cx="1116099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تجربة sandbox كاملة</a:t>
            </a:r>
            <a:endParaRPr lang="en-US" sz="872" dirty="0"/>
          </a:p>
        </p:txBody>
      </p:sp>
      <p:sp>
        <p:nvSpPr>
          <p:cNvPr id="27" name="Shape 24"/>
          <p:cNvSpPr/>
          <p:nvPr/>
        </p:nvSpPr>
        <p:spPr>
          <a:xfrm>
            <a:off x="4572000" y="1207294"/>
            <a:ext cx="0" cy="2231082"/>
          </a:xfrm>
          <a:prstGeom prst="line">
            <a:avLst/>
          </a:prstGeom>
          <a:noFill/>
          <a:ln w="14288">
            <a:solidFill>
              <a:srgbClr val="3B82F6"/>
            </a:solidFill>
            <a:prstDash val="dash"/>
          </a:ln>
        </p:spPr>
      </p:sp>
      <p:sp>
        <p:nvSpPr>
          <p:cNvPr id="28" name="Text 25"/>
          <p:cNvSpPr/>
          <p:nvPr/>
        </p:nvSpPr>
        <p:spPr>
          <a:xfrm>
            <a:off x="4439841" y="2190676"/>
            <a:ext cx="264319" cy="264319"/>
          </a:xfrm>
          <a:prstGeom prst="ellipse">
            <a:avLst/>
          </a:prstGeom>
          <a:solidFill>
            <a:srgbClr val="3B82F6">
              <a:alpha val="1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468416" y="2219251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←</a:t>
            </a:r>
            <a:endParaRPr lang="en-US" sz="1406" dirty="0"/>
          </a:p>
        </p:txBody>
      </p:sp>
      <p:sp>
        <p:nvSpPr>
          <p:cNvPr id="30" name="Text 27"/>
          <p:cNvSpPr/>
          <p:nvPr/>
        </p:nvSpPr>
        <p:spPr>
          <a:xfrm>
            <a:off x="582216" y="1139428"/>
            <a:ext cx="3793331" cy="2366814"/>
          </a:xfrm>
          <a:prstGeom prst="roundRect">
            <a:avLst>
              <a:gd name="adj" fmla="val 5634"/>
            </a:avLst>
          </a:prstGeom>
          <a:solidFill>
            <a:srgbClr val="0B1026">
              <a:alpha val="55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068366" y="1251942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3B82F6">
              <a:alpha val="14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064794" y="1248370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ب</a:t>
            </a:r>
            <a:endParaRPr lang="en-US" sz="1069" dirty="0"/>
          </a:p>
        </p:txBody>
      </p:sp>
      <p:sp>
        <p:nvSpPr>
          <p:cNvPr id="33" name="Text 30"/>
          <p:cNvSpPr/>
          <p:nvPr/>
        </p:nvSpPr>
        <p:spPr>
          <a:xfrm>
            <a:off x="3405560" y="1243013"/>
            <a:ext cx="850765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المرحلة ب</a:t>
            </a:r>
            <a:endParaRPr lang="en-US" sz="1069" dirty="0"/>
          </a:p>
        </p:txBody>
      </p:sp>
      <p:sp>
        <p:nvSpPr>
          <p:cNvPr id="34" name="Text 31"/>
          <p:cNvSpPr/>
          <p:nvPr/>
        </p:nvSpPr>
        <p:spPr>
          <a:xfrm>
            <a:off x="677228" y="1234797"/>
            <a:ext cx="846601" cy="220028"/>
          </a:xfrm>
          <a:prstGeom prst="roundRect">
            <a:avLst>
              <a:gd name="adj" fmla="val 4324665"/>
            </a:avLst>
          </a:prstGeom>
          <a:solidFill>
            <a:srgbClr val="3B82F6">
              <a:alpha val="10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700088" y="1246584"/>
            <a:ext cx="2691185" cy="232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v3.0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ش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7–9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207669" y="2196926"/>
            <a:ext cx="50006" cy="50006"/>
          </a:xfrm>
          <a:prstGeom prst="roundRect">
            <a:avLst>
              <a:gd name="adj" fmla="val 38095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2603004" y="2139776"/>
            <a:ext cx="1655886" cy="187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Reporting/Clearance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الحية</a:t>
            </a:r>
            <a:endParaRPr lang="en-US" sz="872" dirty="0"/>
          </a:p>
        </p:txBody>
      </p:sp>
      <p:sp>
        <p:nvSpPr>
          <p:cNvPr id="38" name="Text 35"/>
          <p:cNvSpPr/>
          <p:nvPr/>
        </p:nvSpPr>
        <p:spPr>
          <a:xfrm>
            <a:off x="4207669" y="2434456"/>
            <a:ext cx="50006" cy="50006"/>
          </a:xfrm>
          <a:prstGeom prst="roundRect">
            <a:avLst>
              <a:gd name="adj" fmla="val 38095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2767310" y="2377306"/>
            <a:ext cx="1478435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الإشعارات الدائنة والخصومات</a:t>
            </a:r>
            <a:endParaRPr lang="en-US" sz="872" dirty="0"/>
          </a:p>
        </p:txBody>
      </p:sp>
      <p:sp>
        <p:nvSpPr>
          <p:cNvPr id="40" name="Text 37"/>
          <p:cNvSpPr/>
          <p:nvPr/>
        </p:nvSpPr>
        <p:spPr>
          <a:xfrm>
            <a:off x="4207669" y="2664842"/>
            <a:ext cx="50006" cy="50006"/>
          </a:xfrm>
          <a:prstGeom prst="roundRect">
            <a:avLst>
              <a:gd name="adj" fmla="val 38095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1855924" y="2607692"/>
            <a:ext cx="2462732" cy="187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تكاملات التصدير (سلة/زد + مطابقة بنكية 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MT940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872" dirty="0"/>
          </a:p>
        </p:txBody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31" y="3602682"/>
            <a:ext cx="7958138" cy="7144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8365331" y="375337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547" dirty="0"/>
          </a:p>
        </p:txBody>
      </p:sp>
      <p:sp>
        <p:nvSpPr>
          <p:cNvPr id="44" name="Text 40"/>
          <p:cNvSpPr/>
          <p:nvPr/>
        </p:nvSpPr>
        <p:spPr>
          <a:xfrm>
            <a:off x="7600950" y="3688407"/>
            <a:ext cx="964406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الجهد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7567955" y="3813423"/>
            <a:ext cx="869747" cy="175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72" b="1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10–14</a:t>
            </a:r>
            <a:pPr algn="l" indent="0" marL="0">
              <a:lnSpc>
                <a:spcPts val="1221"/>
              </a:lnSpc>
              <a:buNone/>
            </a:pPr>
            <a:r>
              <a:rPr lang="en-US" sz="872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أسبوعاً</a:t>
            </a:r>
            <a:endParaRPr lang="en-US" sz="872" dirty="0"/>
          </a:p>
        </p:txBody>
      </p:sp>
      <p:sp>
        <p:nvSpPr>
          <p:cNvPr id="46" name="Text 42"/>
          <p:cNvSpPr/>
          <p:nvPr/>
        </p:nvSpPr>
        <p:spPr>
          <a:xfrm>
            <a:off x="6343650" y="3703365"/>
            <a:ext cx="7144" cy="257175"/>
          </a:xfrm>
          <a:prstGeom prst="rect">
            <a:avLst/>
          </a:prstGeom>
          <a:solidFill>
            <a:srgbClr val="8B5CF6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6043613" y="375337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48" name="Text 44"/>
          <p:cNvSpPr/>
          <p:nvPr/>
        </p:nvSpPr>
        <p:spPr>
          <a:xfrm>
            <a:off x="4943921" y="3691979"/>
            <a:ext cx="1307021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الصعوبة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4943921" y="3816995"/>
            <a:ext cx="1196741" cy="167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72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عالية (عوامل خارجية)</a:t>
            </a:r>
            <a:endParaRPr lang="en-US" sz="872" dirty="0"/>
          </a:p>
        </p:txBody>
      </p:sp>
      <p:sp>
        <p:nvSpPr>
          <p:cNvPr id="50" name="Text 46"/>
          <p:cNvSpPr/>
          <p:nvPr/>
        </p:nvSpPr>
        <p:spPr>
          <a:xfrm>
            <a:off x="4021931" y="3703365"/>
            <a:ext cx="7144" cy="257175"/>
          </a:xfrm>
          <a:prstGeom prst="rect">
            <a:avLst/>
          </a:prstGeom>
          <a:solidFill>
            <a:srgbClr val="8B5CF6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3721894" y="375337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547" dirty="0"/>
          </a:p>
        </p:txBody>
      </p:sp>
      <p:sp>
        <p:nvSpPr>
          <p:cNvPr id="52" name="Text 48"/>
          <p:cNvSpPr/>
          <p:nvPr/>
        </p:nvSpPr>
        <p:spPr>
          <a:xfrm>
            <a:off x="1125029" y="3691979"/>
            <a:ext cx="3223403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متطلبات</a:t>
            </a:r>
            <a:endParaRPr lang="en-US" sz="800" dirty="0"/>
          </a:p>
        </p:txBody>
      </p:sp>
      <p:sp>
        <p:nvSpPr>
          <p:cNvPr id="53" name="Text 49"/>
          <p:cNvSpPr/>
          <p:nvPr/>
        </p:nvSpPr>
        <p:spPr>
          <a:xfrm>
            <a:off x="1125029" y="3816995"/>
            <a:ext cx="2719746" cy="167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72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حساب منصة فاتورة تجريبي + رقم ضريبي حي للتجربة</a:t>
            </a:r>
            <a:endParaRPr lang="en-US" sz="872" dirty="0"/>
          </a:p>
        </p:txBody>
      </p:sp>
      <p:sp>
        <p:nvSpPr>
          <p:cNvPr id="54" name="Text 50"/>
          <p:cNvSpPr/>
          <p:nvPr/>
        </p:nvSpPr>
        <p:spPr>
          <a:xfrm>
            <a:off x="4280111" y="4064794"/>
            <a:ext cx="4281674" cy="696516"/>
          </a:xfrm>
          <a:prstGeom prst="roundRect">
            <a:avLst>
              <a:gd name="adj" fmla="val 19145"/>
            </a:avLst>
          </a:prstGeom>
          <a:solidFill>
            <a:srgbClr val="34D399">
              <a:alpha val="8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8315325" y="4180880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36" dirty="0"/>
          </a:p>
        </p:txBody>
      </p:sp>
      <p:sp>
        <p:nvSpPr>
          <p:cNvPr id="56" name="Text 52"/>
          <p:cNvSpPr/>
          <p:nvPr/>
        </p:nvSpPr>
        <p:spPr>
          <a:xfrm>
            <a:off x="7512701" y="4146947"/>
            <a:ext cx="957231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معايير القبول</a:t>
            </a:r>
            <a:endParaRPr lang="en-US" sz="1069" dirty="0"/>
          </a:p>
        </p:txBody>
      </p:sp>
      <p:sp>
        <p:nvSpPr>
          <p:cNvPr id="57" name="Text 53"/>
          <p:cNvSpPr/>
          <p:nvPr/>
        </p:nvSpPr>
        <p:spPr>
          <a:xfrm>
            <a:off x="8329613" y="4414838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58" name="Text 54"/>
          <p:cNvSpPr/>
          <p:nvPr/>
        </p:nvSpPr>
        <p:spPr>
          <a:xfrm>
            <a:off x="7154800" y="4400550"/>
            <a:ext cx="114980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compliance sandbox بنسبة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800" dirty="0"/>
          </a:p>
        </p:txBody>
      </p:sp>
      <p:sp>
        <p:nvSpPr>
          <p:cNvPr id="59" name="Text 55"/>
          <p:cNvSpPr/>
          <p:nvPr/>
        </p:nvSpPr>
        <p:spPr>
          <a:xfrm>
            <a:off x="6947632" y="4414838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60" name="Text 56"/>
          <p:cNvSpPr/>
          <p:nvPr/>
        </p:nvSpPr>
        <p:spPr>
          <a:xfrm>
            <a:off x="5772820" y="4400550"/>
            <a:ext cx="1192294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أول فاتورة معتمدة حية من منصة ZATCA</a:t>
            </a:r>
            <a:endParaRPr lang="en-US" sz="800" dirty="0"/>
          </a:p>
        </p:txBody>
      </p:sp>
      <p:sp>
        <p:nvSpPr>
          <p:cNvPr id="61" name="Text 57"/>
          <p:cNvSpPr/>
          <p:nvPr/>
        </p:nvSpPr>
        <p:spPr>
          <a:xfrm>
            <a:off x="5565651" y="4414838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62" name="Text 58"/>
          <p:cNvSpPr/>
          <p:nvPr/>
        </p:nvSpPr>
        <p:spPr>
          <a:xfrm>
            <a:off x="4648907" y="4400550"/>
            <a:ext cx="1015817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يُقبل بلا ملاحظات</a:t>
            </a:r>
            <a:endParaRPr lang="en-US" sz="800" dirty="0"/>
          </a:p>
        </p:txBody>
      </p:sp>
      <p:sp>
        <p:nvSpPr>
          <p:cNvPr id="63" name="Text 59"/>
          <p:cNvSpPr/>
          <p:nvPr/>
        </p:nvSpPr>
        <p:spPr>
          <a:xfrm>
            <a:off x="582216" y="4064794"/>
            <a:ext cx="3605026" cy="696516"/>
          </a:xfrm>
          <a:prstGeom prst="roundRect">
            <a:avLst>
              <a:gd name="adj" fmla="val 19145"/>
            </a:avLst>
          </a:prstGeom>
          <a:solidFill>
            <a:srgbClr val="FB923C">
              <a:alpha val="8000"/>
            </a:srgbClr>
          </a:solidFill>
          <a:ln w="7144">
            <a:solidFill>
              <a:srgbClr val="FB923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0"/>
          <p:cNvSpPr/>
          <p:nvPr/>
        </p:nvSpPr>
        <p:spPr>
          <a:xfrm>
            <a:off x="3905064" y="432732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B92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65" name="Text 61"/>
          <p:cNvSpPr/>
          <p:nvPr/>
        </p:nvSpPr>
        <p:spPr>
          <a:xfrm>
            <a:off x="692944" y="4203092"/>
            <a:ext cx="3383570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B92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تحوط</a:t>
            </a:r>
            <a:endParaRPr lang="en-US" sz="800" dirty="0"/>
          </a:p>
        </p:txBody>
      </p:sp>
      <p:sp>
        <p:nvSpPr>
          <p:cNvPr id="66" name="Text 62"/>
          <p:cNvSpPr/>
          <p:nvPr/>
        </p:nvSpPr>
        <p:spPr>
          <a:xfrm>
            <a:off x="692944" y="4335252"/>
            <a:ext cx="3126395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إن تأخر الاعتماد الحكومي تُقدَّم تكاملات التصدير والمطابقة البنكية — الموجة مرنة الترتيب داخلياً ولا توقف الإيقاع أبداً.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29438" y="-1428750"/>
            <a:ext cx="3357563" cy="3357563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1071562" y="3571875"/>
            <a:ext cx="3071813" cy="3071813"/>
          </a:xfrm>
          <a:prstGeom prst="ellipse">
            <a:avLst/>
          </a:prstGeom>
          <a:solidFill>
            <a:srgbClr val="8B5CF6">
              <a:alpha val="1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347472" y="396478"/>
            <a:ext cx="392906" cy="392906"/>
          </a:xfrm>
          <a:prstGeom prst="roundRect">
            <a:avLst>
              <a:gd name="adj" fmla="val 38788"/>
            </a:avLst>
          </a:prstGeom>
          <a:solidFill>
            <a:srgbClr val="22D3EE">
              <a:alpha val="12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93728" y="442734"/>
            <a:ext cx="300395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9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2039" dirty="0"/>
          </a:p>
        </p:txBody>
      </p:sp>
      <p:sp>
        <p:nvSpPr>
          <p:cNvPr id="6" name="Text 4"/>
          <p:cNvSpPr/>
          <p:nvPr/>
        </p:nvSpPr>
        <p:spPr>
          <a:xfrm>
            <a:off x="7448587" y="294537"/>
            <a:ext cx="788157" cy="236030"/>
          </a:xfrm>
          <a:prstGeom prst="roundRect">
            <a:avLst>
              <a:gd name="adj" fmla="val 4031468"/>
            </a:avLst>
          </a:prstGeom>
          <a:solidFill>
            <a:srgbClr val="22D3EE">
              <a:alpha val="8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48587" y="307181"/>
            <a:ext cx="788157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الموجة 3 من 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07998" y="342900"/>
            <a:ext cx="6901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الشهر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10–15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094025" y="539353"/>
            <a:ext cx="5656991" cy="36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72"/>
              </a:lnSpc>
              <a:buNone/>
            </a:pPr>
            <a:r>
              <a:rPr lang="en-US" sz="2138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الموجة 3 — </a:t>
            </a:r>
            <a:pPr algn="l" indent="0" marL="0">
              <a:lnSpc>
                <a:spcPts val="2672"/>
              </a:lnSpc>
              <a:buNone/>
            </a:pPr>
            <a:r>
              <a:rPr lang="en-US" sz="2138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v3.5 → v4.0</a:t>
            </a:r>
            <a:pPr algn="l" indent="0" marL="0">
              <a:lnSpc>
                <a:spcPts val="2672"/>
              </a:lnSpc>
              <a:buNone/>
            </a:pPr>
            <a:r>
              <a:rPr lang="en-US" sz="2138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«الذكاء المحلي»</a:t>
            </a:r>
            <a:endParaRPr lang="en-US" sz="2138" dirty="0"/>
          </a:p>
        </p:txBody>
      </p:sp>
      <p:sp>
        <p:nvSpPr>
          <p:cNvPr id="10" name="Text 8"/>
          <p:cNvSpPr/>
          <p:nvPr/>
        </p:nvSpPr>
        <p:spPr>
          <a:xfrm>
            <a:off x="400050" y="285750"/>
            <a:ext cx="2679688" cy="663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4838" b="1" dirty="0">
                <a:solidFill>
                  <a:srgbClr val="22D3EE">
                    <a:alpha val="1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W3</a:t>
            </a:r>
            <a:endParaRPr lang="en-US" sz="4838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1000125"/>
            <a:ext cx="8343900" cy="39004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03622" y="1003697"/>
            <a:ext cx="8336756" cy="3893344"/>
          </a:xfrm>
          <a:prstGeom prst="roundRect">
            <a:avLst>
              <a:gd name="adj" fmla="val 5382"/>
            </a:avLst>
          </a:prstGeom>
          <a:solidFill>
            <a:srgbClr val="22D3EE">
              <a:alpha val="5000"/>
            </a:srgbClr>
          </a:solidFill>
          <a:ln w="7144">
            <a:solidFill>
              <a:srgbClr val="22D3EE"/>
            </a:solidFill>
            <a:prstDash val="solid"/>
          </a:ln>
          <a:effectLst>
            <a:outerShdw sx="100000" sy="100000" kx="0" ky="0" algn="bl" rotWithShape="0" blurRad="666750" dist="247650" dir="5400000">
              <a:srgbClr val="000000">
                <a:alpha val="3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998491" y="1139428"/>
            <a:ext cx="4563294" cy="1237655"/>
          </a:xfrm>
          <a:prstGeom prst="roundRect">
            <a:avLst>
              <a:gd name="adj" fmla="val 10774"/>
            </a:avLst>
          </a:prstGeom>
          <a:solidFill>
            <a:srgbClr val="0B1026">
              <a:alpha val="55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022231" y="1228725"/>
            <a:ext cx="464855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v3.5</a:t>
            </a:r>
            <a:endParaRPr lang="en-US" sz="1238" dirty="0"/>
          </a:p>
        </p:txBody>
      </p:sp>
      <p:sp>
        <p:nvSpPr>
          <p:cNvPr id="15" name="Text 12"/>
          <p:cNvSpPr/>
          <p:nvPr/>
        </p:nvSpPr>
        <p:spPr>
          <a:xfrm>
            <a:off x="7464437" y="1256586"/>
            <a:ext cx="529530" cy="180023"/>
          </a:xfrm>
          <a:prstGeom prst="roundRect">
            <a:avLst>
              <a:gd name="adj" fmla="val 5285700"/>
            </a:avLst>
          </a:prstGeom>
          <a:solidFill>
            <a:srgbClr val="22D3EE">
              <a:alpha val="8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822518" y="1301948"/>
            <a:ext cx="207169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ش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535787" y="1287661"/>
            <a:ext cx="38683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10–12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393906" y="1659136"/>
            <a:ext cx="50006" cy="50006"/>
          </a:xfrm>
          <a:prstGeom prst="roundRect">
            <a:avLst>
              <a:gd name="adj" fmla="val 38095"/>
            </a:avLst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029785" y="1601986"/>
            <a:ext cx="1414128" cy="187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موجات 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R16–R18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الإحصائية</a:t>
            </a:r>
            <a:endParaRPr lang="en-US" sz="872" dirty="0"/>
          </a:p>
        </p:txBody>
      </p:sp>
      <p:sp>
        <p:nvSpPr>
          <p:cNvPr id="20" name="Text 17"/>
          <p:cNvSpPr/>
          <p:nvPr/>
        </p:nvSpPr>
        <p:spPr>
          <a:xfrm>
            <a:off x="8393906" y="1882378"/>
            <a:ext cx="50006" cy="50006"/>
          </a:xfrm>
          <a:prstGeom prst="roundRect">
            <a:avLst>
              <a:gd name="adj" fmla="val 38095"/>
            </a:avLst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404037" y="1825228"/>
            <a:ext cx="2071906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محرك سياق يجمع تجميعات آمنة للمساعد</a:t>
            </a:r>
            <a:endParaRPr lang="en-US" sz="872" dirty="0"/>
          </a:p>
        </p:txBody>
      </p:sp>
      <p:sp>
        <p:nvSpPr>
          <p:cNvPr id="22" name="Text 19"/>
          <p:cNvSpPr/>
          <p:nvPr/>
        </p:nvSpPr>
        <p:spPr>
          <a:xfrm>
            <a:off x="8393906" y="2098477"/>
            <a:ext cx="50006" cy="50006"/>
          </a:xfrm>
          <a:prstGeom prst="roundRect">
            <a:avLst>
              <a:gd name="adj" fmla="val 38095"/>
            </a:avLst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7432179" y="2041327"/>
            <a:ext cx="1011734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لوحة استباقية أولى</a:t>
            </a:r>
            <a:endParaRPr lang="en-US" sz="872" dirty="0"/>
          </a:p>
        </p:txBody>
      </p:sp>
      <p:sp>
        <p:nvSpPr>
          <p:cNvPr id="24" name="Text 21"/>
          <p:cNvSpPr/>
          <p:nvPr/>
        </p:nvSpPr>
        <p:spPr>
          <a:xfrm>
            <a:off x="6201556" y="240923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547" dirty="0"/>
          </a:p>
        </p:txBody>
      </p:sp>
      <p:sp>
        <p:nvSpPr>
          <p:cNvPr id="25" name="Text 22"/>
          <p:cNvSpPr/>
          <p:nvPr/>
        </p:nvSpPr>
        <p:spPr>
          <a:xfrm>
            <a:off x="3998491" y="2598539"/>
            <a:ext cx="4563294" cy="1237655"/>
          </a:xfrm>
          <a:prstGeom prst="roundRect">
            <a:avLst>
              <a:gd name="adj" fmla="val 10774"/>
            </a:avLst>
          </a:prstGeom>
          <a:solidFill>
            <a:srgbClr val="0B1026">
              <a:alpha val="55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8022231" y="2687836"/>
            <a:ext cx="464855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v4.0</a:t>
            </a:r>
            <a:endParaRPr lang="en-US" sz="1238" dirty="0"/>
          </a:p>
        </p:txBody>
      </p:sp>
      <p:sp>
        <p:nvSpPr>
          <p:cNvPr id="27" name="Text 24"/>
          <p:cNvSpPr/>
          <p:nvPr/>
        </p:nvSpPr>
        <p:spPr>
          <a:xfrm>
            <a:off x="7464437" y="2715697"/>
            <a:ext cx="529530" cy="180023"/>
          </a:xfrm>
          <a:prstGeom prst="roundRect">
            <a:avLst>
              <a:gd name="adj" fmla="val 5285700"/>
            </a:avLst>
          </a:prstGeom>
          <a:solidFill>
            <a:srgbClr val="22D3EE">
              <a:alpha val="8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7822518" y="2761059"/>
            <a:ext cx="207169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ش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535787" y="2746772"/>
            <a:ext cx="38683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13–15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393906" y="3114675"/>
            <a:ext cx="50006" cy="50006"/>
          </a:xfrm>
          <a:prstGeom prst="roundRect">
            <a:avLst>
              <a:gd name="adj" fmla="val 38095"/>
            </a:avLst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296631" y="3057525"/>
            <a:ext cx="4061557" cy="187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SuperBiz Advisor الجهازي (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Gemma 4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عبر MediaPipe / 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Nano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عبر AI Edge)</a:t>
            </a:r>
            <a:endParaRPr lang="en-US" sz="872" dirty="0"/>
          </a:p>
        </p:txBody>
      </p:sp>
      <p:sp>
        <p:nvSpPr>
          <p:cNvPr id="32" name="Text 29"/>
          <p:cNvSpPr/>
          <p:nvPr/>
        </p:nvSpPr>
        <p:spPr>
          <a:xfrm>
            <a:off x="8393906" y="3337917"/>
            <a:ext cx="50006" cy="50006"/>
          </a:xfrm>
          <a:prstGeom prst="roundRect">
            <a:avLst>
              <a:gd name="adj" fmla="val 38095"/>
            </a:avLst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7489217" y="3280767"/>
            <a:ext cx="954695" cy="187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موجات 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R19–R20</a:t>
            </a:r>
            <a:endParaRPr lang="en-US" sz="872" dirty="0"/>
          </a:p>
        </p:txBody>
      </p:sp>
      <p:sp>
        <p:nvSpPr>
          <p:cNvPr id="34" name="Text 31"/>
          <p:cNvSpPr/>
          <p:nvPr/>
        </p:nvSpPr>
        <p:spPr>
          <a:xfrm>
            <a:off x="8393906" y="3561159"/>
            <a:ext cx="50006" cy="50006"/>
          </a:xfrm>
          <a:prstGeom prst="roundRect">
            <a:avLst>
              <a:gd name="adj" fmla="val 38095"/>
            </a:avLst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7355830" y="3504009"/>
            <a:ext cx="1088082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محاكي السيناريوهات</a:t>
            </a:r>
            <a:endParaRPr lang="en-US" sz="872" dirty="0"/>
          </a:p>
        </p:txBody>
      </p:sp>
      <p:sp>
        <p:nvSpPr>
          <p:cNvPr id="36" name="Text 33"/>
          <p:cNvSpPr/>
          <p:nvPr/>
        </p:nvSpPr>
        <p:spPr>
          <a:xfrm>
            <a:off x="3859188" y="1135856"/>
            <a:ext cx="7144" cy="2703909"/>
          </a:xfrm>
          <a:prstGeom prst="rect">
            <a:avLst/>
          </a:prstGeom>
          <a:solidFill>
            <a:srgbClr val="8B5CF6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582216" y="1139428"/>
            <a:ext cx="3144813" cy="1272034"/>
          </a:xfrm>
          <a:prstGeom prst="roundRect">
            <a:avLst>
              <a:gd name="adj" fmla="val 10483"/>
            </a:avLst>
          </a:prstGeom>
          <a:solidFill>
            <a:srgbClr val="1A2447"/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3466281" y="1297260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477" dirty="0"/>
          </a:p>
        </p:txBody>
      </p:sp>
      <p:sp>
        <p:nvSpPr>
          <p:cNvPr id="39" name="Text 36"/>
          <p:cNvSpPr/>
          <p:nvPr/>
        </p:nvSpPr>
        <p:spPr>
          <a:xfrm>
            <a:off x="2701900" y="1228725"/>
            <a:ext cx="914400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الجهد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2668905" y="1353741"/>
            <a:ext cx="869747" cy="175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72" b="1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10–12</a:t>
            </a:r>
            <a:pPr algn="l" indent="0" marL="0">
              <a:lnSpc>
                <a:spcPts val="1221"/>
              </a:lnSpc>
              <a:buNone/>
            </a:pPr>
            <a:r>
              <a:rPr lang="en-US" sz="872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أسبوعاً</a:t>
            </a:r>
            <a:endParaRPr lang="en-US" sz="872" dirty="0"/>
          </a:p>
        </p:txBody>
      </p:sp>
      <p:sp>
        <p:nvSpPr>
          <p:cNvPr id="41" name="Text 38"/>
          <p:cNvSpPr/>
          <p:nvPr/>
        </p:nvSpPr>
        <p:spPr>
          <a:xfrm>
            <a:off x="692944" y="1580108"/>
            <a:ext cx="2923356" cy="7144"/>
          </a:xfrm>
          <a:prstGeom prst="rect">
            <a:avLst/>
          </a:prstGeom>
          <a:solidFill>
            <a:srgbClr val="8B5CF6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3466281" y="1716509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77" dirty="0"/>
          </a:p>
        </p:txBody>
      </p:sp>
      <p:sp>
        <p:nvSpPr>
          <p:cNvPr id="43" name="Text 40"/>
          <p:cNvSpPr/>
          <p:nvPr/>
        </p:nvSpPr>
        <p:spPr>
          <a:xfrm>
            <a:off x="2250058" y="1651546"/>
            <a:ext cx="1366242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الصعوبة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2250058" y="1776561"/>
            <a:ext cx="1228654" cy="167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72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عالية تقنياً (توافق أجهزة)</a:t>
            </a:r>
            <a:endParaRPr lang="en-US" sz="872" dirty="0"/>
          </a:p>
        </p:txBody>
      </p:sp>
      <p:sp>
        <p:nvSpPr>
          <p:cNvPr id="45" name="Text 42"/>
          <p:cNvSpPr/>
          <p:nvPr/>
        </p:nvSpPr>
        <p:spPr>
          <a:xfrm>
            <a:off x="692944" y="1995785"/>
            <a:ext cx="2923356" cy="7144"/>
          </a:xfrm>
          <a:prstGeom prst="rect">
            <a:avLst/>
          </a:prstGeom>
          <a:solidFill>
            <a:srgbClr val="8B5CF6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3466281" y="2081510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47" name="Text 44"/>
          <p:cNvSpPr/>
          <p:nvPr/>
        </p:nvSpPr>
        <p:spPr>
          <a:xfrm>
            <a:off x="1139986" y="2067223"/>
            <a:ext cx="2476314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متطلبات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1139986" y="2192238"/>
            <a:ext cx="2247714" cy="12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جهاز </a:t>
            </a:r>
            <a:pPr algn="l" indent="0" marL="0">
              <a:lnSpc>
                <a:spcPts val="1024"/>
              </a:lnSpc>
              <a:buNone/>
            </a:pPr>
            <a:r>
              <a:rPr lang="en-US" sz="731" b="1" dirty="0">
                <a:solidFill>
                  <a:srgbClr val="E7E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</a:t>
            </a:r>
            <a:pPr algn="l" indent="0" marL="0">
              <a:lnSpc>
                <a:spcPts val="1024"/>
              </a:lnSpc>
              <a:buNone/>
            </a:pPr>
            <a:r>
              <a:rPr lang="en-US" sz="731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حديث للاختبار + أجهزة مرجعية ضعيفة للفحص</a:t>
            </a:r>
            <a:endParaRPr lang="en-US" sz="731" dirty="0"/>
          </a:p>
        </p:txBody>
      </p:sp>
      <p:sp>
        <p:nvSpPr>
          <p:cNvPr id="49" name="Text 46"/>
          <p:cNvSpPr/>
          <p:nvPr/>
        </p:nvSpPr>
        <p:spPr>
          <a:xfrm>
            <a:off x="582216" y="2504331"/>
            <a:ext cx="3144813" cy="1331863"/>
          </a:xfrm>
          <a:prstGeom prst="roundRect">
            <a:avLst>
              <a:gd name="adj" fmla="val 10012"/>
            </a:avLst>
          </a:prstGeom>
          <a:solidFill>
            <a:srgbClr val="FB923C">
              <a:alpha val="8000"/>
            </a:srgbClr>
          </a:solidFill>
          <a:ln w="7144">
            <a:solidFill>
              <a:srgbClr val="FB923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3444850" y="308453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B92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51" name="Text 48"/>
          <p:cNvSpPr/>
          <p:nvPr/>
        </p:nvSpPr>
        <p:spPr>
          <a:xfrm>
            <a:off x="692944" y="2955615"/>
            <a:ext cx="2923356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B92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تحوط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692944" y="3087774"/>
            <a:ext cx="2666181" cy="35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الطبقة الإحصائية مستقلة كلياً — على الأجهزة غير الداعمة تبقى كل الرؤئية الحسابية كاملة 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pic>
        <p:nvPicPr>
          <p:cNvPr id="5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31" y="3932634"/>
            <a:ext cx="7958138" cy="7144"/>
          </a:xfrm>
          <a:prstGeom prst="rect">
            <a:avLst/>
          </a:prstGeom>
        </p:spPr>
      </p:pic>
      <p:sp>
        <p:nvSpPr>
          <p:cNvPr id="54" name="Text 50"/>
          <p:cNvSpPr/>
          <p:nvPr/>
        </p:nvSpPr>
        <p:spPr>
          <a:xfrm>
            <a:off x="582216" y="4021931"/>
            <a:ext cx="7979569" cy="739378"/>
          </a:xfrm>
          <a:prstGeom prst="roundRect">
            <a:avLst>
              <a:gd name="adj" fmla="val 18035"/>
            </a:avLst>
          </a:prstGeom>
          <a:solidFill>
            <a:srgbClr val="34D399">
              <a:alpha val="8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8315325" y="4138017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36" dirty="0"/>
          </a:p>
        </p:txBody>
      </p:sp>
      <p:sp>
        <p:nvSpPr>
          <p:cNvPr id="56" name="Text 52"/>
          <p:cNvSpPr/>
          <p:nvPr/>
        </p:nvSpPr>
        <p:spPr>
          <a:xfrm>
            <a:off x="7512701" y="4104084"/>
            <a:ext cx="957231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معايير القبول</a:t>
            </a:r>
            <a:endParaRPr lang="en-US" sz="1069" dirty="0"/>
          </a:p>
        </p:txBody>
      </p:sp>
      <p:sp>
        <p:nvSpPr>
          <p:cNvPr id="57" name="Text 53"/>
          <p:cNvSpPr/>
          <p:nvPr/>
        </p:nvSpPr>
        <p:spPr>
          <a:xfrm>
            <a:off x="8329613" y="4371975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58" name="Text 54"/>
          <p:cNvSpPr/>
          <p:nvPr/>
        </p:nvSpPr>
        <p:spPr>
          <a:xfrm>
            <a:off x="6996075" y="4357688"/>
            <a:ext cx="13862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دقة تنبؤ 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≥85%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على نوافذ 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يوماً</a:t>
            </a:r>
            <a:endParaRPr lang="en-US" sz="731" dirty="0"/>
          </a:p>
        </p:txBody>
      </p:sp>
      <p:sp>
        <p:nvSpPr>
          <p:cNvPr id="59" name="Text 55"/>
          <p:cNvSpPr/>
          <p:nvPr/>
        </p:nvSpPr>
        <p:spPr>
          <a:xfrm>
            <a:off x="4386263" y="4371975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60" name="Text 56"/>
          <p:cNvSpPr/>
          <p:nvPr/>
        </p:nvSpPr>
        <p:spPr>
          <a:xfrm>
            <a:off x="3693988" y="4357688"/>
            <a:ext cx="752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استجابة 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&lt;3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ثوانٍ</a:t>
            </a:r>
            <a:endParaRPr lang="en-US" sz="731" dirty="0"/>
          </a:p>
        </p:txBody>
      </p:sp>
      <p:sp>
        <p:nvSpPr>
          <p:cNvPr id="61" name="Text 57"/>
          <p:cNvSpPr/>
          <p:nvPr/>
        </p:nvSpPr>
        <p:spPr>
          <a:xfrm>
            <a:off x="8329613" y="4554141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62" name="Text 58"/>
          <p:cNvSpPr/>
          <p:nvPr/>
        </p:nvSpPr>
        <p:spPr>
          <a:xfrm>
            <a:off x="7119082" y="4539853"/>
            <a:ext cx="125336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صفر طلبات شبكة مثبتة اختباراً</a:t>
            </a:r>
            <a:endParaRPr lang="en-US" sz="731" dirty="0"/>
          </a:p>
        </p:txBody>
      </p:sp>
      <p:sp>
        <p:nvSpPr>
          <p:cNvPr id="63" name="Text 59"/>
          <p:cNvSpPr/>
          <p:nvPr/>
        </p:nvSpPr>
        <p:spPr>
          <a:xfrm>
            <a:off x="4386263" y="4554141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64" name="Text 60"/>
          <p:cNvSpPr/>
          <p:nvPr/>
        </p:nvSpPr>
        <p:spPr>
          <a:xfrm>
            <a:off x="1979488" y="4539853"/>
            <a:ext cx="238177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الميزة معطلة افتراضياً وتتفعل بأمان على الأجهزة غير الداعمة</a:t>
            </a:r>
            <a:endParaRPr lang="en-US" sz="73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29438" y="-1428750"/>
            <a:ext cx="3286125" cy="3286125"/>
          </a:xfrm>
          <a:prstGeom prst="ellipse">
            <a:avLst/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1071562" y="3357563"/>
            <a:ext cx="3286125" cy="3286125"/>
          </a:xfrm>
          <a:prstGeom prst="ellipse">
            <a:avLst/>
          </a:prstGeom>
          <a:solidFill>
            <a:srgbClr val="8B5CF6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376047" y="544711"/>
            <a:ext cx="364331" cy="392906"/>
          </a:xfrm>
          <a:prstGeom prst="roundRect">
            <a:avLst>
              <a:gd name="adj" fmla="val 41830"/>
            </a:avLst>
          </a:prstGeom>
          <a:solidFill>
            <a:srgbClr val="34D399">
              <a:alpha val="12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418374" y="601325"/>
            <a:ext cx="279678" cy="2796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98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898" dirty="0"/>
          </a:p>
        </p:txBody>
      </p:sp>
      <p:sp>
        <p:nvSpPr>
          <p:cNvPr id="6" name="Text 4"/>
          <p:cNvSpPr/>
          <p:nvPr/>
        </p:nvSpPr>
        <p:spPr>
          <a:xfrm>
            <a:off x="7961709" y="544711"/>
            <a:ext cx="364331" cy="392906"/>
          </a:xfrm>
          <a:prstGeom prst="roundRect">
            <a:avLst>
              <a:gd name="adj" fmla="val 41830"/>
            </a:avLst>
          </a:prstGeom>
          <a:solidFill>
            <a:srgbClr val="8B5CF6">
              <a:alpha val="14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04036" y="601325"/>
            <a:ext cx="279678" cy="2796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98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898" dirty="0"/>
          </a:p>
        </p:txBody>
      </p:sp>
      <p:sp>
        <p:nvSpPr>
          <p:cNvPr id="8" name="Text 6"/>
          <p:cNvSpPr/>
          <p:nvPr/>
        </p:nvSpPr>
        <p:spPr>
          <a:xfrm>
            <a:off x="7062825" y="273106"/>
            <a:ext cx="788157" cy="236030"/>
          </a:xfrm>
          <a:prstGeom prst="roundRect">
            <a:avLst>
              <a:gd name="adj" fmla="val 4031468"/>
            </a:avLst>
          </a:prstGeom>
          <a:solidFill>
            <a:srgbClr val="34D399">
              <a:alpha val="8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062825" y="285750"/>
            <a:ext cx="788157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الموجة 4 من 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03231" y="273106"/>
            <a:ext cx="788157" cy="236030"/>
          </a:xfrm>
          <a:prstGeom prst="roundRect">
            <a:avLst>
              <a:gd name="adj" fmla="val 4031468"/>
            </a:avLst>
          </a:prstGeom>
          <a:solidFill>
            <a:srgbClr val="8B5CF6">
              <a:alpha val="8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03231" y="285750"/>
            <a:ext cx="788157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الموجة 5 من 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562641" y="321469"/>
            <a:ext cx="6901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الشهر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16–24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501080" y="517922"/>
            <a:ext cx="6984891" cy="732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72"/>
              </a:lnSpc>
              <a:buNone/>
            </a:pPr>
            <a:r>
              <a:rPr lang="en-US" sz="2138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الموجتان </a:t>
            </a:r>
            <a:pPr algn="l" indent="0" marL="0">
              <a:lnSpc>
                <a:spcPts val="2672"/>
              </a:lnSpc>
              <a:buNone/>
            </a:pPr>
            <a:r>
              <a:rPr lang="en-US" sz="2138" b="1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4+5</a:t>
            </a:r>
            <a:pPr algn="l" indent="0" marL="0">
              <a:lnSpc>
                <a:spcPts val="2672"/>
              </a:lnSpc>
              <a:buNone/>
            </a:pPr>
            <a:r>
              <a:rPr lang="en-US" sz="2138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2672"/>
              </a:lnSpc>
              <a:buNone/>
            </a:pPr>
            <a:r>
              <a:rPr lang="en-US" sz="2138" b="1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v4.5 → v5.0</a:t>
            </a:r>
            <a:pPr algn="l" indent="0" marL="0">
              <a:lnSpc>
                <a:spcPts val="2672"/>
              </a:lnSpc>
              <a:buNone/>
            </a:pPr>
            <a:r>
              <a:rPr lang="en-US" sz="2138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«المؤسسات ثم العالمية»</a:t>
            </a:r>
            <a:endParaRPr lang="en-US" sz="2138" dirty="0"/>
          </a:p>
        </p:txBody>
      </p:sp>
      <p:sp>
        <p:nvSpPr>
          <p:cNvPr id="14" name="Text 12"/>
          <p:cNvSpPr/>
          <p:nvPr/>
        </p:nvSpPr>
        <p:spPr>
          <a:xfrm>
            <a:off x="400050" y="512564"/>
            <a:ext cx="1739628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8B5CF6">
                    <a:alpha val="16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W4+5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03622" y="1300163"/>
            <a:ext cx="8336756" cy="2483904"/>
          </a:xfrm>
          <a:prstGeom prst="roundRect">
            <a:avLst>
              <a:gd name="adj" fmla="val 8436"/>
            </a:avLst>
          </a:prstGeom>
          <a:solidFill>
            <a:srgbClr val="121A38">
              <a:alpha val="50000"/>
            </a:srgbClr>
          </a:solidFill>
          <a:ln w="7144">
            <a:solidFill>
              <a:srgbClr val="8B5CF6"/>
            </a:solidFill>
            <a:prstDash val="solid"/>
          </a:ln>
          <a:effectLst>
            <a:outerShdw sx="100000" sy="100000" kx="0" ky="0" algn="bl" rotWithShape="0" blurRad="666750" dist="247650" dir="5400000">
              <a:srgbClr val="000000">
                <a:alpha val="3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303734"/>
            <a:ext cx="4164806" cy="247676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575572" y="1303734"/>
            <a:ext cx="0" cy="247676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19643" y="1418034"/>
            <a:ext cx="507115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v4.5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479171" y="1456611"/>
            <a:ext cx="616148" cy="180023"/>
          </a:xfrm>
          <a:prstGeom prst="roundRect">
            <a:avLst>
              <a:gd name="adj" fmla="val 5285700"/>
            </a:avLst>
          </a:prstGeom>
          <a:solidFill>
            <a:srgbClr val="34D399">
              <a:alpha val="8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479171" y="1466255"/>
            <a:ext cx="61614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«المؤسسات»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736306" y="1476970"/>
            <a:ext cx="27285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ش16–21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529638" y="2204517"/>
            <a:ext cx="50006" cy="50006"/>
          </a:xfrm>
          <a:prstGeom prst="roundRect">
            <a:avLst>
              <a:gd name="adj" fmla="val 38095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7984480" y="2147367"/>
            <a:ext cx="595164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تعدد فروع</a:t>
            </a:r>
            <a:endParaRPr lang="en-US" sz="872" dirty="0"/>
          </a:p>
        </p:txBody>
      </p:sp>
      <p:sp>
        <p:nvSpPr>
          <p:cNvPr id="24" name="Text 21"/>
          <p:cNvSpPr/>
          <p:nvPr/>
        </p:nvSpPr>
        <p:spPr>
          <a:xfrm>
            <a:off x="8529638" y="2427759"/>
            <a:ext cx="50006" cy="50006"/>
          </a:xfrm>
          <a:prstGeom prst="roundRect">
            <a:avLst>
              <a:gd name="adj" fmla="val 38095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8191537" y="2370609"/>
            <a:ext cx="388107" cy="187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RBAC</a:t>
            </a:r>
            <a:endParaRPr lang="en-US" sz="872" dirty="0"/>
          </a:p>
        </p:txBody>
      </p:sp>
      <p:sp>
        <p:nvSpPr>
          <p:cNvPr id="26" name="Text 23"/>
          <p:cNvSpPr/>
          <p:nvPr/>
        </p:nvSpPr>
        <p:spPr>
          <a:xfrm>
            <a:off x="8529638" y="2658145"/>
            <a:ext cx="50006" cy="50006"/>
          </a:xfrm>
          <a:prstGeom prst="roundRect">
            <a:avLst>
              <a:gd name="adj" fmla="val 38095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444667" y="2600995"/>
            <a:ext cx="2174616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محاسبة موسعة (مراكز تكلفة/فترات/إقفال)</a:t>
            </a:r>
            <a:endParaRPr lang="en-US" sz="872" dirty="0"/>
          </a:p>
        </p:txBody>
      </p:sp>
      <p:sp>
        <p:nvSpPr>
          <p:cNvPr id="28" name="Text 25"/>
          <p:cNvSpPr/>
          <p:nvPr/>
        </p:nvSpPr>
        <p:spPr>
          <a:xfrm>
            <a:off x="8529638" y="2881387"/>
            <a:ext cx="50006" cy="50006"/>
          </a:xfrm>
          <a:prstGeom prst="roundRect">
            <a:avLst>
              <a:gd name="adj" fmla="val 38095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7520248" y="2824237"/>
            <a:ext cx="1059396" cy="187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مزامنة 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S1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الاختيارية</a:t>
            </a:r>
            <a:endParaRPr lang="en-US" sz="872" dirty="0"/>
          </a:p>
        </p:txBody>
      </p:sp>
      <p:sp>
        <p:nvSpPr>
          <p:cNvPr id="30" name="Shape 27"/>
          <p:cNvSpPr/>
          <p:nvPr/>
        </p:nvSpPr>
        <p:spPr>
          <a:xfrm>
            <a:off x="4736306" y="3480457"/>
            <a:ext cx="3843338" cy="0"/>
          </a:xfrm>
          <a:prstGeom prst="line">
            <a:avLst/>
          </a:prstGeom>
          <a:noFill/>
          <a:ln w="7144">
            <a:solidFill>
              <a:srgbClr val="34D39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36306" y="3476885"/>
            <a:ext cx="3843338" cy="203597"/>
          </a:xfrm>
          <a:prstGeom prst="rect">
            <a:avLst/>
          </a:prstGeom>
          <a:noFill/>
          <a:ln/>
        </p:spPr>
        <p:txBody>
          <a:bodyPr wrap="square" lIns="0" tIns="5715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الجهد 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12–16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أسبوعاً · صعوبة 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عالية جداً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متطلب: مختبر أمان خارجي لتدقيق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RBAC</a:t>
            </a:r>
            <a:endParaRPr lang="en-US" sz="80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94" y="1303734"/>
            <a:ext cx="4164806" cy="247676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3954837" y="1418034"/>
            <a:ext cx="507115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v5.0</a:t>
            </a:r>
            <a:endParaRPr lang="en-US" sz="1350" dirty="0"/>
          </a:p>
        </p:txBody>
      </p:sp>
      <p:sp>
        <p:nvSpPr>
          <p:cNvPr id="34" name="Text 30"/>
          <p:cNvSpPr/>
          <p:nvPr/>
        </p:nvSpPr>
        <p:spPr>
          <a:xfrm>
            <a:off x="3442953" y="1456611"/>
            <a:ext cx="487561" cy="180023"/>
          </a:xfrm>
          <a:prstGeom prst="roundRect">
            <a:avLst>
              <a:gd name="adj" fmla="val 5285700"/>
            </a:avLst>
          </a:prstGeom>
          <a:solidFill>
            <a:srgbClr val="8B5CF6">
              <a:alpha val="8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3399205" y="1466255"/>
            <a:ext cx="5750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«العالمية»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564356" y="1476970"/>
            <a:ext cx="28643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ش22–24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4364831" y="2200945"/>
            <a:ext cx="50006" cy="50006"/>
          </a:xfrm>
          <a:prstGeom prst="roundRect">
            <a:avLst>
              <a:gd name="adj" fmla="val 38095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1893987" y="2143795"/>
            <a:ext cx="2591360" cy="187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لغات تركية/فرنسية/أردو كاملة (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2198+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سلسلة × 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872" dirty="0"/>
          </a:p>
        </p:txBody>
      </p:sp>
      <p:sp>
        <p:nvSpPr>
          <p:cNvPr id="39" name="Text 35"/>
          <p:cNvSpPr/>
          <p:nvPr/>
        </p:nvSpPr>
        <p:spPr>
          <a:xfrm>
            <a:off x="4364831" y="2431331"/>
            <a:ext cx="50006" cy="50006"/>
          </a:xfrm>
          <a:prstGeom prst="roundRect">
            <a:avLst>
              <a:gd name="adj" fmla="val 38095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2986646" y="2374181"/>
            <a:ext cx="1428192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عملات متعددة بأسعار محلية</a:t>
            </a:r>
            <a:endParaRPr lang="en-US" sz="872" dirty="0"/>
          </a:p>
        </p:txBody>
      </p:sp>
      <p:sp>
        <p:nvSpPr>
          <p:cNvPr id="41" name="Text 37"/>
          <p:cNvSpPr/>
          <p:nvPr/>
        </p:nvSpPr>
        <p:spPr>
          <a:xfrm>
            <a:off x="4364831" y="2654573"/>
            <a:ext cx="50006" cy="50006"/>
          </a:xfrm>
          <a:prstGeom prst="roundRect">
            <a:avLst>
              <a:gd name="adj" fmla="val 38095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2367707" y="2597423"/>
            <a:ext cx="2079742" cy="187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امتثال خليجي (الإمارات 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5%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، البحرين 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10%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872" dirty="0"/>
          </a:p>
        </p:txBody>
      </p:sp>
      <p:sp>
        <p:nvSpPr>
          <p:cNvPr id="43" name="Text 39"/>
          <p:cNvSpPr/>
          <p:nvPr/>
        </p:nvSpPr>
        <p:spPr>
          <a:xfrm>
            <a:off x="4364831" y="2884959"/>
            <a:ext cx="50006" cy="50006"/>
          </a:xfrm>
          <a:prstGeom prst="roundRect">
            <a:avLst>
              <a:gd name="adj" fmla="val 38095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3300971" y="2827809"/>
            <a:ext cx="1113867" cy="187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تصدير عام موثق</a:t>
            </a:r>
            <a:endParaRPr lang="en-US" sz="872" dirty="0"/>
          </a:p>
        </p:txBody>
      </p:sp>
      <p:sp>
        <p:nvSpPr>
          <p:cNvPr id="45" name="Shape 41"/>
          <p:cNvSpPr/>
          <p:nvPr/>
        </p:nvSpPr>
        <p:spPr>
          <a:xfrm>
            <a:off x="564356" y="3480457"/>
            <a:ext cx="3850481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564356" y="3476885"/>
            <a:ext cx="3850481" cy="203597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الجهد 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8–10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أسابيع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4439841" y="2409899"/>
            <a:ext cx="264319" cy="264319"/>
          </a:xfrm>
          <a:prstGeom prst="ellipse">
            <a:avLst/>
          </a:prstGeom>
          <a:solidFill>
            <a:srgbClr val="1A2447"/>
          </a:solidFill>
          <a:ln w="7144">
            <a:solidFill>
              <a:srgbClr val="8B5CF6"/>
            </a:solidFill>
            <a:prstDash val="solid"/>
          </a:ln>
          <a:effectLst>
            <a:outerShdw sx="100000" sy="100000" kx="0" ky="0" algn="bl" rotWithShape="0" blurRad="171450" dist="5715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4468416" y="243847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←</a:t>
            </a:r>
            <a:endParaRPr lang="en-US" sz="1406" dirty="0"/>
          </a:p>
        </p:txBody>
      </p:sp>
      <p:sp>
        <p:nvSpPr>
          <p:cNvPr id="49" name="Text 45"/>
          <p:cNvSpPr/>
          <p:nvPr/>
        </p:nvSpPr>
        <p:spPr>
          <a:xfrm>
            <a:off x="403622" y="3876935"/>
            <a:ext cx="8336756" cy="364331"/>
          </a:xfrm>
          <a:prstGeom prst="roundRect">
            <a:avLst>
              <a:gd name="adj" fmla="val 36601"/>
            </a:avLst>
          </a:prstGeom>
          <a:solidFill>
            <a:srgbClr val="34D399">
              <a:alpha val="8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8493919" y="3991235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36" dirty="0"/>
          </a:p>
        </p:txBody>
      </p:sp>
      <p:sp>
        <p:nvSpPr>
          <p:cNvPr id="51" name="Text 47"/>
          <p:cNvSpPr/>
          <p:nvPr/>
        </p:nvSpPr>
        <p:spPr>
          <a:xfrm>
            <a:off x="7691295" y="3957303"/>
            <a:ext cx="95723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معايير القبول</a:t>
            </a:r>
            <a:endParaRPr lang="en-US" sz="1069" dirty="0"/>
          </a:p>
        </p:txBody>
      </p:sp>
      <p:sp>
        <p:nvSpPr>
          <p:cNvPr id="52" name="Text 48"/>
          <p:cNvSpPr/>
          <p:nvPr/>
        </p:nvSpPr>
        <p:spPr>
          <a:xfrm>
            <a:off x="7591797" y="3951945"/>
            <a:ext cx="7144" cy="214313"/>
          </a:xfrm>
          <a:prstGeom prst="rect">
            <a:avLst/>
          </a:prstGeom>
          <a:solidFill>
            <a:srgbClr val="34D399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9"/>
          <p:cNvSpPr/>
          <p:nvPr/>
        </p:nvSpPr>
        <p:spPr>
          <a:xfrm>
            <a:off x="7356053" y="4005523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54" name="Text 50"/>
          <p:cNvSpPr/>
          <p:nvPr/>
        </p:nvSpPr>
        <p:spPr>
          <a:xfrm>
            <a:off x="5271195" y="3991235"/>
            <a:ext cx="2197641" cy="16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ترحيل 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12→13→14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بلا فقد مثبت بمقارنات checksum</a:t>
            </a:r>
            <a:endParaRPr lang="en-US" sz="731" dirty="0"/>
          </a:p>
        </p:txBody>
      </p:sp>
      <p:sp>
        <p:nvSpPr>
          <p:cNvPr id="55" name="Text 51"/>
          <p:cNvSpPr/>
          <p:nvPr/>
        </p:nvSpPr>
        <p:spPr>
          <a:xfrm>
            <a:off x="4422204" y="4005523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56" name="Text 52"/>
          <p:cNvSpPr/>
          <p:nvPr/>
        </p:nvSpPr>
        <p:spPr>
          <a:xfrm>
            <a:off x="3299520" y="3991235"/>
            <a:ext cx="1179947" cy="160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مصفوفة أدوار مختبرة 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731" dirty="0"/>
          </a:p>
        </p:txBody>
      </p:sp>
      <p:sp>
        <p:nvSpPr>
          <p:cNvPr id="57" name="Text 53"/>
          <p:cNvSpPr/>
          <p:nvPr/>
        </p:nvSpPr>
        <p:spPr>
          <a:xfrm>
            <a:off x="2145692" y="4005523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58" name="Text 54"/>
          <p:cNvSpPr/>
          <p:nvPr/>
        </p:nvSpPr>
        <p:spPr>
          <a:xfrm>
            <a:off x="1182402" y="3991235"/>
            <a:ext cx="1004612" cy="160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ثلاث لغات بمطابقة تامة</a:t>
            </a:r>
            <a:endParaRPr lang="en-US" sz="731" dirty="0"/>
          </a:p>
        </p:txBody>
      </p:sp>
      <p:pic>
        <p:nvPicPr>
          <p:cNvPr id="5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4316276"/>
            <a:ext cx="8343900" cy="584336"/>
          </a:xfrm>
          <a:prstGeom prst="rect">
            <a:avLst/>
          </a:prstGeom>
        </p:spPr>
      </p:pic>
      <p:sp>
        <p:nvSpPr>
          <p:cNvPr id="60" name="Text 55"/>
          <p:cNvSpPr/>
          <p:nvPr/>
        </p:nvSpPr>
        <p:spPr>
          <a:xfrm>
            <a:off x="403622" y="4319848"/>
            <a:ext cx="8336756" cy="577193"/>
          </a:xfrm>
          <a:prstGeom prst="roundRect">
            <a:avLst>
              <a:gd name="adj" fmla="val 26404"/>
            </a:avLst>
          </a:prstGeom>
          <a:noFill/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6"/>
          <p:cNvSpPr/>
          <p:nvPr/>
        </p:nvSpPr>
        <p:spPr>
          <a:xfrm>
            <a:off x="8379619" y="4501232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2109" dirty="0"/>
          </a:p>
        </p:txBody>
      </p:sp>
      <p:sp>
        <p:nvSpPr>
          <p:cNvPr id="62" name="Text 57"/>
          <p:cNvSpPr/>
          <p:nvPr/>
        </p:nvSpPr>
        <p:spPr>
          <a:xfrm>
            <a:off x="993986" y="4409145"/>
            <a:ext cx="7328483" cy="39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6"/>
              </a:lnSpc>
              <a:buNone/>
            </a:pPr>
            <a:r>
              <a:rPr lang="en-US" sz="1125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النتيجة </a:t>
            </a:r>
            <a:pPr algn="l" indent="0" marL="0">
              <a:lnSpc>
                <a:spcPts val="2616"/>
              </a:lnSpc>
              <a:buNone/>
            </a:pPr>
            <a:r>
              <a:rPr lang="en-US" sz="2025" b="1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2028</a:t>
            </a:r>
            <a:pPr algn="l" indent="0" marL="0">
              <a:lnSpc>
                <a:spcPts val="2616"/>
              </a:lnSpc>
              <a:buNone/>
            </a:pPr>
            <a:r>
              <a:rPr lang="en-US" sz="1125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منصة الأعمال offline الأكمل والأذكى عالمياً — في سوقها الأصلي معتمدة، وفي الأسواق الخليجية جاهزة.</a:t>
            </a:r>
            <a:endParaRPr lang="en-US" sz="11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2313" y="-1357312"/>
            <a:ext cx="3143250" cy="314325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1000125" y="3643313"/>
            <a:ext cx="2857500" cy="2857500"/>
          </a:xfrm>
          <a:prstGeom prst="ellipse">
            <a:avLst/>
          </a:prstGeom>
          <a:solidFill>
            <a:srgbClr val="34D39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347472" y="378619"/>
            <a:ext cx="392906" cy="392906"/>
          </a:xfrm>
          <a:prstGeom prst="roundRect">
            <a:avLst>
              <a:gd name="adj" fmla="val 38788"/>
            </a:avLst>
          </a:prstGeom>
          <a:solidFill>
            <a:srgbClr val="8B5CF6">
              <a:alpha val="14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93728" y="424875"/>
            <a:ext cx="300395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9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2039" dirty="0"/>
          </a:p>
        </p:txBody>
      </p:sp>
      <p:sp>
        <p:nvSpPr>
          <p:cNvPr id="6" name="Text 4"/>
          <p:cNvSpPr/>
          <p:nvPr/>
        </p:nvSpPr>
        <p:spPr>
          <a:xfrm>
            <a:off x="7238762" y="273106"/>
            <a:ext cx="1020842" cy="236030"/>
          </a:xfrm>
          <a:prstGeom prst="roundRect">
            <a:avLst>
              <a:gd name="adj" fmla="val 4031468"/>
            </a:avLst>
          </a:prstGeom>
          <a:solidFill>
            <a:srgbClr val="8B5CF6">
              <a:alpha val="8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61622" y="285750"/>
            <a:ext cx="975122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موجات · 24 شهراً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730489" y="525066"/>
            <a:ext cx="4956881" cy="36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72"/>
              </a:lnSpc>
              <a:buNone/>
            </a:pPr>
            <a:r>
              <a:rPr lang="en-US" sz="2138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تقدير الجهد والموارد — صادق ومحسوب</a:t>
            </a:r>
            <a:endParaRPr lang="en-US" sz="2138" dirty="0"/>
          </a:p>
        </p:txBody>
      </p:sp>
      <p:sp>
        <p:nvSpPr>
          <p:cNvPr id="9" name="Text 7"/>
          <p:cNvSpPr/>
          <p:nvPr/>
        </p:nvSpPr>
        <p:spPr>
          <a:xfrm>
            <a:off x="400050" y="289322"/>
            <a:ext cx="3316151" cy="61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8B5CF6">
                    <a:alpha val="1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403622" y="982266"/>
            <a:ext cx="8336756" cy="3024485"/>
          </a:xfrm>
          <a:prstGeom prst="roundRect">
            <a:avLst>
              <a:gd name="adj" fmla="val 4409"/>
            </a:avLst>
          </a:prstGeom>
          <a:solidFill>
            <a:srgbClr val="121A38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35781" y="1285875"/>
            <a:ext cx="8072438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29450" y="1100138"/>
            <a:ext cx="146446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7" kern="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الموجة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857875" y="1100138"/>
            <a:ext cx="139420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7" kern="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الإصدار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07769" y="1100138"/>
            <a:ext cx="97594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7" kern="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الشهور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21881" y="1100138"/>
            <a:ext cx="153416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7" kern="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الجهد الصافي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07469" y="1100138"/>
            <a:ext cx="118972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7" kern="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الصعوبة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0081" y="1100138"/>
            <a:ext cx="221602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7" kern="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متطلبات خاصة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9353" y="1293019"/>
            <a:ext cx="8065294" cy="381967"/>
          </a:xfrm>
          <a:prstGeom prst="roundRect">
            <a:avLst>
              <a:gd name="adj" fmla="val 29924"/>
            </a:avLst>
          </a:prstGeom>
          <a:solidFill>
            <a:srgbClr val="121A38">
              <a:alpha val="55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022306" y="1398277"/>
            <a:ext cx="146446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W1</a:t>
            </a:r>
            <a:pPr algn="l" indent="0" marL="0">
              <a:lnSpc>
                <a:spcPts val="872"/>
              </a:lnSpc>
              <a:buNone/>
            </a:pPr>
            <a:r>
              <a:rPr lang="en-US" sz="872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الإطلاق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50731" y="1414351"/>
            <a:ext cx="16930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v2.0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00625" y="1414351"/>
            <a:ext cx="11851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ش1–3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14738" y="1414351"/>
            <a:ext cx="15070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6–8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أسابيع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050381" y="1400063"/>
            <a:ext cx="464344" cy="175022"/>
          </a:xfrm>
          <a:prstGeom prst="roundRect">
            <a:avLst>
              <a:gd name="adj" fmla="val 5436731"/>
            </a:avLst>
          </a:prstGeom>
          <a:solidFill>
            <a:srgbClr val="FBBF2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600325" y="1392920"/>
            <a:ext cx="1170432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00" b="1" dirty="0">
                <a:solidFill>
                  <a:srgbClr val="FBBF24"/>
                </a:solidFill>
                <a:highlight>
                  <a:srgbClr val="FBBF24"/>
                </a:highlight>
                <a:latin typeface="Carlito" pitchFamily="34" charset="0"/>
                <a:ea typeface="Carlito" pitchFamily="34" charset="-122"/>
                <a:cs typeface="Carlito" pitchFamily="34" charset="-120"/>
              </a:rPr>
              <a:t>متوسطة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7225" y="1414351"/>
            <a:ext cx="19352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حساب Google Play تاجر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9353" y="1739280"/>
            <a:ext cx="8065294" cy="382079"/>
          </a:xfrm>
          <a:prstGeom prst="roundRect">
            <a:avLst>
              <a:gd name="adj" fmla="val 29915"/>
            </a:avLst>
          </a:prstGeom>
          <a:solidFill>
            <a:srgbClr val="121A38">
              <a:alpha val="55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022306" y="1844539"/>
            <a:ext cx="146446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W2</a:t>
            </a:r>
            <a:pPr algn="l" indent="0" marL="0">
              <a:lnSpc>
                <a:spcPts val="872"/>
              </a:lnSpc>
              <a:buNone/>
            </a:pPr>
            <a:r>
              <a:rPr lang="en-US" sz="872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الامتثال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50731" y="1860612"/>
            <a:ext cx="1371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v2.5–v3.0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00625" y="1860612"/>
            <a:ext cx="11851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ش4–9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14738" y="1860612"/>
            <a:ext cx="15070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10–14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أسبوعاً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171825" y="1846325"/>
            <a:ext cx="342900" cy="175022"/>
          </a:xfrm>
          <a:prstGeom prst="roundRect">
            <a:avLst>
              <a:gd name="adj" fmla="val 5436731"/>
            </a:avLst>
          </a:prstGeom>
          <a:solidFill>
            <a:srgbClr val="F87171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600325" y="1839181"/>
            <a:ext cx="1444752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00" b="1" dirty="0">
                <a:solidFill>
                  <a:srgbClr val="F87171"/>
                </a:solidFill>
                <a:highlight>
                  <a:srgbClr val="F87171"/>
                </a:highlight>
                <a:latin typeface="Carlito" pitchFamily="34" charset="0"/>
                <a:ea typeface="Carlito" pitchFamily="34" charset="-122"/>
                <a:cs typeface="Carlito" pitchFamily="34" charset="-120"/>
              </a:rPr>
              <a:t>عالية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7225" y="1860612"/>
            <a:ext cx="19905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حساب منصة فاتورة + رقم ضريبي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39353" y="2185653"/>
            <a:ext cx="8065294" cy="381967"/>
          </a:xfrm>
          <a:prstGeom prst="roundRect">
            <a:avLst>
              <a:gd name="adj" fmla="val 29924"/>
            </a:avLst>
          </a:prstGeom>
          <a:solidFill>
            <a:srgbClr val="121A38">
              <a:alpha val="55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022306" y="2290911"/>
            <a:ext cx="146446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W3</a:t>
            </a:r>
            <a:pPr algn="l" indent="0" marL="0">
              <a:lnSpc>
                <a:spcPts val="872"/>
              </a:lnSpc>
              <a:buNone/>
            </a:pPr>
            <a:r>
              <a:rPr lang="en-US" sz="872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الذكاء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50731" y="2306985"/>
            <a:ext cx="1371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v3.5–v4.0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00625" y="2306985"/>
            <a:ext cx="9601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ش10–15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14738" y="2306985"/>
            <a:ext cx="15070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10–12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أسبوعاً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171825" y="2292697"/>
            <a:ext cx="342900" cy="175022"/>
          </a:xfrm>
          <a:prstGeom prst="roundRect">
            <a:avLst>
              <a:gd name="adj" fmla="val 5436731"/>
            </a:avLst>
          </a:prstGeom>
          <a:solidFill>
            <a:srgbClr val="F87171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600325" y="2285554"/>
            <a:ext cx="1444752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00" b="1" dirty="0">
                <a:solidFill>
                  <a:srgbClr val="F87171"/>
                </a:solidFill>
                <a:highlight>
                  <a:srgbClr val="F87171"/>
                </a:highlight>
                <a:latin typeface="Carlito" pitchFamily="34" charset="0"/>
                <a:ea typeface="Carlito" pitchFamily="34" charset="-122"/>
                <a:cs typeface="Carlito" pitchFamily="34" charset="-120"/>
              </a:rPr>
              <a:t>عالية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57225" y="2306985"/>
            <a:ext cx="19352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حديث + أجهزة مرجعية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39353" y="2631914"/>
            <a:ext cx="8065294" cy="382079"/>
          </a:xfrm>
          <a:prstGeom prst="roundRect">
            <a:avLst>
              <a:gd name="adj" fmla="val 29915"/>
            </a:avLst>
          </a:prstGeom>
          <a:solidFill>
            <a:srgbClr val="121A38">
              <a:alpha val="55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022306" y="2737172"/>
            <a:ext cx="146446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W4</a:t>
            </a:r>
            <a:pPr algn="l" indent="0" marL="0">
              <a:lnSpc>
                <a:spcPts val="872"/>
              </a:lnSpc>
              <a:buNone/>
            </a:pPr>
            <a:r>
              <a:rPr lang="en-US" sz="872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المؤسسات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50731" y="2753246"/>
            <a:ext cx="16930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v4.5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00625" y="2753246"/>
            <a:ext cx="9601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ش16–21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614738" y="2753246"/>
            <a:ext cx="15070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12–16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أسبوعاً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035647" y="2738958"/>
            <a:ext cx="479078" cy="175022"/>
          </a:xfrm>
          <a:prstGeom prst="roundRect">
            <a:avLst>
              <a:gd name="adj" fmla="val 5436731"/>
            </a:avLst>
          </a:prstGeom>
          <a:solidFill>
            <a:srgbClr val="F871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2600325" y="2731815"/>
            <a:ext cx="1071677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00" b="1" dirty="0">
                <a:solidFill>
                  <a:srgbClr val="0B1026"/>
                </a:solidFill>
                <a:highlight>
                  <a:srgbClr val="F87171"/>
                </a:highlight>
                <a:latin typeface="Carlito" pitchFamily="34" charset="0"/>
                <a:ea typeface="Carlito" pitchFamily="34" charset="-122"/>
                <a:cs typeface="Carlito" pitchFamily="34" charset="-120"/>
              </a:rPr>
              <a:t>عالية جداً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57225" y="2753246"/>
            <a:ext cx="19352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مختبر أمان خارجي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39353" y="3078287"/>
            <a:ext cx="8065294" cy="381967"/>
          </a:xfrm>
          <a:prstGeom prst="roundRect">
            <a:avLst>
              <a:gd name="adj" fmla="val 29924"/>
            </a:avLst>
          </a:prstGeom>
          <a:solidFill>
            <a:srgbClr val="121A38">
              <a:alpha val="55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022306" y="3183545"/>
            <a:ext cx="146446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W5</a:t>
            </a:r>
            <a:pPr algn="l" indent="0" marL="0">
              <a:lnSpc>
                <a:spcPts val="872"/>
              </a:lnSpc>
              <a:buNone/>
            </a:pPr>
            <a:r>
              <a:rPr lang="en-US" sz="872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العالمية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850731" y="3199619"/>
            <a:ext cx="16930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v5.0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000625" y="3199619"/>
            <a:ext cx="9601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ش22–24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614738" y="3199619"/>
            <a:ext cx="15070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8–10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أسابيع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050381" y="3185331"/>
            <a:ext cx="464344" cy="175022"/>
          </a:xfrm>
          <a:prstGeom prst="roundRect">
            <a:avLst>
              <a:gd name="adj" fmla="val 5436731"/>
            </a:avLst>
          </a:prstGeom>
          <a:solidFill>
            <a:srgbClr val="FBBF2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2600325" y="3178187"/>
            <a:ext cx="1170432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00" b="1" dirty="0">
                <a:solidFill>
                  <a:srgbClr val="FBBF24"/>
                </a:solidFill>
                <a:highlight>
                  <a:srgbClr val="FBBF24"/>
                </a:highlight>
                <a:latin typeface="Carlito" pitchFamily="34" charset="0"/>
                <a:ea typeface="Carlito" pitchFamily="34" charset="-122"/>
                <a:cs typeface="Carlito" pitchFamily="34" charset="-120"/>
              </a:rPr>
              <a:t>متوسطة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57225" y="3199619"/>
            <a:ext cx="19352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مترجمون معتمدون</a:t>
            </a:r>
            <a:endParaRPr lang="en-US" sz="800" dirty="0"/>
          </a:p>
        </p:txBody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781" y="3520976"/>
            <a:ext cx="8072438" cy="382191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539353" y="3524548"/>
            <a:ext cx="8065294" cy="375047"/>
          </a:xfrm>
          <a:prstGeom prst="roundRect">
            <a:avLst>
              <a:gd name="adj" fmla="val 30476"/>
            </a:avLst>
          </a:prstGeom>
          <a:noFill/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7022306" y="3610273"/>
            <a:ext cx="14644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900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pPr algn="l" indent="0" marL="0">
              <a:lnSpc>
                <a:spcPts val="1603"/>
              </a:lnSpc>
              <a:buNone/>
            </a:pPr>
            <a:r>
              <a:rPr lang="en-US" sz="9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الإجمالي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657225" y="3599557"/>
            <a:ext cx="6265069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46–60</a:t>
            </a:r>
            <a:pPr algn="l" indent="0" marL="0">
              <a:lnSpc>
                <a:spcPts val="1772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أسبوع عمل صافي ضمن نافذة </a:t>
            </a:r>
            <a:pPr algn="l" indent="0" marL="0">
              <a:lnSpc>
                <a:spcPts val="1772"/>
              </a:lnSpc>
              <a:buNone/>
            </a:pPr>
            <a:r>
              <a:rPr lang="en-US" sz="872" b="1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</a:t>
            </a:r>
            <a:pPr algn="l" indent="0" marL="0">
              <a:lnSpc>
                <a:spcPts val="1772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شهراً — هامش </a:t>
            </a:r>
            <a:pPr algn="l" indent="0" marL="0">
              <a:lnSpc>
                <a:spcPts val="1772"/>
              </a:lnSpc>
              <a:buNone/>
            </a:pPr>
            <a:r>
              <a:rPr lang="en-US" sz="1013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2–2.5×</a:t>
            </a:r>
            <a:pPr algn="l" indent="0" marL="0">
              <a:lnSpc>
                <a:spcPts val="1772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للمراجعة والتصحيح والدورات</a:t>
            </a:r>
            <a:endParaRPr lang="en-US" sz="872" dirty="0"/>
          </a:p>
        </p:txBody>
      </p:sp>
      <p:sp>
        <p:nvSpPr>
          <p:cNvPr id="62" name="Text 59"/>
          <p:cNvSpPr/>
          <p:nvPr/>
        </p:nvSpPr>
        <p:spPr>
          <a:xfrm>
            <a:off x="400050" y="4110335"/>
            <a:ext cx="8343900" cy="790277"/>
          </a:xfrm>
          <a:prstGeom prst="roundRect">
            <a:avLst>
              <a:gd name="adj" fmla="val 16874"/>
            </a:avLst>
          </a:prstGeom>
          <a:solidFill>
            <a:srgbClr val="121A38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Shape 60"/>
          <p:cNvSpPr/>
          <p:nvPr/>
        </p:nvSpPr>
        <p:spPr>
          <a:xfrm>
            <a:off x="400050" y="4113907"/>
            <a:ext cx="8343900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8733234" y="4110335"/>
            <a:ext cx="0" cy="790277"/>
          </a:xfrm>
          <a:prstGeom prst="line">
            <a:avLst/>
          </a:prstGeom>
          <a:noFill/>
          <a:ln w="21431">
            <a:solidFill>
              <a:srgbClr val="8B5CF6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00050" y="4897041"/>
            <a:ext cx="8343900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03622" y="4110335"/>
            <a:ext cx="0" cy="790277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8408194" y="4412605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828" dirty="0"/>
          </a:p>
        </p:txBody>
      </p:sp>
      <p:sp>
        <p:nvSpPr>
          <p:cNvPr id="68" name="Text 65"/>
          <p:cNvSpPr/>
          <p:nvPr/>
        </p:nvSpPr>
        <p:spPr>
          <a:xfrm>
            <a:off x="535781" y="4210348"/>
            <a:ext cx="8058150" cy="190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ملاحظة الثقة</a:t>
            </a:r>
            <a:endParaRPr lang="en-US" sz="1069" dirty="0"/>
          </a:p>
        </p:txBody>
      </p:sp>
      <p:sp>
        <p:nvSpPr>
          <p:cNvPr id="69" name="Text 66"/>
          <p:cNvSpPr/>
          <p:nvPr/>
        </p:nvSpPr>
        <p:spPr>
          <a:xfrm>
            <a:off x="535781" y="4428232"/>
            <a:ext cx="7772400" cy="372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9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أسلوب الموجات الحالي (TDD مالي + أدوات AI + موجة = </a:t>
            </a:r>
            <a:pPr algn="l" indent="0" marL="0">
              <a:lnSpc>
                <a:spcPts val="1439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80</a:t>
            </a:r>
            <a:pPr algn="l" indent="0" marL="0">
              <a:lnSpc>
                <a:spcPts val="1439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بنداً) أثبت إيقاع تسليم حقيقياً عبر </a:t>
            </a:r>
            <a:pPr algn="l" indent="0" marL="0">
              <a:lnSpc>
                <a:spcPts val="1439"/>
              </a:lnSpc>
              <a:buNone/>
            </a:pPr>
            <a:r>
              <a:rPr lang="en-US" sz="872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pPr algn="l" indent="0" marL="0">
              <a:lnSpc>
                <a:spcPts val="1439"/>
              </a:lnSpc>
              <a:buNone/>
            </a:pPr>
            <a:r>
              <a:rPr lang="en-US" sz="872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موجات متتالية — الخارطة تحافظ على نفس الآلة الإنتاجية وتضيف العوامل الخارجية فقط.</a:t>
            </a:r>
            <a:endParaRPr lang="en-US" sz="872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2313" y="-1357312"/>
            <a:ext cx="3143250" cy="3143250"/>
          </a:xfrm>
          <a:prstGeom prst="ellipse">
            <a:avLst/>
          </a:prstGeom>
          <a:solidFill>
            <a:srgbClr val="8B5CF6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1000125" y="3571875"/>
            <a:ext cx="3000375" cy="3000375"/>
          </a:xfrm>
          <a:prstGeom prst="ellipse">
            <a:avLst/>
          </a:prstGeom>
          <a:solidFill>
            <a:srgbClr val="34D39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347472" y="289322"/>
            <a:ext cx="392906" cy="392906"/>
          </a:xfrm>
          <a:prstGeom prst="roundRect">
            <a:avLst>
              <a:gd name="adj" fmla="val 38788"/>
            </a:avLst>
          </a:prstGeom>
          <a:solidFill>
            <a:srgbClr val="8B5CF6">
              <a:alpha val="14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93728" y="335578"/>
            <a:ext cx="300395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9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2039" dirty="0"/>
          </a:p>
        </p:txBody>
      </p:sp>
      <p:sp>
        <p:nvSpPr>
          <p:cNvPr id="6" name="Text 4"/>
          <p:cNvSpPr/>
          <p:nvPr/>
        </p:nvSpPr>
        <p:spPr>
          <a:xfrm>
            <a:off x="2247714" y="316111"/>
            <a:ext cx="6042608" cy="366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72"/>
              </a:lnSpc>
              <a:buNone/>
            </a:pPr>
            <a:r>
              <a:rPr lang="en-US" sz="2138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المخاطر الكبرى والتحوطات — ومعايير الجودة الدائمة</a:t>
            </a:r>
            <a:endParaRPr lang="en-US" sz="2138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0788" y="800100"/>
            <a:ext cx="2443163" cy="40862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04359" y="803672"/>
            <a:ext cx="2436019" cy="4079081"/>
          </a:xfrm>
          <a:prstGeom prst="roundRect">
            <a:avLst>
              <a:gd name="adj" fmla="val 7038"/>
            </a:avLst>
          </a:prstGeom>
          <a:noFill/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436769" y="97512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10" name="Text 7"/>
          <p:cNvSpPr/>
          <p:nvPr/>
        </p:nvSpPr>
        <p:spPr>
          <a:xfrm>
            <a:off x="6783325" y="921544"/>
            <a:ext cx="1824893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معايير الجودة الدائمة</a:t>
            </a:r>
            <a:endParaRPr lang="en-US" sz="1463" dirty="0"/>
          </a:p>
        </p:txBody>
      </p:sp>
      <p:sp>
        <p:nvSpPr>
          <p:cNvPr id="11" name="Text 8"/>
          <p:cNvSpPr/>
          <p:nvPr/>
        </p:nvSpPr>
        <p:spPr>
          <a:xfrm>
            <a:off x="6436519" y="1243013"/>
            <a:ext cx="2281428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قواعد الموجات الخمس — موروثة من قواعد المشروع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479631" y="243657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3" name="Text 10"/>
          <p:cNvSpPr/>
          <p:nvPr/>
        </p:nvSpPr>
        <p:spPr>
          <a:xfrm>
            <a:off x="7129016" y="2422289"/>
            <a:ext cx="1381512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لا إصدار بلا اختبارات خضراء كاملة</a:t>
            </a:r>
            <a:endParaRPr lang="en-US" sz="731" dirty="0"/>
          </a:p>
        </p:txBody>
      </p:sp>
      <p:sp>
        <p:nvSpPr>
          <p:cNvPr id="14" name="Text 11"/>
          <p:cNvSpPr/>
          <p:nvPr/>
        </p:nvSpPr>
        <p:spPr>
          <a:xfrm>
            <a:off x="8479631" y="26233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5" name="Text 12"/>
          <p:cNvSpPr/>
          <p:nvPr/>
        </p:nvSpPr>
        <p:spPr>
          <a:xfrm>
            <a:off x="6921512" y="2609031"/>
            <a:ext cx="1605616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أي ميزة مالية TDD على Room حقيقية</a:t>
            </a:r>
            <a:endParaRPr lang="en-US" sz="731" dirty="0"/>
          </a:p>
        </p:txBody>
      </p:sp>
      <p:sp>
        <p:nvSpPr>
          <p:cNvPr id="16" name="Text 13"/>
          <p:cNvSpPr/>
          <p:nvPr/>
        </p:nvSpPr>
        <p:spPr>
          <a:xfrm>
            <a:off x="8479631" y="281006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7141294" y="2795774"/>
            <a:ext cx="1368251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ترحيل تراكبي بلا destructive أبداً</a:t>
            </a:r>
            <a:endParaRPr lang="en-US" sz="731" dirty="0"/>
          </a:p>
        </p:txBody>
      </p:sp>
      <p:sp>
        <p:nvSpPr>
          <p:cNvPr id="18" name="Text 15"/>
          <p:cNvSpPr/>
          <p:nvPr/>
        </p:nvSpPr>
        <p:spPr>
          <a:xfrm>
            <a:off x="8479631" y="299680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9" name="Text 16"/>
          <p:cNvSpPr/>
          <p:nvPr/>
        </p:nvSpPr>
        <p:spPr>
          <a:xfrm>
            <a:off x="7053672" y="2982516"/>
            <a:ext cx="1462884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سلاسل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ar/en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متطابقة بفاحص CI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479631" y="318354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1" name="Text 18"/>
          <p:cNvSpPr/>
          <p:nvPr/>
        </p:nvSpPr>
        <p:spPr>
          <a:xfrm>
            <a:off x="7036929" y="3169258"/>
            <a:ext cx="1480966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مصفوفة </a:t>
            </a:r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JDK 17/21</a:t>
            </a:r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على release</a:t>
            </a:r>
            <a:endParaRPr lang="en-US" sz="731" dirty="0"/>
          </a:p>
        </p:txBody>
      </p:sp>
      <p:sp>
        <p:nvSpPr>
          <p:cNvPr id="22" name="Text 19"/>
          <p:cNvSpPr/>
          <p:nvPr/>
        </p:nvSpPr>
        <p:spPr>
          <a:xfrm>
            <a:off x="8479631" y="337028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3" name="Text 20"/>
          <p:cNvSpPr/>
          <p:nvPr/>
        </p:nvSpPr>
        <p:spPr>
          <a:xfrm>
            <a:off x="7053783" y="3356000"/>
            <a:ext cx="1462763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كل بوابة موجة = تقرير </a:t>
            </a:r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KPIs</a:t>
            </a:r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موثق</a:t>
            </a:r>
            <a:endParaRPr lang="en-US" sz="731" dirty="0"/>
          </a:p>
        </p:txBody>
      </p:sp>
      <p:sp>
        <p:nvSpPr>
          <p:cNvPr id="24" name="Text 21"/>
          <p:cNvSpPr/>
          <p:nvPr/>
        </p:nvSpPr>
        <p:spPr>
          <a:xfrm>
            <a:off x="7109728" y="4564213"/>
            <a:ext cx="825282" cy="212027"/>
          </a:xfrm>
          <a:prstGeom prst="roundRect">
            <a:avLst>
              <a:gd name="adj" fmla="val 4487860"/>
            </a:avLst>
          </a:prstGeom>
          <a:solidFill>
            <a:srgbClr val="34D399">
              <a:alpha val="8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7132588" y="4575572"/>
            <a:ext cx="77956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غير قابلة للتفاوض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03622" y="803672"/>
            <a:ext cx="5765006" cy="4079081"/>
          </a:xfrm>
          <a:prstGeom prst="roundRect">
            <a:avLst>
              <a:gd name="adj" fmla="val 3269"/>
            </a:avLst>
          </a:prstGeom>
          <a:solidFill>
            <a:srgbClr val="121A38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3493071" y="907256"/>
            <a:ext cx="2557686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900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871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الخطر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1506" y="907256"/>
            <a:ext cx="3595559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التحوط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25066" y="1178719"/>
            <a:ext cx="5522119" cy="667941"/>
          </a:xfrm>
          <a:prstGeom prst="roundRect">
            <a:avLst>
              <a:gd name="adj" fmla="val 17112"/>
            </a:avLst>
          </a:prstGeom>
          <a:solidFill>
            <a:srgbClr val="121A38">
              <a:alpha val="55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761434" y="1423392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F87171">
              <a:alpha val="10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757863" y="1419820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492512" y="1440693"/>
            <a:ext cx="2353995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اعتماد ZATCA خارجي (موجات ضريبية/بيانات اعتماد)</a:t>
            </a:r>
            <a:endParaRPr lang="en-US" sz="731" dirty="0"/>
          </a:p>
        </p:txBody>
      </p:sp>
      <p:sp>
        <p:nvSpPr>
          <p:cNvPr id="33" name="Text 30"/>
          <p:cNvSpPr/>
          <p:nvPr/>
        </p:nvSpPr>
        <p:spPr>
          <a:xfrm>
            <a:off x="3278200" y="144839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97A3C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←</a:t>
            </a:r>
            <a:endParaRPr lang="en-US" sz="1266" dirty="0"/>
          </a:p>
        </p:txBody>
      </p:sp>
      <p:sp>
        <p:nvSpPr>
          <p:cNvPr id="34" name="Text 31"/>
          <p:cNvSpPr/>
          <p:nvPr/>
        </p:nvSpPr>
        <p:spPr>
          <a:xfrm>
            <a:off x="628762" y="1440693"/>
            <a:ext cx="2707088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بدء sandbox مبكراً + ترتيب داخلي مرن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25066" y="1910953"/>
            <a:ext cx="5522119" cy="667941"/>
          </a:xfrm>
          <a:prstGeom prst="roundRect">
            <a:avLst>
              <a:gd name="adj" fmla="val 17112"/>
            </a:avLst>
          </a:prstGeom>
          <a:solidFill>
            <a:srgbClr val="121A38">
              <a:alpha val="55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761434" y="2155627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F87171">
              <a:alpha val="10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5757863" y="2152055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492512" y="2172928"/>
            <a:ext cx="2353995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إذن INTERNET يخالف روح offline-first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278200" y="218063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97A3C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←</a:t>
            </a:r>
            <a:endParaRPr lang="en-US" sz="1266" dirty="0"/>
          </a:p>
        </p:txBody>
      </p:sp>
      <p:sp>
        <p:nvSpPr>
          <p:cNvPr id="40" name="Text 37"/>
          <p:cNvSpPr/>
          <p:nvPr/>
        </p:nvSpPr>
        <p:spPr>
          <a:xfrm>
            <a:off x="628762" y="2101044"/>
            <a:ext cx="2506563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طبقة feature-gated معزولة + صفر طلبات افتراضياً + توثيق شفاف في السياسة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25066" y="2643188"/>
            <a:ext cx="5522119" cy="667941"/>
          </a:xfrm>
          <a:prstGeom prst="roundRect">
            <a:avLst>
              <a:gd name="adj" fmla="val 17112"/>
            </a:avLst>
          </a:prstGeom>
          <a:solidFill>
            <a:srgbClr val="121A38">
              <a:alpha val="55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5761434" y="2887861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F87171">
              <a:alpha val="10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5757863" y="2884289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3492512" y="2905162"/>
            <a:ext cx="2288606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توافق أجهزة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الجهازي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3278200" y="291286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97A3C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←</a:t>
            </a:r>
            <a:endParaRPr lang="en-US" sz="1266" dirty="0"/>
          </a:p>
        </p:txBody>
      </p:sp>
      <p:sp>
        <p:nvSpPr>
          <p:cNvPr id="46" name="Text 43"/>
          <p:cNvSpPr/>
          <p:nvPr/>
        </p:nvSpPr>
        <p:spPr>
          <a:xfrm>
            <a:off x="628762" y="2905162"/>
            <a:ext cx="2506563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المساعد اختياري معطل افتراضياً + مسار إحصائي مستقل كامل</a:t>
            </a:r>
            <a:endParaRPr lang="en-US" sz="731" dirty="0"/>
          </a:p>
        </p:txBody>
      </p:sp>
      <p:sp>
        <p:nvSpPr>
          <p:cNvPr id="47" name="Text 44"/>
          <p:cNvSpPr/>
          <p:nvPr/>
        </p:nvSpPr>
        <p:spPr>
          <a:xfrm>
            <a:off x="525066" y="3375422"/>
            <a:ext cx="5522119" cy="667941"/>
          </a:xfrm>
          <a:prstGeom prst="roundRect">
            <a:avLst>
              <a:gd name="adj" fmla="val 17112"/>
            </a:avLst>
          </a:prstGeom>
          <a:solidFill>
            <a:srgbClr val="121A38">
              <a:alpha val="55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5761434" y="3620095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F87171">
              <a:alpha val="10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5757863" y="3616523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3492512" y="3637397"/>
            <a:ext cx="2353995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تعقيد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RBAC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والفروع على مخطط ناضج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3278200" y="36450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97A3C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←</a:t>
            </a:r>
            <a:endParaRPr lang="en-US" sz="1266" dirty="0"/>
          </a:p>
        </p:txBody>
      </p:sp>
      <p:sp>
        <p:nvSpPr>
          <p:cNvPr id="52" name="Text 49"/>
          <p:cNvSpPr/>
          <p:nvPr/>
        </p:nvSpPr>
        <p:spPr>
          <a:xfrm>
            <a:off x="628762" y="3637397"/>
            <a:ext cx="2506563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TDD مالي أولاً + ترحيل ذرّي بالنمط المجرَّب </a:t>
            </a:r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v10→v12</a:t>
            </a:r>
            <a:endParaRPr lang="en-US" sz="731" dirty="0"/>
          </a:p>
        </p:txBody>
      </p:sp>
      <p:sp>
        <p:nvSpPr>
          <p:cNvPr id="53" name="Text 50"/>
          <p:cNvSpPr/>
          <p:nvPr/>
        </p:nvSpPr>
        <p:spPr>
          <a:xfrm>
            <a:off x="525066" y="4107656"/>
            <a:ext cx="5522119" cy="667941"/>
          </a:xfrm>
          <a:prstGeom prst="roundRect">
            <a:avLst>
              <a:gd name="adj" fmla="val 17112"/>
            </a:avLst>
          </a:prstGeom>
          <a:solidFill>
            <a:srgbClr val="121A38">
              <a:alpha val="55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5761434" y="4352330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F87171">
              <a:alpha val="10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5757863" y="4348758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3492512" y="4369631"/>
            <a:ext cx="2288606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توسع الفريق يخفف الجودة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3278200" y="43773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97A3C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←</a:t>
            </a:r>
            <a:endParaRPr lang="en-US" sz="1266" dirty="0"/>
          </a:p>
        </p:txBody>
      </p:sp>
      <p:sp>
        <p:nvSpPr>
          <p:cNvPr id="58" name="Text 55"/>
          <p:cNvSpPr/>
          <p:nvPr/>
        </p:nvSpPr>
        <p:spPr>
          <a:xfrm>
            <a:off x="628762" y="4369631"/>
            <a:ext cx="2707088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قواعد الموجات الخمس غير قابلة للتفاوض + CI حارس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71813" y="-1714500"/>
            <a:ext cx="3714750" cy="371475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928687" y="3714750"/>
            <a:ext cx="2857500" cy="2857500"/>
          </a:xfrm>
          <a:prstGeom prst="ellipse">
            <a:avLst/>
          </a:prstGeom>
          <a:solidFill>
            <a:srgbClr val="34D399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30325" y="273106"/>
            <a:ext cx="1083238" cy="236030"/>
          </a:xfrm>
          <a:prstGeom prst="roundRect">
            <a:avLst>
              <a:gd name="adj" fmla="val 4031468"/>
            </a:avLst>
          </a:prstGeom>
          <a:noFill/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53185" y="285750"/>
            <a:ext cx="1037518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الخاتمة والبدء الفوري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553641"/>
            <a:ext cx="8636000" cy="38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79"/>
              </a:lnSpc>
              <a:buNone/>
            </a:pPr>
            <a:r>
              <a:rPr lang="en-US" sz="2138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البدء فوراً — أول </a:t>
            </a:r>
            <a:pPr algn="ctr" indent="0" marL="0">
              <a:lnSpc>
                <a:spcPts val="2779"/>
              </a:lnSpc>
              <a:buNone/>
            </a:pPr>
            <a:r>
              <a:rPr lang="en-US" sz="2138" b="1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</a:t>
            </a:r>
            <a:pPr algn="ctr" indent="0" marL="0">
              <a:lnSpc>
                <a:spcPts val="2779"/>
              </a:lnSpc>
              <a:buNone/>
            </a:pPr>
            <a:r>
              <a:rPr lang="en-US" sz="2138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يوماً تحدد إيقاع العامين</a:t>
            </a:r>
            <a:endParaRPr lang="en-US" sz="2138" dirty="0"/>
          </a:p>
        </p:txBody>
      </p:sp>
      <p:sp>
        <p:nvSpPr>
          <p:cNvPr id="7" name="Text 5"/>
          <p:cNvSpPr/>
          <p:nvPr/>
        </p:nvSpPr>
        <p:spPr>
          <a:xfrm>
            <a:off x="6775847" y="1035062"/>
            <a:ext cx="1968103" cy="750763"/>
          </a:xfrm>
          <a:prstGeom prst="roundRect">
            <a:avLst>
              <a:gd name="adj" fmla="val 17762"/>
            </a:avLst>
          </a:prstGeom>
          <a:solidFill>
            <a:srgbClr val="12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775847" y="1045778"/>
            <a:ext cx="1968103" cy="0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40378" y="1035062"/>
            <a:ext cx="0" cy="750763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75847" y="1782254"/>
            <a:ext cx="1968103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79419" y="1035062"/>
            <a:ext cx="0" cy="750763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4628" y="1154720"/>
            <a:ext cx="178594" cy="178594"/>
          </a:xfrm>
          <a:prstGeom prst="ellipse">
            <a:avLst/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451056" y="1151148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851986" y="1142219"/>
            <a:ext cx="764731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الأسبوع 1</a:t>
            </a:r>
            <a:endParaRPr lang="en-US" sz="1069" dirty="0"/>
          </a:p>
        </p:txBody>
      </p:sp>
      <p:sp>
        <p:nvSpPr>
          <p:cNvPr id="15" name="Text 13"/>
          <p:cNvSpPr/>
          <p:nvPr/>
        </p:nvSpPr>
        <p:spPr>
          <a:xfrm>
            <a:off x="6883003" y="1395822"/>
            <a:ext cx="175379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ترقية 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targetSdk 36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مراجعة شاشات 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←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إصدار 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v2.0-beta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داخلي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618684" y="13318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97A3C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‹</a:t>
            </a:r>
            <a:endParaRPr lang="en-US" sz="1406" dirty="0"/>
          </a:p>
        </p:txBody>
      </p:sp>
      <p:sp>
        <p:nvSpPr>
          <p:cNvPr id="17" name="Text 15"/>
          <p:cNvSpPr/>
          <p:nvPr/>
        </p:nvSpPr>
        <p:spPr>
          <a:xfrm>
            <a:off x="4650581" y="1035062"/>
            <a:ext cx="1968103" cy="750763"/>
          </a:xfrm>
          <a:prstGeom prst="roundRect">
            <a:avLst>
              <a:gd name="adj" fmla="val 17762"/>
            </a:avLst>
          </a:prstGeom>
          <a:solidFill>
            <a:srgbClr val="12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50581" y="1045778"/>
            <a:ext cx="1968103" cy="0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15113" y="1035062"/>
            <a:ext cx="0" cy="750763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50581" y="1782254"/>
            <a:ext cx="1968103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54153" y="1035062"/>
            <a:ext cx="0" cy="750763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9363" y="1154720"/>
            <a:ext cx="178594" cy="178594"/>
          </a:xfrm>
          <a:prstGeom prst="ellipse">
            <a:avLst/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25791" y="1151148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26720" y="1142219"/>
            <a:ext cx="764731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الأسبوع 2</a:t>
            </a:r>
            <a:endParaRPr lang="en-US" sz="1069" dirty="0"/>
          </a:p>
        </p:txBody>
      </p:sp>
      <p:sp>
        <p:nvSpPr>
          <p:cNvPr id="25" name="Text 23"/>
          <p:cNvSpPr/>
          <p:nvPr/>
        </p:nvSpPr>
        <p:spPr>
          <a:xfrm>
            <a:off x="4757738" y="1395822"/>
            <a:ext cx="175379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لقطات جهاز حقيقية + قائمة متجر + سياسة خصوصية + Data Safety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493419" y="13318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97A3C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‹</a:t>
            </a:r>
            <a:endParaRPr lang="en-US" sz="1406" dirty="0"/>
          </a:p>
        </p:txBody>
      </p:sp>
      <p:sp>
        <p:nvSpPr>
          <p:cNvPr id="27" name="Text 25"/>
          <p:cNvSpPr/>
          <p:nvPr/>
        </p:nvSpPr>
        <p:spPr>
          <a:xfrm>
            <a:off x="2525316" y="1035062"/>
            <a:ext cx="1968103" cy="750763"/>
          </a:xfrm>
          <a:prstGeom prst="roundRect">
            <a:avLst>
              <a:gd name="adj" fmla="val 17762"/>
            </a:avLst>
          </a:prstGeom>
          <a:solidFill>
            <a:srgbClr val="12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525316" y="1045778"/>
            <a:ext cx="1968103" cy="0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89847" y="1035062"/>
            <a:ext cx="0" cy="750763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5316" y="1782254"/>
            <a:ext cx="1968103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28888" y="1035062"/>
            <a:ext cx="0" cy="750763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4097" y="1154720"/>
            <a:ext cx="178594" cy="178594"/>
          </a:xfrm>
          <a:prstGeom prst="ellipse">
            <a:avLst/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200525" y="1151148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01455" y="1142219"/>
            <a:ext cx="764731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الأسبوع 3</a:t>
            </a:r>
            <a:endParaRPr lang="en-US" sz="1069" dirty="0"/>
          </a:p>
        </p:txBody>
      </p:sp>
      <p:sp>
        <p:nvSpPr>
          <p:cNvPr id="35" name="Text 33"/>
          <p:cNvSpPr/>
          <p:nvPr/>
        </p:nvSpPr>
        <p:spPr>
          <a:xfrm>
            <a:off x="2632472" y="1395822"/>
            <a:ext cx="175379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 Billing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فريميوم + فتح closed testing بـ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مختبراً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368153" y="13318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97A3C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‹</a:t>
            </a:r>
            <a:endParaRPr lang="en-US" sz="1406" dirty="0"/>
          </a:p>
        </p:txBody>
      </p:sp>
      <p:sp>
        <p:nvSpPr>
          <p:cNvPr id="37" name="Text 35"/>
          <p:cNvSpPr/>
          <p:nvPr/>
        </p:nvSpPr>
        <p:spPr>
          <a:xfrm>
            <a:off x="400050" y="1035062"/>
            <a:ext cx="1968103" cy="750763"/>
          </a:xfrm>
          <a:prstGeom prst="roundRect">
            <a:avLst>
              <a:gd name="adj" fmla="val 17762"/>
            </a:avLst>
          </a:prstGeom>
          <a:solidFill>
            <a:srgbClr val="12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00050" y="1045778"/>
            <a:ext cx="1968103" cy="0"/>
          </a:xfrm>
          <a:prstGeom prst="line">
            <a:avLst/>
          </a:prstGeom>
          <a:noFill/>
          <a:ln w="21431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64581" y="1035062"/>
            <a:ext cx="0" cy="750763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00050" y="1782254"/>
            <a:ext cx="1968103" cy="0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3622" y="1035062"/>
            <a:ext cx="0" cy="750763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78831" y="1154720"/>
            <a:ext cx="178594" cy="178594"/>
          </a:xfrm>
          <a:prstGeom prst="ellipse">
            <a:avLst/>
          </a:prstGeom>
          <a:solidFill>
            <a:srgbClr val="3B82F6">
              <a:alpha val="12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075259" y="1151148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476189" y="1142219"/>
            <a:ext cx="764731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الأسبوع 4</a:t>
            </a:r>
            <a:endParaRPr lang="en-US" sz="1069" dirty="0"/>
          </a:p>
        </p:txBody>
      </p:sp>
      <p:sp>
        <p:nvSpPr>
          <p:cNvPr id="45" name="Text 43"/>
          <p:cNvSpPr/>
          <p:nvPr/>
        </p:nvSpPr>
        <p:spPr>
          <a:xfrm>
            <a:off x="507206" y="1395822"/>
            <a:ext cx="175379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تقديم النشر الإنتاجي + فتح حساب منصة فاتورة sandbox (بذرة الموجة 2)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03622" y="1903698"/>
            <a:ext cx="8336756" cy="769293"/>
          </a:xfrm>
          <a:prstGeom prst="roundRect">
            <a:avLst>
              <a:gd name="adj" fmla="val 17334"/>
            </a:avLst>
          </a:prstGeom>
          <a:solidFill>
            <a:srgbClr val="121A38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486775" y="1992995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195" dirty="0"/>
          </a:p>
        </p:txBody>
      </p:sp>
      <p:sp>
        <p:nvSpPr>
          <p:cNvPr id="48" name="Text 46"/>
          <p:cNvSpPr/>
          <p:nvPr/>
        </p:nvSpPr>
        <p:spPr>
          <a:xfrm>
            <a:off x="7939497" y="1994781"/>
            <a:ext cx="6687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6" kern="0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KPIs 2028</a:t>
            </a:r>
            <a:endParaRPr lang="en-US" sz="800" dirty="0"/>
          </a:p>
        </p:txBody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535781" y="2050145"/>
            <a:ext cx="7346566" cy="7144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6057329" y="2171588"/>
            <a:ext cx="2550890" cy="25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100K</a:t>
            </a:r>
            <a:endParaRPr lang="en-US" sz="1800" dirty="0"/>
          </a:p>
        </p:txBody>
      </p:sp>
      <p:sp>
        <p:nvSpPr>
          <p:cNvPr id="51" name="Text 48"/>
          <p:cNvSpPr/>
          <p:nvPr/>
        </p:nvSpPr>
        <p:spPr>
          <a:xfrm>
            <a:off x="6541675" y="2451534"/>
            <a:ext cx="206654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تثبيت نشط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6990159" y="2171588"/>
            <a:ext cx="0" cy="397818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379244" y="2171588"/>
            <a:ext cx="1607344" cy="25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≥ 4.6</a:t>
            </a:r>
            <a:endParaRPr lang="en-US" sz="1800" dirty="0"/>
          </a:p>
        </p:txBody>
      </p:sp>
      <p:sp>
        <p:nvSpPr>
          <p:cNvPr id="54" name="Text 51"/>
          <p:cNvSpPr/>
          <p:nvPr/>
        </p:nvSpPr>
        <p:spPr>
          <a:xfrm>
            <a:off x="5379244" y="2451534"/>
            <a:ext cx="160734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تقييم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5375672" y="2171588"/>
            <a:ext cx="0" cy="397818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764756" y="2171588"/>
            <a:ext cx="1607344" cy="241128"/>
          </a:xfrm>
          <a:prstGeom prst="rect">
            <a:avLst/>
          </a:prstGeom>
          <a:noFill/>
          <a:ln/>
        </p:spPr>
        <p:txBody>
          <a:bodyPr wrap="none" lIns="0" tIns="35719" rIns="0" bIns="0" rtlCol="0" anchor="t">
            <a:normAutofit/>
          </a:bodyPr>
          <a:lstStyle/>
          <a:p>
            <a:pPr algn="ctr" indent="0" marL="0">
              <a:lnSpc>
                <a:spcPts val="1609"/>
              </a:lnSpc>
              <a:buNone/>
            </a:pPr>
            <a:r>
              <a:rPr lang="en-US" sz="1463" b="1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ZATCA</a:t>
            </a:r>
            <a:endParaRPr lang="en-US" sz="1463" dirty="0"/>
          </a:p>
        </p:txBody>
      </p:sp>
      <p:sp>
        <p:nvSpPr>
          <p:cNvPr id="57" name="Text 54"/>
          <p:cNvSpPr/>
          <p:nvPr/>
        </p:nvSpPr>
        <p:spPr>
          <a:xfrm>
            <a:off x="3764756" y="2440149"/>
            <a:ext cx="1607344" cy="129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فواتير معتمدة بلا رفض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3761184" y="2171588"/>
            <a:ext cx="0" cy="397818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2150269" y="2171588"/>
            <a:ext cx="1607344" cy="25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3000+</a:t>
            </a:r>
            <a:endParaRPr lang="en-US" sz="1800" dirty="0"/>
          </a:p>
        </p:txBody>
      </p:sp>
      <p:sp>
        <p:nvSpPr>
          <p:cNvPr id="60" name="Text 57"/>
          <p:cNvSpPr/>
          <p:nvPr/>
        </p:nvSpPr>
        <p:spPr>
          <a:xfrm>
            <a:off x="2150269" y="2451534"/>
            <a:ext cx="160734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اختبار أخضر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2146697" y="2171588"/>
            <a:ext cx="0" cy="397818"/>
          </a:xfrm>
          <a:prstGeom prst="line">
            <a:avLst/>
          </a:prstGeom>
          <a:noFill/>
          <a:ln w="7144">
            <a:solidFill>
              <a:srgbClr val="8B5CF6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5781" y="2171588"/>
            <a:ext cx="1607344" cy="241128"/>
          </a:xfrm>
          <a:prstGeom prst="rect">
            <a:avLst/>
          </a:prstGeom>
          <a:noFill/>
          <a:ln/>
        </p:spPr>
        <p:txBody>
          <a:bodyPr wrap="none" lIns="0" tIns="35719" rIns="0" bIns="0" rtlCol="0" anchor="t">
            <a:normAutofit/>
          </a:bodyPr>
          <a:lstStyle/>
          <a:p>
            <a:pPr algn="ctr" indent="0" marL="0">
              <a:lnSpc>
                <a:spcPts val="1609"/>
              </a:lnSpc>
              <a:buNone/>
            </a:pPr>
            <a:r>
              <a:rPr lang="en-US" sz="1463" b="1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إيراد</a:t>
            </a:r>
            <a:endParaRPr lang="en-US" sz="1463" dirty="0"/>
          </a:p>
        </p:txBody>
      </p:sp>
      <p:sp>
        <p:nvSpPr>
          <p:cNvPr id="63" name="Text 60"/>
          <p:cNvSpPr/>
          <p:nvPr/>
        </p:nvSpPr>
        <p:spPr>
          <a:xfrm>
            <a:off x="535781" y="2440149"/>
            <a:ext cx="1607344" cy="129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اشتراكات مستدام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714375" y="3398527"/>
            <a:ext cx="7715250" cy="738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92"/>
              </a:lnSpc>
              <a:buNone/>
            </a:pPr>
            <a:r>
              <a:rPr lang="en-US" sz="1631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أساس نادر الجودة </a:t>
            </a:r>
            <a:pPr algn="ctr" indent="0" marL="0">
              <a:lnSpc>
                <a:spcPts val="2692"/>
              </a:lnSpc>
              <a:buNone/>
            </a:pPr>
            <a:r>
              <a:rPr lang="en-US" sz="1631" b="1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</a:t>
            </a:r>
            <a:pPr algn="ctr" indent="0" marL="0">
              <a:lnSpc>
                <a:spcPts val="2692"/>
              </a:lnSpc>
              <a:buNone/>
            </a:pPr>
            <a:r>
              <a:rPr lang="en-US" sz="1631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إيقاع موجات مُثبت </a:t>
            </a:r>
            <a:pPr algn="ctr" indent="0" marL="0">
              <a:lnSpc>
                <a:spcPts val="2692"/>
              </a:lnSpc>
              <a:buNone/>
            </a:pPr>
            <a:r>
              <a:rPr lang="en-US" sz="1631" b="1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</a:t>
            </a:r>
            <a:pPr algn="ctr" indent="0" marL="0">
              <a:lnSpc>
                <a:spcPts val="2692"/>
              </a:lnSpc>
              <a:buNone/>
            </a:pPr>
            <a:r>
              <a:rPr lang="en-US" sz="1631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خارطة واضحة </a:t>
            </a:r>
            <a:pPr algn="ctr" indent="0" marL="0">
              <a:lnSpc>
                <a:spcPts val="2692"/>
              </a:lnSpc>
              <a:buNone/>
            </a:pPr>
            <a:r>
              <a:rPr lang="en-US" sz="1631" b="1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=</a:t>
            </a:r>
            <a:pPr algn="ctr" indent="0" marL="0">
              <a:lnSpc>
                <a:spcPts val="2692"/>
              </a:lnSpc>
              <a:buNone/>
            </a:pPr>
            <a:r>
              <a:rPr lang="en-US" sz="1631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ctr" indent="0" marL="0">
              <a:lnSpc>
                <a:spcPts val="2692"/>
              </a:lnSpc>
              <a:buNone/>
            </a:pPr>
            <a:r>
              <a:rPr lang="en-US" sz="1631" b="1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الأقوى عالمياً</a:t>
            </a:r>
            <a:pPr algn="ctr" indent="0" marL="0">
              <a:lnSpc>
                <a:spcPts val="2692"/>
              </a:lnSpc>
              <a:buNone/>
            </a:pPr>
            <a:r>
              <a:rPr lang="en-US" sz="1631" b="1" dirty="0">
                <a:solidFill>
                  <a:srgbClr val="E7EB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هدف قابل للتحقق، لا شعاراً.</a:t>
            </a:r>
            <a:endParaRPr lang="en-US" sz="1631" dirty="0"/>
          </a:p>
        </p:txBody>
      </p:sp>
      <p:pic>
        <p:nvPicPr>
          <p:cNvPr id="6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881" y="4863108"/>
            <a:ext cx="2909069" cy="7144"/>
          </a:xfrm>
          <a:prstGeom prst="rect">
            <a:avLst/>
          </a:prstGeom>
        </p:spPr>
      </p:pic>
      <p:sp>
        <p:nvSpPr>
          <p:cNvPr id="66" name="Text 62"/>
          <p:cNvSpPr/>
          <p:nvPr/>
        </p:nvSpPr>
        <p:spPr>
          <a:xfrm>
            <a:off x="3423531" y="4804172"/>
            <a:ext cx="2297050" cy="174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SuperBiz 2.0</a:t>
            </a:r>
            <a:pPr algn="ctr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97A3C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خارطة الطريق العالمية · وثيقة فريق التطوير · </a:t>
            </a:r>
            <a:pPr algn="ctr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97A3C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endParaRPr lang="en-US" sz="619" dirty="0"/>
          </a:p>
        </p:txBody>
      </p:sp>
      <p:pic>
        <p:nvPicPr>
          <p:cNvPr id="6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4863108"/>
            <a:ext cx="2909181" cy="71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2026-10-03T07:52:44Z</dcterms:created>
  <dcterms:modified xsi:type="dcterms:W3CDTF">2026-10-03T07:52:44Z</dcterms:modified>
</cp:coreProperties>
</file>